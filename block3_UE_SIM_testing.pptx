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png"/><Relationship Id="rId30" Type="http://schemas.openxmlformats.org/officeDocument/2006/relationships/image" Target="../media/image-1-30.png"/><Relationship Id="rId31" Type="http://schemas.openxmlformats.org/officeDocument/2006/relationships/image" Target="../media/image-1-31.png"/><Relationship Id="rId32" Type="http://schemas.openxmlformats.org/officeDocument/2006/relationships/image" Target="../media/image-1-32.png"/><Relationship Id="rId33" Type="http://schemas.openxmlformats.org/officeDocument/2006/relationships/image" Target="../media/image-1-33.png"/><Relationship Id="rId34" Type="http://schemas.openxmlformats.org/officeDocument/2006/relationships/image" Target="../media/image-1-34.png"/><Relationship Id="rId35" Type="http://schemas.openxmlformats.org/officeDocument/2006/relationships/image" Target="../media/image-1-35.png"/><Relationship Id="rId36" Type="http://schemas.openxmlformats.org/officeDocument/2006/relationships/image" Target="../media/image-1-36.png"/><Relationship Id="rId37" Type="http://schemas.openxmlformats.org/officeDocument/2006/relationships/slideLayout" Target="../slideLayouts/slideLayout1.xml"/><Relationship Id="rId3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image" Target="../media/image-2-21.png"/><Relationship Id="rId22" Type="http://schemas.openxmlformats.org/officeDocument/2006/relationships/image" Target="../media/image-2-22.png"/><Relationship Id="rId23" Type="http://schemas.openxmlformats.org/officeDocument/2006/relationships/image" Target="../media/image-2-23.png"/><Relationship Id="rId24" Type="http://schemas.openxmlformats.org/officeDocument/2006/relationships/image" Target="../media/image-2-24.png"/><Relationship Id="rId25" Type="http://schemas.openxmlformats.org/officeDocument/2006/relationships/image" Target="../media/image-2-25.png"/><Relationship Id="rId26" Type="http://schemas.openxmlformats.org/officeDocument/2006/relationships/image" Target="../media/image-2-26.png"/><Relationship Id="rId27" Type="http://schemas.openxmlformats.org/officeDocument/2006/relationships/image" Target="../media/image-2-27.png"/><Relationship Id="rId28" Type="http://schemas.openxmlformats.org/officeDocument/2006/relationships/image" Target="../media/image-2-28.png"/><Relationship Id="rId29" Type="http://schemas.openxmlformats.org/officeDocument/2006/relationships/image" Target="../media/image-2-29.png"/><Relationship Id="rId30" Type="http://schemas.openxmlformats.org/officeDocument/2006/relationships/image" Target="../media/image-2-30.png"/><Relationship Id="rId31" Type="http://schemas.openxmlformats.org/officeDocument/2006/relationships/image" Target="../media/image-2-31.png"/><Relationship Id="rId32" Type="http://schemas.openxmlformats.org/officeDocument/2006/relationships/image" Target="../media/image-2-32.png"/><Relationship Id="rId33" Type="http://schemas.openxmlformats.org/officeDocument/2006/relationships/image" Target="../media/image-2-33.png"/><Relationship Id="rId34" Type="http://schemas.openxmlformats.org/officeDocument/2006/relationships/image" Target="../media/image-2-34.png"/><Relationship Id="rId35" Type="http://schemas.openxmlformats.org/officeDocument/2006/relationships/image" Target="../media/image-2-35.png"/><Relationship Id="rId36" Type="http://schemas.openxmlformats.org/officeDocument/2006/relationships/image" Target="../media/image-2-36.png"/><Relationship Id="rId37" Type="http://schemas.openxmlformats.org/officeDocument/2006/relationships/image" Target="../media/image-2-37.png"/><Relationship Id="rId38" Type="http://schemas.openxmlformats.org/officeDocument/2006/relationships/image" Target="../media/image-2-38.png"/><Relationship Id="rId39" Type="http://schemas.openxmlformats.org/officeDocument/2006/relationships/image" Target="../media/image-2-39.png"/><Relationship Id="rId40" Type="http://schemas.openxmlformats.org/officeDocument/2006/relationships/image" Target="../media/image-2-40.png"/><Relationship Id="rId41" Type="http://schemas.openxmlformats.org/officeDocument/2006/relationships/image" Target="../media/image-2-41.png"/><Relationship Id="rId42" Type="http://schemas.openxmlformats.org/officeDocument/2006/relationships/image" Target="../media/image-2-42.png"/><Relationship Id="rId43" Type="http://schemas.openxmlformats.org/officeDocument/2006/relationships/image" Target="../media/image-2-43.png"/><Relationship Id="rId44" Type="http://schemas.openxmlformats.org/officeDocument/2006/relationships/image" Target="../media/image-2-44.png"/><Relationship Id="rId45" Type="http://schemas.openxmlformats.org/officeDocument/2006/relationships/image" Target="../media/image-2-45.png"/><Relationship Id="rId46" Type="http://schemas.openxmlformats.org/officeDocument/2006/relationships/image" Target="../media/image-2-46.png"/><Relationship Id="rId47" Type="http://schemas.openxmlformats.org/officeDocument/2006/relationships/slideLayout" Target="../slideLayouts/slideLayout1.xml"/><Relationship Id="rId4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image" Target="../media/image-4-17.png"/><Relationship Id="rId18" Type="http://schemas.openxmlformats.org/officeDocument/2006/relationships/image" Target="../media/image-4-18.png"/><Relationship Id="rId19" Type="http://schemas.openxmlformats.org/officeDocument/2006/relationships/image" Target="../media/image-4-19.png"/><Relationship Id="rId20" Type="http://schemas.openxmlformats.org/officeDocument/2006/relationships/image" Target="../media/image-4-20.png"/><Relationship Id="rId21" Type="http://schemas.openxmlformats.org/officeDocument/2006/relationships/image" Target="../media/image-4-21.png"/><Relationship Id="rId22" Type="http://schemas.openxmlformats.org/officeDocument/2006/relationships/image" Target="../media/image-4-22.png"/><Relationship Id="rId23" Type="http://schemas.openxmlformats.org/officeDocument/2006/relationships/image" Target="../media/image-4-23.png"/><Relationship Id="rId24" Type="http://schemas.openxmlformats.org/officeDocument/2006/relationships/image" Target="../media/image-4-24.png"/><Relationship Id="rId25" Type="http://schemas.openxmlformats.org/officeDocument/2006/relationships/image" Target="../media/image-4-25.png"/><Relationship Id="rId26" Type="http://schemas.openxmlformats.org/officeDocument/2006/relationships/image" Target="../media/image-4-26.png"/><Relationship Id="rId27" Type="http://schemas.openxmlformats.org/officeDocument/2006/relationships/slideLayout" Target="../slideLayouts/slideLayout1.xml"/><Relationship Id="rId2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Функциональное тестирование UE: доступ к сети и базовые сервисы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331720" y="640080"/>
            <a:ext cx="237744" cy="182880"/>
          </a:xfrm>
          <a:prstGeom prst="roundRect">
            <a:avLst>
              <a:gd name="adj" fmla="val 20000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651760" y="621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фиолетовый = тестируемый объект (DUT)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897880" y="640080"/>
            <a:ext cx="237744" cy="182880"/>
          </a:xfrm>
          <a:prstGeom prst="roundRect">
            <a:avLst>
              <a:gd name="adj" fmla="val 20000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0" y="62179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оранжевый = тестовая система / эмулируемое окружение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1325880" cy="1554480"/>
          </a:xfrm>
          <a:prstGeom prst="roundRect">
            <a:avLst>
              <a:gd name="adj" fmla="val 5517"/>
            </a:avLst>
          </a:prstGeom>
          <a:solidFill>
            <a:srgbClr val="F9F9FF"/>
          </a:solidFill>
          <a:ln w="22225">
            <a:solidFill>
              <a:srgbClr val="534EE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78992"/>
            <a:ext cx="502920" cy="5029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74320" y="16184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19202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тестируемый объект (DUT)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618488" y="1737360"/>
            <a:ext cx="237744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1874520" y="960120"/>
            <a:ext cx="7772400" cy="1554480"/>
          </a:xfrm>
          <a:prstGeom prst="roundRect">
            <a:avLst>
              <a:gd name="adj" fmla="val 4706"/>
            </a:avLst>
          </a:prstGeom>
          <a:solidFill>
            <a:srgbClr val="FFFBF7"/>
          </a:solidFill>
          <a:ln w="19050">
            <a:solidFill>
              <a:srgbClr val="FF812A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2011680" y="1078992"/>
            <a:ext cx="1338682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853" y="1161288"/>
            <a:ext cx="402336" cy="40233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011680" y="1618488"/>
            <a:ext cx="13386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Радиодоступ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2011680" y="1874520"/>
            <a:ext cx="13386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радиодоступа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3368650" y="1737360"/>
            <a:ext cx="164592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3551530" y="1078992"/>
            <a:ext cx="1338682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9702" y="1161288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551530" y="1618488"/>
            <a:ext cx="13386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RAN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3551530" y="1874520"/>
            <a:ext cx="13386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RAN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4908499" y="1737360"/>
            <a:ext cx="164592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5091379" y="1078992"/>
            <a:ext cx="1338682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9552" y="1161288"/>
            <a:ext cx="402336" cy="40233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091379" y="1618488"/>
            <a:ext cx="13386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Core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5091379" y="1874520"/>
            <a:ext cx="13386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Core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6448349" y="1737360"/>
            <a:ext cx="164592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6631229" y="1078992"/>
            <a:ext cx="1338682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9402" y="1161288"/>
            <a:ext cx="402336" cy="40233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631229" y="1618488"/>
            <a:ext cx="13386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Data Network</a:t>
            </a:r>
            <a:endParaRPr lang="en-US" sz="1150" dirty="0"/>
          </a:p>
        </p:txBody>
      </p:sp>
      <p:sp>
        <p:nvSpPr>
          <p:cNvPr id="31" name="Text 24"/>
          <p:cNvSpPr txBox="1"/>
          <p:nvPr/>
        </p:nvSpPr>
        <p:spPr>
          <a:xfrm>
            <a:off x="6631229" y="1874520"/>
            <a:ext cx="13386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Data Network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7988198" y="1737360"/>
            <a:ext cx="164592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8171078" y="1078992"/>
            <a:ext cx="1338682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9251" y="1161288"/>
            <a:ext cx="402336" cy="40233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171078" y="1618488"/>
            <a:ext cx="13386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Service</a:t>
            </a:r>
            <a:endParaRPr lang="en-US" sz="1150" dirty="0"/>
          </a:p>
        </p:txBody>
      </p:sp>
      <p:sp>
        <p:nvSpPr>
          <p:cNvPr id="36" name="Text 28"/>
          <p:cNvSpPr txBox="1"/>
          <p:nvPr/>
        </p:nvSpPr>
        <p:spPr>
          <a:xfrm>
            <a:off x="8171078" y="1874520"/>
            <a:ext cx="13386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базового сервиса</a:t>
            </a:r>
            <a:endParaRPr lang="en-US" sz="950" dirty="0"/>
          </a:p>
        </p:txBody>
      </p:sp>
      <p:sp>
        <p:nvSpPr>
          <p:cNvPr id="37" name="Shape 29"/>
          <p:cNvSpPr/>
          <p:nvPr/>
        </p:nvSpPr>
        <p:spPr>
          <a:xfrm>
            <a:off x="9646920" y="1737360"/>
            <a:ext cx="100584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9747504" y="1124712"/>
            <a:ext cx="0" cy="1225296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9747504" y="1124712"/>
            <a:ext cx="109728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9857232" y="960120"/>
            <a:ext cx="2060143" cy="329184"/>
          </a:xfrm>
          <a:prstGeom prst="roundRect">
            <a:avLst>
              <a:gd name="adj" fmla="val 16667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9930384" y="960120"/>
            <a:ext cx="1913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тестовая платформа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9747504" y="1536192"/>
            <a:ext cx="109728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9857232" y="1371600"/>
            <a:ext cx="2060143" cy="329184"/>
          </a:xfrm>
          <a:prstGeom prst="roundRect">
            <a:avLst>
              <a:gd name="adj" fmla="val 16667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9930384" y="1371600"/>
            <a:ext cx="1913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сети</a:t>
            </a:r>
            <a:endParaRPr lang="en-US" sz="1000" dirty="0"/>
          </a:p>
        </p:txBody>
      </p:sp>
      <p:sp>
        <p:nvSpPr>
          <p:cNvPr id="45" name="Shape 37"/>
          <p:cNvSpPr/>
          <p:nvPr/>
        </p:nvSpPr>
        <p:spPr>
          <a:xfrm>
            <a:off x="9747504" y="1947672"/>
            <a:ext cx="109728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9857232" y="1783080"/>
            <a:ext cx="2060143" cy="329184"/>
          </a:xfrm>
          <a:prstGeom prst="roundRect">
            <a:avLst>
              <a:gd name="adj" fmla="val 16667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9930384" y="1783080"/>
            <a:ext cx="1913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callbox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9747504" y="2359152"/>
            <a:ext cx="109728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49" name="Shape 41"/>
          <p:cNvSpPr/>
          <p:nvPr/>
        </p:nvSpPr>
        <p:spPr>
          <a:xfrm>
            <a:off x="9857232" y="2194560"/>
            <a:ext cx="2060143" cy="329184"/>
          </a:xfrm>
          <a:prstGeom prst="roundRect">
            <a:avLst>
              <a:gd name="adj" fmla="val 16667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9930384" y="2194560"/>
            <a:ext cx="1913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базовой станции и Core</a:t>
            </a:r>
            <a:endParaRPr lang="en-US" sz="1000" dirty="0"/>
          </a:p>
        </p:txBody>
      </p:sp>
      <p:sp>
        <p:nvSpPr>
          <p:cNvPr id="51" name="Shape 43"/>
          <p:cNvSpPr/>
          <p:nvPr/>
        </p:nvSpPr>
        <p:spPr>
          <a:xfrm>
            <a:off x="665124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5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3996" y="2843784"/>
            <a:ext cx="274320" cy="274320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310896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включение UE</a:t>
            </a:r>
            <a:endParaRPr lang="en-US" sz="950" dirty="0"/>
          </a:p>
        </p:txBody>
      </p:sp>
      <p:sp>
        <p:nvSpPr>
          <p:cNvPr id="54" name="Shape 45"/>
          <p:cNvSpPr/>
          <p:nvPr/>
        </p:nvSpPr>
        <p:spPr>
          <a:xfrm>
            <a:off x="1222908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55" name="Shape 46"/>
          <p:cNvSpPr/>
          <p:nvPr/>
        </p:nvSpPr>
        <p:spPr>
          <a:xfrm>
            <a:off x="1958797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77669" y="2843784"/>
            <a:ext cx="274320" cy="27432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1604569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выбор соты</a:t>
            </a:r>
            <a:endParaRPr lang="en-US" sz="950" dirty="0"/>
          </a:p>
        </p:txBody>
      </p:sp>
      <p:sp>
        <p:nvSpPr>
          <p:cNvPr id="58" name="Shape 48"/>
          <p:cNvSpPr/>
          <p:nvPr/>
        </p:nvSpPr>
        <p:spPr>
          <a:xfrm>
            <a:off x="2516581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59" name="Shape 49"/>
          <p:cNvSpPr/>
          <p:nvPr/>
        </p:nvSpPr>
        <p:spPr>
          <a:xfrm>
            <a:off x="3252470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6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71342" y="2843784"/>
            <a:ext cx="274320" cy="274320"/>
          </a:xfrm>
          <a:prstGeom prst="rect">
            <a:avLst/>
          </a:prstGeom>
        </p:spPr>
      </p:pic>
      <p:sp>
        <p:nvSpPr>
          <p:cNvPr id="61" name="Text 50"/>
          <p:cNvSpPr txBox="1"/>
          <p:nvPr/>
        </p:nvSpPr>
        <p:spPr>
          <a:xfrm>
            <a:off x="2898242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установление RRC-соединения</a:t>
            </a:r>
            <a:endParaRPr lang="en-US" sz="950" dirty="0"/>
          </a:p>
        </p:txBody>
      </p:sp>
      <p:sp>
        <p:nvSpPr>
          <p:cNvPr id="62" name="Shape 51"/>
          <p:cNvSpPr/>
          <p:nvPr/>
        </p:nvSpPr>
        <p:spPr>
          <a:xfrm>
            <a:off x="3810254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3" name="Shape 52"/>
          <p:cNvSpPr/>
          <p:nvPr/>
        </p:nvSpPr>
        <p:spPr>
          <a:xfrm>
            <a:off x="4546143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6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65015" y="2843784"/>
            <a:ext cx="274320" cy="274320"/>
          </a:xfrm>
          <a:prstGeom prst="rect">
            <a:avLst/>
          </a:prstGeom>
        </p:spPr>
      </p:pic>
      <p:sp>
        <p:nvSpPr>
          <p:cNvPr id="65" name="Text 53"/>
          <p:cNvSpPr txBox="1"/>
          <p:nvPr/>
        </p:nvSpPr>
        <p:spPr>
          <a:xfrm>
            <a:off x="4191914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регистрация</a:t>
            </a:r>
            <a:endParaRPr lang="en-US" sz="950" dirty="0"/>
          </a:p>
        </p:txBody>
      </p:sp>
      <p:sp>
        <p:nvSpPr>
          <p:cNvPr id="66" name="Shape 54"/>
          <p:cNvSpPr/>
          <p:nvPr/>
        </p:nvSpPr>
        <p:spPr>
          <a:xfrm>
            <a:off x="5103927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7" name="Shape 55"/>
          <p:cNvSpPr/>
          <p:nvPr/>
        </p:nvSpPr>
        <p:spPr>
          <a:xfrm>
            <a:off x="5839816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6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58688" y="2843784"/>
            <a:ext cx="274320" cy="274320"/>
          </a:xfrm>
          <a:prstGeom prst="rect">
            <a:avLst/>
          </a:prstGeom>
        </p:spPr>
      </p:pic>
      <p:sp>
        <p:nvSpPr>
          <p:cNvPr id="69" name="Text 56"/>
          <p:cNvSpPr txBox="1"/>
          <p:nvPr/>
        </p:nvSpPr>
        <p:spPr>
          <a:xfrm>
            <a:off x="5485587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аутентификация</a:t>
            </a:r>
            <a:endParaRPr lang="en-US" sz="950" dirty="0"/>
          </a:p>
        </p:txBody>
      </p:sp>
      <p:sp>
        <p:nvSpPr>
          <p:cNvPr id="70" name="Shape 57"/>
          <p:cNvSpPr/>
          <p:nvPr/>
        </p:nvSpPr>
        <p:spPr>
          <a:xfrm>
            <a:off x="6397600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71" name="Shape 58"/>
          <p:cNvSpPr/>
          <p:nvPr/>
        </p:nvSpPr>
        <p:spPr>
          <a:xfrm>
            <a:off x="7133488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7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52360" y="2843784"/>
            <a:ext cx="274320" cy="274320"/>
          </a:xfrm>
          <a:prstGeom prst="rect">
            <a:avLst/>
          </a:prstGeom>
        </p:spPr>
      </p:pic>
      <p:sp>
        <p:nvSpPr>
          <p:cNvPr id="73" name="Text 59"/>
          <p:cNvSpPr txBox="1"/>
          <p:nvPr/>
        </p:nvSpPr>
        <p:spPr>
          <a:xfrm>
            <a:off x="6779260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режим безопасности</a:t>
            </a:r>
            <a:endParaRPr lang="en-US" sz="950" dirty="0"/>
          </a:p>
        </p:txBody>
      </p:sp>
      <p:sp>
        <p:nvSpPr>
          <p:cNvPr id="74" name="Shape 60"/>
          <p:cNvSpPr/>
          <p:nvPr/>
        </p:nvSpPr>
        <p:spPr>
          <a:xfrm>
            <a:off x="7691272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75" name="Shape 61"/>
          <p:cNvSpPr/>
          <p:nvPr/>
        </p:nvSpPr>
        <p:spPr>
          <a:xfrm>
            <a:off x="8427161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7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46033" y="2843784"/>
            <a:ext cx="274320" cy="274320"/>
          </a:xfrm>
          <a:prstGeom prst="rect">
            <a:avLst/>
          </a:prstGeom>
        </p:spPr>
      </p:pic>
      <p:sp>
        <p:nvSpPr>
          <p:cNvPr id="77" name="Text 62"/>
          <p:cNvSpPr txBox="1"/>
          <p:nvPr/>
        </p:nvSpPr>
        <p:spPr>
          <a:xfrm>
            <a:off x="8072933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установление PDU Session</a:t>
            </a:r>
            <a:endParaRPr lang="en-US" sz="950" dirty="0"/>
          </a:p>
        </p:txBody>
      </p:sp>
      <p:sp>
        <p:nvSpPr>
          <p:cNvPr id="78" name="Shape 63"/>
          <p:cNvSpPr/>
          <p:nvPr/>
        </p:nvSpPr>
        <p:spPr>
          <a:xfrm>
            <a:off x="8984945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79" name="Shape 64"/>
          <p:cNvSpPr/>
          <p:nvPr/>
        </p:nvSpPr>
        <p:spPr>
          <a:xfrm>
            <a:off x="9720834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8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39706" y="2843784"/>
            <a:ext cx="274320" cy="274320"/>
          </a:xfrm>
          <a:prstGeom prst="rect">
            <a:avLst/>
          </a:prstGeom>
        </p:spPr>
      </p:pic>
      <p:sp>
        <p:nvSpPr>
          <p:cNvPr id="81" name="Text 65"/>
          <p:cNvSpPr txBox="1"/>
          <p:nvPr/>
        </p:nvSpPr>
        <p:spPr>
          <a:xfrm>
            <a:off x="9366606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IP-связность</a:t>
            </a:r>
            <a:endParaRPr lang="en-US" sz="950" dirty="0"/>
          </a:p>
        </p:txBody>
      </p:sp>
      <p:sp>
        <p:nvSpPr>
          <p:cNvPr id="82" name="Shape 66"/>
          <p:cNvSpPr/>
          <p:nvPr/>
        </p:nvSpPr>
        <p:spPr>
          <a:xfrm>
            <a:off x="10278618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83" name="Shape 67"/>
          <p:cNvSpPr/>
          <p:nvPr/>
        </p:nvSpPr>
        <p:spPr>
          <a:xfrm>
            <a:off x="11014507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8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133379" y="2843784"/>
            <a:ext cx="274320" cy="274320"/>
          </a:xfrm>
          <a:prstGeom prst="rect">
            <a:avLst/>
          </a:prstGeom>
        </p:spPr>
      </p:pic>
      <p:sp>
        <p:nvSpPr>
          <p:cNvPr id="85" name="Text 68"/>
          <p:cNvSpPr txBox="1"/>
          <p:nvPr/>
        </p:nvSpPr>
        <p:spPr>
          <a:xfrm>
            <a:off x="10660278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доступ к базовому сервису</a:t>
            </a:r>
            <a:endParaRPr lang="en-US" sz="950" dirty="0"/>
          </a:p>
        </p:txBody>
      </p:sp>
      <p:sp>
        <p:nvSpPr>
          <p:cNvPr id="86" name="Shape 69"/>
          <p:cNvSpPr/>
          <p:nvPr/>
        </p:nvSpPr>
        <p:spPr>
          <a:xfrm>
            <a:off x="274320" y="3767328"/>
            <a:ext cx="3383280" cy="2267712"/>
          </a:xfrm>
          <a:prstGeom prst="roundRect">
            <a:avLst>
              <a:gd name="adj" fmla="val 322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87" name="Text 70"/>
          <p:cNvSpPr txBox="1"/>
          <p:nvPr/>
        </p:nvSpPr>
        <p:spPr>
          <a:xfrm>
            <a:off x="274320" y="38313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300" dirty="0"/>
          </a:p>
        </p:txBody>
      </p:sp>
      <p:pic>
        <p:nvPicPr>
          <p:cNvPr id="88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2920" y="4215384"/>
            <a:ext cx="182880" cy="182880"/>
          </a:xfrm>
          <a:prstGeom prst="rect">
            <a:avLst/>
          </a:prstGeom>
        </p:spPr>
      </p:pic>
      <p:sp>
        <p:nvSpPr>
          <p:cNvPr id="89" name="Text 71"/>
          <p:cNvSpPr txBox="1"/>
          <p:nvPr/>
        </p:nvSpPr>
        <p:spPr>
          <a:xfrm>
            <a:off x="777240" y="41788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доступ к сети</a:t>
            </a:r>
            <a:endParaRPr lang="en-US" sz="1050" dirty="0"/>
          </a:p>
        </p:txBody>
      </p:sp>
      <p:pic>
        <p:nvPicPr>
          <p:cNvPr id="9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02920" y="4471416"/>
            <a:ext cx="182880" cy="182880"/>
          </a:xfrm>
          <a:prstGeom prst="rect">
            <a:avLst/>
          </a:prstGeom>
        </p:spPr>
      </p:pic>
      <p:sp>
        <p:nvSpPr>
          <p:cNvPr id="91" name="Text 72"/>
          <p:cNvSpPr txBox="1"/>
          <p:nvPr/>
        </p:nvSpPr>
        <p:spPr>
          <a:xfrm>
            <a:off x="777240" y="4434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setup</a:t>
            </a:r>
            <a:endParaRPr lang="en-US" sz="1050" dirty="0"/>
          </a:p>
        </p:txBody>
      </p:sp>
      <p:pic>
        <p:nvPicPr>
          <p:cNvPr id="9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2920" y="4727448"/>
            <a:ext cx="182880" cy="182880"/>
          </a:xfrm>
          <a:prstGeom prst="rect">
            <a:avLst/>
          </a:prstGeom>
        </p:spPr>
      </p:pic>
      <p:sp>
        <p:nvSpPr>
          <p:cNvPr id="93" name="Text 73"/>
          <p:cNvSpPr txBox="1"/>
          <p:nvPr/>
        </p:nvSpPr>
        <p:spPr>
          <a:xfrm>
            <a:off x="777240" y="4690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Registration</a:t>
            </a:r>
            <a:endParaRPr lang="en-US" sz="1050" dirty="0"/>
          </a:p>
        </p:txBody>
      </p:sp>
      <p:pic>
        <p:nvPicPr>
          <p:cNvPr id="9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2920" y="4983480"/>
            <a:ext cx="182880" cy="182880"/>
          </a:xfrm>
          <a:prstGeom prst="rect">
            <a:avLst/>
          </a:prstGeom>
        </p:spPr>
      </p:pic>
      <p:sp>
        <p:nvSpPr>
          <p:cNvPr id="95" name="Text 74"/>
          <p:cNvSpPr txBox="1"/>
          <p:nvPr/>
        </p:nvSpPr>
        <p:spPr>
          <a:xfrm>
            <a:off x="777240" y="49469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создание контекста UE</a:t>
            </a:r>
            <a:endParaRPr lang="en-US" sz="1050" dirty="0"/>
          </a:p>
        </p:txBody>
      </p:sp>
      <p:pic>
        <p:nvPicPr>
          <p:cNvPr id="96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2920" y="5239512"/>
            <a:ext cx="182880" cy="182880"/>
          </a:xfrm>
          <a:prstGeom prst="rect">
            <a:avLst/>
          </a:prstGeom>
        </p:spPr>
      </p:pic>
      <p:sp>
        <p:nvSpPr>
          <p:cNvPr id="97" name="Text 75"/>
          <p:cNvSpPr txBox="1"/>
          <p:nvPr/>
        </p:nvSpPr>
        <p:spPr>
          <a:xfrm>
            <a:off x="777240" y="52029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PDU Session</a:t>
            </a:r>
            <a:endParaRPr lang="en-US" sz="1050" dirty="0"/>
          </a:p>
        </p:txBody>
      </p:sp>
      <p:pic>
        <p:nvPicPr>
          <p:cNvPr id="98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02920" y="5495544"/>
            <a:ext cx="182880" cy="182880"/>
          </a:xfrm>
          <a:prstGeom prst="rect">
            <a:avLst/>
          </a:prstGeom>
        </p:spPr>
      </p:pic>
      <p:sp>
        <p:nvSpPr>
          <p:cNvPr id="99" name="Text 76"/>
          <p:cNvSpPr txBox="1"/>
          <p:nvPr/>
        </p:nvSpPr>
        <p:spPr>
          <a:xfrm>
            <a:off x="777240" y="54589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получение IP-адреса</a:t>
            </a:r>
            <a:endParaRPr lang="en-US" sz="1050" dirty="0"/>
          </a:p>
        </p:txBody>
      </p:sp>
      <p:pic>
        <p:nvPicPr>
          <p:cNvPr id="100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02920" y="5751576"/>
            <a:ext cx="182880" cy="182880"/>
          </a:xfrm>
          <a:prstGeom prst="rect">
            <a:avLst/>
          </a:prstGeom>
        </p:spPr>
      </p:pic>
      <p:sp>
        <p:nvSpPr>
          <p:cNvPr id="101" name="Text 77"/>
          <p:cNvSpPr txBox="1"/>
          <p:nvPr/>
        </p:nvSpPr>
        <p:spPr>
          <a:xfrm>
            <a:off x="777240" y="5715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DNS / HTTP / ping</a:t>
            </a:r>
            <a:endParaRPr lang="en-US" sz="1050" dirty="0"/>
          </a:p>
        </p:txBody>
      </p:sp>
      <p:sp>
        <p:nvSpPr>
          <p:cNvPr id="102" name="Shape 78"/>
          <p:cNvSpPr/>
          <p:nvPr/>
        </p:nvSpPr>
        <p:spPr>
          <a:xfrm>
            <a:off x="3840480" y="3767328"/>
            <a:ext cx="4599432" cy="2267712"/>
          </a:xfrm>
          <a:prstGeom prst="roundRect">
            <a:avLst>
              <a:gd name="adj" fmla="val 322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03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225796" y="3858768"/>
            <a:ext cx="237744" cy="237744"/>
          </a:xfrm>
          <a:prstGeom prst="rect">
            <a:avLst/>
          </a:prstGeom>
        </p:spPr>
      </p:pic>
      <p:sp>
        <p:nvSpPr>
          <p:cNvPr id="104" name="Text 79"/>
          <p:cNvSpPr txBox="1"/>
          <p:nvPr/>
        </p:nvSpPr>
        <p:spPr>
          <a:xfrm>
            <a:off x="5518404" y="38313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Критерий успеха</a:t>
            </a:r>
            <a:endParaRPr lang="en-US" sz="1300" dirty="0"/>
          </a:p>
        </p:txBody>
      </p:sp>
      <p:pic>
        <p:nvPicPr>
          <p:cNvPr id="105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114800" y="4485132"/>
            <a:ext cx="164592" cy="164592"/>
          </a:xfrm>
          <a:prstGeom prst="rect">
            <a:avLst/>
          </a:prstGeom>
        </p:spPr>
      </p:pic>
      <p:sp>
        <p:nvSpPr>
          <p:cNvPr id="106" name="Text 80"/>
          <p:cNvSpPr txBox="1"/>
          <p:nvPr/>
        </p:nvSpPr>
        <p:spPr>
          <a:xfrm>
            <a:off x="4389120" y="43159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 подключено к сети</a:t>
            </a:r>
            <a:endParaRPr lang="en-US" sz="1100" dirty="0"/>
          </a:p>
        </p:txBody>
      </p:sp>
      <p:pic>
        <p:nvPicPr>
          <p:cNvPr id="107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114800" y="4988052"/>
            <a:ext cx="164592" cy="164592"/>
          </a:xfrm>
          <a:prstGeom prst="rect">
            <a:avLst/>
          </a:prstGeom>
        </p:spPr>
      </p:pic>
      <p:sp>
        <p:nvSpPr>
          <p:cNvPr id="108" name="Text 81"/>
          <p:cNvSpPr txBox="1"/>
          <p:nvPr/>
        </p:nvSpPr>
        <p:spPr>
          <a:xfrm>
            <a:off x="4389120" y="48188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установлен</a:t>
            </a:r>
            <a:endParaRPr lang="en-US" sz="1100" dirty="0"/>
          </a:p>
        </p:txBody>
      </p:sp>
      <p:pic>
        <p:nvPicPr>
          <p:cNvPr id="109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114800" y="5490972"/>
            <a:ext cx="164592" cy="164592"/>
          </a:xfrm>
          <a:prstGeom prst="rect">
            <a:avLst/>
          </a:prstGeom>
        </p:spPr>
      </p:pic>
      <p:sp>
        <p:nvSpPr>
          <p:cNvPr id="110" name="Text 82"/>
          <p:cNvSpPr txBox="1"/>
          <p:nvPr/>
        </p:nvSpPr>
        <p:spPr>
          <a:xfrm>
            <a:off x="4389120" y="53218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Registration успешна</a:t>
            </a:r>
            <a:endParaRPr lang="en-US" sz="1100" dirty="0"/>
          </a:p>
        </p:txBody>
      </p:sp>
      <p:pic>
        <p:nvPicPr>
          <p:cNvPr id="111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309360" y="4485132"/>
            <a:ext cx="164592" cy="164592"/>
          </a:xfrm>
          <a:prstGeom prst="rect">
            <a:avLst/>
          </a:prstGeom>
        </p:spPr>
      </p:pic>
      <p:sp>
        <p:nvSpPr>
          <p:cNvPr id="112" name="Text 83"/>
          <p:cNvSpPr txBox="1"/>
          <p:nvPr/>
        </p:nvSpPr>
        <p:spPr>
          <a:xfrm>
            <a:off x="6583680" y="43159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PDU Session создана</a:t>
            </a:r>
            <a:endParaRPr lang="en-US" sz="1100" dirty="0"/>
          </a:p>
        </p:txBody>
      </p:sp>
      <p:pic>
        <p:nvPicPr>
          <p:cNvPr id="113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309360" y="4988052"/>
            <a:ext cx="164592" cy="164592"/>
          </a:xfrm>
          <a:prstGeom prst="rect">
            <a:avLst/>
          </a:prstGeom>
        </p:spPr>
      </p:pic>
      <p:sp>
        <p:nvSpPr>
          <p:cNvPr id="114" name="Text 84"/>
          <p:cNvSpPr txBox="1"/>
          <p:nvPr/>
        </p:nvSpPr>
        <p:spPr>
          <a:xfrm>
            <a:off x="6583680" y="48188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IP-связность есть</a:t>
            </a:r>
            <a:endParaRPr lang="en-US" sz="1100" dirty="0"/>
          </a:p>
        </p:txBody>
      </p:sp>
      <p:pic>
        <p:nvPicPr>
          <p:cNvPr id="115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9360" y="5490972"/>
            <a:ext cx="164592" cy="164592"/>
          </a:xfrm>
          <a:prstGeom prst="rect">
            <a:avLst/>
          </a:prstGeom>
        </p:spPr>
      </p:pic>
      <p:sp>
        <p:nvSpPr>
          <p:cNvPr id="116" name="Text 85"/>
          <p:cNvSpPr txBox="1"/>
          <p:nvPr/>
        </p:nvSpPr>
        <p:spPr>
          <a:xfrm>
            <a:off x="6583680" y="53218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базовый сервис доступен</a:t>
            </a:r>
            <a:endParaRPr lang="en-US" sz="1100" dirty="0"/>
          </a:p>
        </p:txBody>
      </p:sp>
      <p:sp>
        <p:nvSpPr>
          <p:cNvPr id="117" name="Shape 86"/>
          <p:cNvSpPr/>
          <p:nvPr/>
        </p:nvSpPr>
        <p:spPr>
          <a:xfrm>
            <a:off x="6185916" y="4315968"/>
            <a:ext cx="0" cy="1463040"/>
          </a:xfrm>
          <a:prstGeom prst="line">
            <a:avLst/>
          </a:prstGeom>
          <a:noFill/>
          <a:ln w="12700">
            <a:solidFill>
              <a:srgbClr val="EEEDFD"/>
            </a:solidFill>
            <a:prstDash val="solid"/>
          </a:ln>
        </p:spPr>
      </p:sp>
      <p:sp>
        <p:nvSpPr>
          <p:cNvPr id="118" name="Shape 87"/>
          <p:cNvSpPr/>
          <p:nvPr/>
        </p:nvSpPr>
        <p:spPr>
          <a:xfrm>
            <a:off x="8622792" y="3767328"/>
            <a:ext cx="3294583" cy="2267712"/>
          </a:xfrm>
          <a:prstGeom prst="roundRect">
            <a:avLst>
              <a:gd name="adj" fmla="val 3226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119" name="Text 88"/>
          <p:cNvSpPr txBox="1"/>
          <p:nvPr/>
        </p:nvSpPr>
        <p:spPr>
          <a:xfrm>
            <a:off x="8622792" y="3831336"/>
            <a:ext cx="32945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является тестовой системой</a:t>
            </a:r>
            <a:endParaRPr lang="en-US" sz="1300" dirty="0"/>
          </a:p>
        </p:txBody>
      </p:sp>
      <p:pic>
        <p:nvPicPr>
          <p:cNvPr id="120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851392" y="4229100"/>
            <a:ext cx="182880" cy="182880"/>
          </a:xfrm>
          <a:prstGeom prst="rect">
            <a:avLst/>
          </a:prstGeom>
        </p:spPr>
      </p:pic>
      <p:sp>
        <p:nvSpPr>
          <p:cNvPr id="121" name="Text 89"/>
          <p:cNvSpPr txBox="1"/>
          <p:nvPr/>
        </p:nvSpPr>
        <p:spPr>
          <a:xfrm>
            <a:off x="9125712" y="4178808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тестовая платформа / эмулятор сети</a:t>
            </a:r>
            <a:endParaRPr lang="en-US" sz="1050" dirty="0"/>
          </a:p>
        </p:txBody>
      </p:sp>
      <p:pic>
        <p:nvPicPr>
          <p:cNvPr id="122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851392" y="4512564"/>
            <a:ext cx="182880" cy="182880"/>
          </a:xfrm>
          <a:prstGeom prst="rect">
            <a:avLst/>
          </a:prstGeom>
        </p:spPr>
      </p:pic>
      <p:sp>
        <p:nvSpPr>
          <p:cNvPr id="123" name="Text 90"/>
          <p:cNvSpPr txBox="1"/>
          <p:nvPr/>
        </p:nvSpPr>
        <p:spPr>
          <a:xfrm>
            <a:off x="9125712" y="4462272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создаёт радиосреду</a:t>
            </a:r>
            <a:endParaRPr lang="en-US" sz="1050" dirty="0"/>
          </a:p>
        </p:txBody>
      </p:sp>
      <p:pic>
        <p:nvPicPr>
          <p:cNvPr id="124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851392" y="4796028"/>
            <a:ext cx="182880" cy="182880"/>
          </a:xfrm>
          <a:prstGeom prst="rect">
            <a:avLst/>
          </a:prstGeom>
        </p:spPr>
      </p:pic>
      <p:sp>
        <p:nvSpPr>
          <p:cNvPr id="125" name="Text 91"/>
          <p:cNvSpPr txBox="1"/>
          <p:nvPr/>
        </p:nvSpPr>
        <p:spPr>
          <a:xfrm>
            <a:off x="9125712" y="4745736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эмулирует сеть доступа</a:t>
            </a:r>
            <a:endParaRPr lang="en-US" sz="1050" dirty="0"/>
          </a:p>
        </p:txBody>
      </p:sp>
      <p:pic>
        <p:nvPicPr>
          <p:cNvPr id="126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851392" y="5079492"/>
            <a:ext cx="182880" cy="182880"/>
          </a:xfrm>
          <a:prstGeom prst="rect">
            <a:avLst/>
          </a:prstGeom>
        </p:spPr>
      </p:pic>
      <p:sp>
        <p:nvSpPr>
          <p:cNvPr id="127" name="Text 92"/>
          <p:cNvSpPr txBox="1"/>
          <p:nvPr/>
        </p:nvSpPr>
        <p:spPr>
          <a:xfrm>
            <a:off x="9125712" y="5029200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эмулирует Core</a:t>
            </a:r>
            <a:endParaRPr lang="en-US" sz="1050" dirty="0"/>
          </a:p>
        </p:txBody>
      </p:sp>
      <p:pic>
        <p:nvPicPr>
          <p:cNvPr id="128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851392" y="5362956"/>
            <a:ext cx="182880" cy="182880"/>
          </a:xfrm>
          <a:prstGeom prst="rect">
            <a:avLst/>
          </a:prstGeom>
        </p:spPr>
      </p:pic>
      <p:sp>
        <p:nvSpPr>
          <p:cNvPr id="129" name="Text 93"/>
          <p:cNvSpPr txBox="1"/>
          <p:nvPr/>
        </p:nvSpPr>
        <p:spPr>
          <a:xfrm>
            <a:off x="9125712" y="5312664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проверяет результат процедуры</a:t>
            </a:r>
            <a:endParaRPr lang="en-US" sz="1050" dirty="0"/>
          </a:p>
        </p:txBody>
      </p:sp>
      <p:pic>
        <p:nvPicPr>
          <p:cNvPr id="130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851392" y="5646420"/>
            <a:ext cx="182880" cy="182880"/>
          </a:xfrm>
          <a:prstGeom prst="rect">
            <a:avLst/>
          </a:prstGeom>
        </p:spPr>
      </p:pic>
      <p:sp>
        <p:nvSpPr>
          <p:cNvPr id="131" name="Text 94"/>
          <p:cNvSpPr txBox="1"/>
          <p:nvPr/>
        </p:nvSpPr>
        <p:spPr>
          <a:xfrm>
            <a:off x="9125712" y="5596128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фиксирует success / fail</a:t>
            </a:r>
            <a:endParaRPr lang="en-US" sz="1050" dirty="0"/>
          </a:p>
        </p:txBody>
      </p:sp>
      <p:sp>
        <p:nvSpPr>
          <p:cNvPr id="132" name="Shape 95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133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134" name="Text 96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При функциональном тестировании DUT — это UE, а сеть вокруг него воспроизводится тестовой системой в контролируемом сценарии.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Тестирование SIM: USIM, UICC, eSIM, аутентификация и профиль абонента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3291840" cy="4206240"/>
          </a:xfrm>
          <a:prstGeom prst="roundRect">
            <a:avLst>
              <a:gd name="adj" fmla="val 2222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74320" y="7132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Проверка карты и профиля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средств:</a:t>
            </a:r>
            <a:endParaRPr lang="en-US" sz="10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93876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12710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тестер USIM / UICC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2476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14996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считыватель смарт-карт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51076"/>
            <a:ext cx="182880" cy="1828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17282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анализатор APDU-команд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79676"/>
            <a:ext cx="182880" cy="1828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31520" y="19568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тестирование соответствия USIM / USAT</a:t>
            </a:r>
            <a:endParaRPr lang="en-US" sz="10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08276"/>
            <a:ext cx="182880" cy="1828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731520" y="21854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проверка eSIM-профиля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457200" y="2468880"/>
            <a:ext cx="2926080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7" name="Text 10"/>
          <p:cNvSpPr txBox="1"/>
          <p:nvPr/>
        </p:nvSpPr>
        <p:spPr>
          <a:xfrm>
            <a:off x="457200" y="25237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проверяет: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75204"/>
            <a:ext cx="182880" cy="1828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31520" y="27523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структура файлов UICC</a:t>
            </a:r>
            <a:endParaRPr lang="en-US" sz="100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003804"/>
            <a:ext cx="182880" cy="18288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731520" y="29809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доступность USIM application</a:t>
            </a:r>
            <a:endParaRPr lang="en-US" sz="100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232404"/>
            <a:ext cx="182880" cy="18288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731520" y="32095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корректность IMSI / SUPI</a:t>
            </a:r>
            <a:endParaRPr lang="en-US" sz="1000" dirty="0"/>
          </a:p>
        </p:txBody>
      </p:sp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3461004"/>
            <a:ext cx="182880" cy="18288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731520" y="34381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параметры PLMN</a:t>
            </a:r>
            <a:endParaRPr lang="en-US" sz="1000" dirty="0"/>
          </a:p>
        </p:txBody>
      </p:sp>
      <p:pic>
        <p:nvPicPr>
          <p:cNvPr id="2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3689604"/>
            <a:ext cx="182880" cy="182880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731520" y="36667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DNN / APN provisioning</a:t>
            </a:r>
            <a:endParaRPr lang="en-US" sz="1000" dirty="0"/>
          </a:p>
        </p:txBody>
      </p:sp>
      <p:pic>
        <p:nvPicPr>
          <p:cNvPr id="2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3918204"/>
            <a:ext cx="182880" cy="182880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731520" y="38953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IMS provisioning</a:t>
            </a:r>
            <a:endParaRPr lang="en-US" sz="1000" dirty="0"/>
          </a:p>
        </p:txBody>
      </p:sp>
      <p:pic>
        <p:nvPicPr>
          <p:cNvPr id="3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4146804"/>
            <a:ext cx="182880" cy="182880"/>
          </a:xfrm>
          <a:prstGeom prst="rect">
            <a:avLst/>
          </a:prstGeom>
        </p:spPr>
      </p:pic>
      <p:sp>
        <p:nvSpPr>
          <p:cNvPr id="31" name="Text 17"/>
          <p:cNvSpPr txBox="1"/>
          <p:nvPr/>
        </p:nvSpPr>
        <p:spPr>
          <a:xfrm>
            <a:off x="731520" y="41239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USAT commands</a:t>
            </a:r>
            <a:endParaRPr lang="en-US" sz="1000" dirty="0"/>
          </a:p>
        </p:txBody>
      </p:sp>
      <p:pic>
        <p:nvPicPr>
          <p:cNvPr id="3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4375404"/>
            <a:ext cx="182880" cy="182880"/>
          </a:xfrm>
          <a:prstGeom prst="rect">
            <a:avLst/>
          </a:prstGeom>
        </p:spPr>
      </p:pic>
      <p:sp>
        <p:nvSpPr>
          <p:cNvPr id="33" name="Text 18"/>
          <p:cNvSpPr txBox="1"/>
          <p:nvPr/>
        </p:nvSpPr>
        <p:spPr>
          <a:xfrm>
            <a:off x="731520" y="43525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PIN / access conditions</a:t>
            </a:r>
            <a:endParaRPr lang="en-US" sz="1000" dirty="0"/>
          </a:p>
        </p:txBody>
      </p:sp>
      <p:sp>
        <p:nvSpPr>
          <p:cNvPr id="34" name="Shape 19"/>
          <p:cNvSpPr/>
          <p:nvPr/>
        </p:nvSpPr>
        <p:spPr>
          <a:xfrm>
            <a:off x="8625535" y="658368"/>
            <a:ext cx="3291840" cy="4206240"/>
          </a:xfrm>
          <a:prstGeom prst="roundRect">
            <a:avLst>
              <a:gd name="adj" fmla="val 2222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35" name="Text 20"/>
          <p:cNvSpPr txBox="1"/>
          <p:nvPr/>
        </p:nvSpPr>
        <p:spPr>
          <a:xfrm>
            <a:off x="8625535" y="7132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Проверка в сетевом сценарии</a:t>
            </a:r>
            <a:endParaRPr lang="en-US" sz="1300" dirty="0"/>
          </a:p>
        </p:txBody>
      </p:sp>
      <p:sp>
        <p:nvSpPr>
          <p:cNvPr id="36" name="Text 21"/>
          <p:cNvSpPr txBox="1"/>
          <p:nvPr/>
        </p:nvSpPr>
        <p:spPr>
          <a:xfrm>
            <a:off x="8808415" y="104241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средств:</a:t>
            </a:r>
            <a:endParaRPr lang="en-US" sz="1050" dirty="0"/>
          </a:p>
        </p:txBody>
      </p:sp>
      <p:pic>
        <p:nvPicPr>
          <p:cNvPr id="3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08415" y="1293876"/>
            <a:ext cx="182880" cy="182880"/>
          </a:xfrm>
          <a:prstGeom prst="rect">
            <a:avLst/>
          </a:prstGeom>
        </p:spPr>
      </p:pic>
      <p:sp>
        <p:nvSpPr>
          <p:cNvPr id="38" name="Text 22"/>
          <p:cNvSpPr txBox="1"/>
          <p:nvPr/>
        </p:nvSpPr>
        <p:spPr>
          <a:xfrm>
            <a:off x="9082735" y="12710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сети LTE / NR</a:t>
            </a:r>
            <a:endParaRPr lang="en-US" sz="1000" dirty="0"/>
          </a:p>
        </p:txBody>
      </p:sp>
      <p:pic>
        <p:nvPicPr>
          <p:cNvPr id="3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08415" y="1522476"/>
            <a:ext cx="182880" cy="182880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9082735" y="14996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callbox</a:t>
            </a:r>
            <a:endParaRPr lang="en-US" sz="1000" dirty="0"/>
          </a:p>
        </p:txBody>
      </p:sp>
      <p:pic>
        <p:nvPicPr>
          <p:cNvPr id="4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08415" y="1751076"/>
            <a:ext cx="182880" cy="182880"/>
          </a:xfrm>
          <a:prstGeom prst="rect">
            <a:avLst/>
          </a:prstGeom>
        </p:spPr>
      </p:pic>
      <p:sp>
        <p:nvSpPr>
          <p:cNvPr id="42" name="Text 24"/>
          <p:cNvSpPr txBox="1"/>
          <p:nvPr/>
        </p:nvSpPr>
        <p:spPr>
          <a:xfrm>
            <a:off x="9082735" y="17282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Core</a:t>
            </a:r>
            <a:endParaRPr lang="en-US" sz="1000" dirty="0"/>
          </a:p>
        </p:txBody>
      </p:sp>
      <p:pic>
        <p:nvPicPr>
          <p:cNvPr id="43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08415" y="1979676"/>
            <a:ext cx="182880" cy="182880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9082735" y="19568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HSS / UDM / AUSF</a:t>
            </a:r>
            <a:endParaRPr lang="en-US" sz="1000" dirty="0"/>
          </a:p>
        </p:txBody>
      </p:sp>
      <p:pic>
        <p:nvPicPr>
          <p:cNvPr id="4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08415" y="2208276"/>
            <a:ext cx="182880" cy="182880"/>
          </a:xfrm>
          <a:prstGeom prst="rect">
            <a:avLst/>
          </a:prstGeom>
        </p:spPr>
      </p:pic>
      <p:sp>
        <p:nvSpPr>
          <p:cNvPr id="46" name="Text 26"/>
          <p:cNvSpPr txBox="1"/>
          <p:nvPr/>
        </p:nvSpPr>
        <p:spPr>
          <a:xfrm>
            <a:off x="9082735" y="21854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protocol trace analyzer</a:t>
            </a:r>
            <a:endParaRPr lang="en-US" sz="1000" dirty="0"/>
          </a:p>
        </p:txBody>
      </p:sp>
      <p:sp>
        <p:nvSpPr>
          <p:cNvPr id="47" name="Shape 27"/>
          <p:cNvSpPr/>
          <p:nvPr/>
        </p:nvSpPr>
        <p:spPr>
          <a:xfrm>
            <a:off x="8808415" y="2468880"/>
            <a:ext cx="2926080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48" name="Text 28"/>
          <p:cNvSpPr txBox="1"/>
          <p:nvPr/>
        </p:nvSpPr>
        <p:spPr>
          <a:xfrm>
            <a:off x="8808415" y="25237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проверяет:</a:t>
            </a:r>
            <a:endParaRPr lang="en-US" sz="1050" dirty="0"/>
          </a:p>
        </p:txBody>
      </p:sp>
      <p:pic>
        <p:nvPicPr>
          <p:cNvPr id="49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808415" y="2775204"/>
            <a:ext cx="182880" cy="182880"/>
          </a:xfrm>
          <a:prstGeom prst="rect">
            <a:avLst/>
          </a:prstGeom>
        </p:spPr>
      </p:pic>
      <p:sp>
        <p:nvSpPr>
          <p:cNvPr id="50" name="Text 29"/>
          <p:cNvSpPr txBox="1"/>
          <p:nvPr/>
        </p:nvSpPr>
        <p:spPr>
          <a:xfrm>
            <a:off x="9082735" y="27523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выбор PLMN</a:t>
            </a:r>
            <a:endParaRPr lang="en-US" sz="1000" dirty="0"/>
          </a:p>
        </p:txBody>
      </p:sp>
      <p:pic>
        <p:nvPicPr>
          <p:cNvPr id="51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808415" y="3003804"/>
            <a:ext cx="182880" cy="182880"/>
          </a:xfrm>
          <a:prstGeom prst="rect">
            <a:avLst/>
          </a:prstGeom>
        </p:spPr>
      </p:pic>
      <p:sp>
        <p:nvSpPr>
          <p:cNvPr id="52" name="Text 30"/>
          <p:cNvSpPr txBox="1"/>
          <p:nvPr/>
        </p:nvSpPr>
        <p:spPr>
          <a:xfrm>
            <a:off x="9082735" y="29809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регистрация</a:t>
            </a:r>
            <a:endParaRPr lang="en-US" sz="1000" dirty="0"/>
          </a:p>
        </p:txBody>
      </p:sp>
      <p:pic>
        <p:nvPicPr>
          <p:cNvPr id="53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808415" y="3232404"/>
            <a:ext cx="182880" cy="182880"/>
          </a:xfrm>
          <a:prstGeom prst="rect">
            <a:avLst/>
          </a:prstGeom>
        </p:spPr>
      </p:pic>
      <p:sp>
        <p:nvSpPr>
          <p:cNvPr id="54" name="Text 31"/>
          <p:cNvSpPr txBox="1"/>
          <p:nvPr/>
        </p:nvSpPr>
        <p:spPr>
          <a:xfrm>
            <a:off x="9082735" y="32095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аутентификация AKA</a:t>
            </a:r>
            <a:endParaRPr lang="en-US" sz="1000" dirty="0"/>
          </a:p>
        </p:txBody>
      </p:sp>
      <p:pic>
        <p:nvPicPr>
          <p:cNvPr id="55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808415" y="3461004"/>
            <a:ext cx="182880" cy="182880"/>
          </a:xfrm>
          <a:prstGeom prst="rect">
            <a:avLst/>
          </a:prstGeom>
        </p:spPr>
      </p:pic>
      <p:sp>
        <p:nvSpPr>
          <p:cNvPr id="56" name="Text 32"/>
          <p:cNvSpPr txBox="1"/>
          <p:nvPr/>
        </p:nvSpPr>
        <p:spPr>
          <a:xfrm>
            <a:off x="9082735" y="34381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security mode</a:t>
            </a:r>
            <a:endParaRPr lang="en-US" sz="1000" dirty="0"/>
          </a:p>
        </p:txBody>
      </p:sp>
      <p:pic>
        <p:nvPicPr>
          <p:cNvPr id="57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808415" y="3689604"/>
            <a:ext cx="182880" cy="182880"/>
          </a:xfrm>
          <a:prstGeom prst="rect">
            <a:avLst/>
          </a:prstGeom>
        </p:spPr>
      </p:pic>
      <p:sp>
        <p:nvSpPr>
          <p:cNvPr id="58" name="Text 33"/>
          <p:cNvSpPr txBox="1"/>
          <p:nvPr/>
        </p:nvSpPr>
        <p:spPr>
          <a:xfrm>
            <a:off x="9082735" y="36667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PDU Session</a:t>
            </a:r>
            <a:endParaRPr lang="en-US" sz="1000" dirty="0"/>
          </a:p>
        </p:txBody>
      </p:sp>
      <p:pic>
        <p:nvPicPr>
          <p:cNvPr id="59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808415" y="3918204"/>
            <a:ext cx="182880" cy="182880"/>
          </a:xfrm>
          <a:prstGeom prst="rect">
            <a:avLst/>
          </a:prstGeom>
        </p:spPr>
      </p:pic>
      <p:sp>
        <p:nvSpPr>
          <p:cNvPr id="60" name="Text 34"/>
          <p:cNvSpPr txBox="1"/>
          <p:nvPr/>
        </p:nvSpPr>
        <p:spPr>
          <a:xfrm>
            <a:off x="9082735" y="38953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DNN / APN access</a:t>
            </a:r>
            <a:endParaRPr lang="en-US" sz="1000" dirty="0"/>
          </a:p>
        </p:txBody>
      </p:sp>
      <p:pic>
        <p:nvPicPr>
          <p:cNvPr id="61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808415" y="4146804"/>
            <a:ext cx="182880" cy="182880"/>
          </a:xfrm>
          <a:prstGeom prst="rect">
            <a:avLst/>
          </a:prstGeom>
        </p:spPr>
      </p:pic>
      <p:sp>
        <p:nvSpPr>
          <p:cNvPr id="62" name="Text 35"/>
          <p:cNvSpPr txBox="1"/>
          <p:nvPr/>
        </p:nvSpPr>
        <p:spPr>
          <a:xfrm>
            <a:off x="9082735" y="41239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roaming behavior</a:t>
            </a:r>
            <a:endParaRPr lang="en-US" sz="1000" dirty="0"/>
          </a:p>
        </p:txBody>
      </p:sp>
      <p:pic>
        <p:nvPicPr>
          <p:cNvPr id="63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808415" y="4375404"/>
            <a:ext cx="182880" cy="182880"/>
          </a:xfrm>
          <a:prstGeom prst="rect">
            <a:avLst/>
          </a:prstGeom>
        </p:spPr>
      </p:pic>
      <p:sp>
        <p:nvSpPr>
          <p:cNvPr id="64" name="Text 36"/>
          <p:cNvSpPr txBox="1"/>
          <p:nvPr/>
        </p:nvSpPr>
        <p:spPr>
          <a:xfrm>
            <a:off x="9082735" y="43525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IMS registration</a:t>
            </a:r>
            <a:endParaRPr lang="en-US" sz="1000" dirty="0"/>
          </a:p>
        </p:txBody>
      </p:sp>
      <p:pic>
        <p:nvPicPr>
          <p:cNvPr id="65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808415" y="4604004"/>
            <a:ext cx="182880" cy="182880"/>
          </a:xfrm>
          <a:prstGeom prst="rect">
            <a:avLst/>
          </a:prstGeom>
        </p:spPr>
      </p:pic>
      <p:sp>
        <p:nvSpPr>
          <p:cNvPr id="66" name="Text 37"/>
          <p:cNvSpPr txBox="1"/>
          <p:nvPr/>
        </p:nvSpPr>
        <p:spPr>
          <a:xfrm>
            <a:off x="9082735" y="45811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reject causes</a:t>
            </a:r>
            <a:endParaRPr lang="en-US" sz="1000" dirty="0"/>
          </a:p>
        </p:txBody>
      </p:sp>
      <p:sp>
        <p:nvSpPr>
          <p:cNvPr id="67" name="Shape 38"/>
          <p:cNvSpPr/>
          <p:nvPr/>
        </p:nvSpPr>
        <p:spPr>
          <a:xfrm>
            <a:off x="3767328" y="658368"/>
            <a:ext cx="4657039" cy="2432304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 w="22225">
            <a:solidFill>
              <a:srgbClr val="534EE6"/>
            </a:solidFill>
            <a:prstDash val="solid"/>
          </a:ln>
        </p:spPr>
      </p:sp>
      <p:sp>
        <p:nvSpPr>
          <p:cNvPr id="68" name="Shape 39"/>
          <p:cNvSpPr/>
          <p:nvPr/>
        </p:nvSpPr>
        <p:spPr>
          <a:xfrm>
            <a:off x="3767328" y="658368"/>
            <a:ext cx="4657039" cy="365760"/>
          </a:xfrm>
          <a:prstGeom prst="roundRect">
            <a:avLst>
              <a:gd name="adj" fmla="val 20000"/>
            </a:avLst>
          </a:prstGeom>
          <a:solidFill>
            <a:srgbClr val="534EE6"/>
          </a:solidFill>
          <a:ln/>
        </p:spPr>
      </p:sp>
      <p:sp>
        <p:nvSpPr>
          <p:cNvPr id="69" name="Text 40"/>
          <p:cNvSpPr txBox="1"/>
          <p:nvPr/>
        </p:nvSpPr>
        <p:spPr>
          <a:xfrm>
            <a:off x="3767328" y="658368"/>
            <a:ext cx="46570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SIM / USIM / eSIM как DUT</a:t>
            </a:r>
            <a:endParaRPr lang="en-US" sz="1350" dirty="0"/>
          </a:p>
        </p:txBody>
      </p:sp>
      <p:pic>
        <p:nvPicPr>
          <p:cNvPr id="70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041648" y="1097280"/>
            <a:ext cx="164592" cy="164592"/>
          </a:xfrm>
          <a:prstGeom prst="rect">
            <a:avLst/>
          </a:prstGeom>
        </p:spPr>
      </p:pic>
      <p:sp>
        <p:nvSpPr>
          <p:cNvPr id="71" name="Text 41"/>
          <p:cNvSpPr txBox="1"/>
          <p:nvPr/>
        </p:nvSpPr>
        <p:spPr>
          <a:xfrm>
            <a:off x="4334256" y="1078992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идентификатор абонента (IMSI / SUPI)</a:t>
            </a:r>
            <a:endParaRPr lang="en-US" sz="1050" dirty="0"/>
          </a:p>
        </p:txBody>
      </p:sp>
      <p:sp>
        <p:nvSpPr>
          <p:cNvPr id="72" name="Shape 42"/>
          <p:cNvSpPr/>
          <p:nvPr/>
        </p:nvSpPr>
        <p:spPr>
          <a:xfrm>
            <a:off x="4041648" y="1274674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73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041648" y="1294790"/>
            <a:ext cx="164592" cy="164592"/>
          </a:xfrm>
          <a:prstGeom prst="rect">
            <a:avLst/>
          </a:prstGeom>
        </p:spPr>
      </p:pic>
      <p:sp>
        <p:nvSpPr>
          <p:cNvPr id="74" name="Text 43"/>
          <p:cNvSpPr txBox="1"/>
          <p:nvPr/>
        </p:nvSpPr>
        <p:spPr>
          <a:xfrm>
            <a:off x="4334256" y="1276502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скрытый идентификатор (SUCI)</a:t>
            </a:r>
            <a:endParaRPr lang="en-US" sz="1050" dirty="0"/>
          </a:p>
        </p:txBody>
      </p:sp>
      <p:sp>
        <p:nvSpPr>
          <p:cNvPr id="75" name="Shape 44"/>
          <p:cNvSpPr/>
          <p:nvPr/>
        </p:nvSpPr>
        <p:spPr>
          <a:xfrm>
            <a:off x="4041648" y="1472184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76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041648" y="1492301"/>
            <a:ext cx="164592" cy="164592"/>
          </a:xfrm>
          <a:prstGeom prst="rect">
            <a:avLst/>
          </a:prstGeom>
        </p:spPr>
      </p:pic>
      <p:sp>
        <p:nvSpPr>
          <p:cNvPr id="77" name="Text 45"/>
          <p:cNvSpPr txBox="1"/>
          <p:nvPr/>
        </p:nvSpPr>
        <p:spPr>
          <a:xfrm>
            <a:off x="4334256" y="1474013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домашняя сеть (HPLMN)</a:t>
            </a:r>
            <a:endParaRPr lang="en-US" sz="1050" dirty="0"/>
          </a:p>
        </p:txBody>
      </p:sp>
      <p:sp>
        <p:nvSpPr>
          <p:cNvPr id="78" name="Shape 46"/>
          <p:cNvSpPr/>
          <p:nvPr/>
        </p:nvSpPr>
        <p:spPr>
          <a:xfrm>
            <a:off x="4041648" y="1669694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79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041648" y="1689811"/>
            <a:ext cx="164592" cy="164592"/>
          </a:xfrm>
          <a:prstGeom prst="rect">
            <a:avLst/>
          </a:prstGeom>
        </p:spPr>
      </p:pic>
      <p:sp>
        <p:nvSpPr>
          <p:cNvPr id="80" name="Text 47"/>
          <p:cNvSpPr txBox="1"/>
          <p:nvPr/>
        </p:nvSpPr>
        <p:spPr>
          <a:xfrm>
            <a:off x="4334256" y="1671523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секретный ключ (K)</a:t>
            </a:r>
            <a:endParaRPr lang="en-US" sz="1050" dirty="0"/>
          </a:p>
        </p:txBody>
      </p:sp>
      <p:sp>
        <p:nvSpPr>
          <p:cNvPr id="81" name="Shape 48"/>
          <p:cNvSpPr/>
          <p:nvPr/>
        </p:nvSpPr>
        <p:spPr>
          <a:xfrm>
            <a:off x="4041648" y="1867205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82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41648" y="1887322"/>
            <a:ext cx="164592" cy="164592"/>
          </a:xfrm>
          <a:prstGeom prst="rect">
            <a:avLst/>
          </a:prstGeom>
        </p:spPr>
      </p:pic>
      <p:sp>
        <p:nvSpPr>
          <p:cNvPr id="83" name="Text 49"/>
          <p:cNvSpPr txBox="1"/>
          <p:nvPr/>
        </p:nvSpPr>
        <p:spPr>
          <a:xfrm>
            <a:off x="4334256" y="1869034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параметры AKA</a:t>
            </a:r>
            <a:endParaRPr lang="en-US" sz="1050" dirty="0"/>
          </a:p>
        </p:txBody>
      </p:sp>
      <p:sp>
        <p:nvSpPr>
          <p:cNvPr id="84" name="Shape 50"/>
          <p:cNvSpPr/>
          <p:nvPr/>
        </p:nvSpPr>
        <p:spPr>
          <a:xfrm>
            <a:off x="4041648" y="2064715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85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041648" y="2084832"/>
            <a:ext cx="164592" cy="164592"/>
          </a:xfrm>
          <a:prstGeom prst="rect">
            <a:avLst/>
          </a:prstGeom>
        </p:spPr>
      </p:pic>
      <p:sp>
        <p:nvSpPr>
          <p:cNvPr id="86" name="Text 51"/>
          <p:cNvSpPr txBox="1"/>
          <p:nvPr/>
        </p:nvSpPr>
        <p:spPr>
          <a:xfrm>
            <a:off x="4334256" y="2066544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профиль DNN / APN</a:t>
            </a:r>
            <a:endParaRPr lang="en-US" sz="1050" dirty="0"/>
          </a:p>
        </p:txBody>
      </p:sp>
      <p:sp>
        <p:nvSpPr>
          <p:cNvPr id="87" name="Shape 52"/>
          <p:cNvSpPr/>
          <p:nvPr/>
        </p:nvSpPr>
        <p:spPr>
          <a:xfrm>
            <a:off x="4041648" y="2262226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88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041648" y="2282342"/>
            <a:ext cx="164592" cy="164592"/>
          </a:xfrm>
          <a:prstGeom prst="rect">
            <a:avLst/>
          </a:prstGeom>
        </p:spPr>
      </p:pic>
      <p:sp>
        <p:nvSpPr>
          <p:cNvPr id="89" name="Text 53"/>
          <p:cNvSpPr txBox="1"/>
          <p:nvPr/>
        </p:nvSpPr>
        <p:spPr>
          <a:xfrm>
            <a:off x="4334256" y="2264054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профиль IMS</a:t>
            </a:r>
            <a:endParaRPr lang="en-US" sz="1050" dirty="0"/>
          </a:p>
        </p:txBody>
      </p:sp>
      <p:sp>
        <p:nvSpPr>
          <p:cNvPr id="90" name="Shape 54"/>
          <p:cNvSpPr/>
          <p:nvPr/>
        </p:nvSpPr>
        <p:spPr>
          <a:xfrm>
            <a:off x="4041648" y="2459736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91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041648" y="2479853"/>
            <a:ext cx="164592" cy="164592"/>
          </a:xfrm>
          <a:prstGeom prst="rect">
            <a:avLst/>
          </a:prstGeom>
        </p:spPr>
      </p:pic>
      <p:sp>
        <p:nvSpPr>
          <p:cNvPr id="92" name="Text 55"/>
          <p:cNvSpPr txBox="1"/>
          <p:nvPr/>
        </p:nvSpPr>
        <p:spPr>
          <a:xfrm>
            <a:off x="4334256" y="2461565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roaming permissions</a:t>
            </a:r>
            <a:endParaRPr lang="en-US" sz="1050" dirty="0"/>
          </a:p>
        </p:txBody>
      </p:sp>
      <p:sp>
        <p:nvSpPr>
          <p:cNvPr id="93" name="Shape 56"/>
          <p:cNvSpPr/>
          <p:nvPr/>
        </p:nvSpPr>
        <p:spPr>
          <a:xfrm>
            <a:off x="4041648" y="2657246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94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041648" y="2677363"/>
            <a:ext cx="164592" cy="164592"/>
          </a:xfrm>
          <a:prstGeom prst="rect">
            <a:avLst/>
          </a:prstGeom>
        </p:spPr>
      </p:pic>
      <p:sp>
        <p:nvSpPr>
          <p:cNvPr id="95" name="Text 57"/>
          <p:cNvSpPr txBox="1"/>
          <p:nvPr/>
        </p:nvSpPr>
        <p:spPr>
          <a:xfrm>
            <a:off x="4334256" y="2659075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slice / service permissions</a:t>
            </a:r>
            <a:endParaRPr lang="en-US" sz="1050" dirty="0"/>
          </a:p>
        </p:txBody>
      </p:sp>
      <p:sp>
        <p:nvSpPr>
          <p:cNvPr id="96" name="Shape 58"/>
          <p:cNvSpPr/>
          <p:nvPr/>
        </p:nvSpPr>
        <p:spPr>
          <a:xfrm>
            <a:off x="4041648" y="2854757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97" name="Image 36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041648" y="2874874"/>
            <a:ext cx="164592" cy="164592"/>
          </a:xfrm>
          <a:prstGeom prst="rect">
            <a:avLst/>
          </a:prstGeom>
        </p:spPr>
      </p:pic>
      <p:sp>
        <p:nvSpPr>
          <p:cNvPr id="98" name="Text 59"/>
          <p:cNvSpPr txBox="1"/>
          <p:nvPr/>
        </p:nvSpPr>
        <p:spPr>
          <a:xfrm>
            <a:off x="4334256" y="2856586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USAT / SIM Toolkit behavior</a:t>
            </a:r>
            <a:endParaRPr lang="en-US" sz="1050" dirty="0"/>
          </a:p>
        </p:txBody>
      </p:sp>
      <p:sp>
        <p:nvSpPr>
          <p:cNvPr id="99" name="Shape 60"/>
          <p:cNvSpPr/>
          <p:nvPr/>
        </p:nvSpPr>
        <p:spPr>
          <a:xfrm>
            <a:off x="3584448" y="1737360"/>
            <a:ext cx="164592" cy="0"/>
          </a:xfrm>
          <a:prstGeom prst="line">
            <a:avLst/>
          </a:prstGeom>
          <a:noFill/>
          <a:ln w="25400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00" name="Shape 61"/>
          <p:cNvSpPr/>
          <p:nvPr/>
        </p:nvSpPr>
        <p:spPr>
          <a:xfrm flipH="1">
            <a:off x="8442655" y="1737360"/>
            <a:ext cx="164592" cy="0"/>
          </a:xfrm>
          <a:prstGeom prst="line">
            <a:avLst/>
          </a:prstGeom>
          <a:noFill/>
          <a:ln w="25400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01" name="Shape 62"/>
          <p:cNvSpPr/>
          <p:nvPr/>
        </p:nvSpPr>
        <p:spPr>
          <a:xfrm>
            <a:off x="6095848" y="3108960"/>
            <a:ext cx="0" cy="118872"/>
          </a:xfrm>
          <a:prstGeom prst="line">
            <a:avLst/>
          </a:prstGeom>
          <a:noFill/>
          <a:ln w="25400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02" name="Shape 63"/>
          <p:cNvSpPr/>
          <p:nvPr/>
        </p:nvSpPr>
        <p:spPr>
          <a:xfrm>
            <a:off x="3767328" y="3246120"/>
            <a:ext cx="4657039" cy="1618488"/>
          </a:xfrm>
          <a:prstGeom prst="roundRect">
            <a:avLst>
              <a:gd name="adj" fmla="val 4520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103" name="Shape 64"/>
          <p:cNvSpPr/>
          <p:nvPr/>
        </p:nvSpPr>
        <p:spPr>
          <a:xfrm>
            <a:off x="3767328" y="3246120"/>
            <a:ext cx="4657039" cy="292608"/>
          </a:xfrm>
          <a:prstGeom prst="roundRect">
            <a:avLst>
              <a:gd name="adj" fmla="val 25000"/>
            </a:avLst>
          </a:prstGeom>
          <a:solidFill>
            <a:srgbClr val="FF812A"/>
          </a:solidFill>
          <a:ln/>
        </p:spPr>
      </p:sp>
      <p:sp>
        <p:nvSpPr>
          <p:cNvPr id="104" name="Text 65"/>
          <p:cNvSpPr txBox="1"/>
          <p:nvPr/>
        </p:nvSpPr>
        <p:spPr>
          <a:xfrm>
            <a:off x="3767328" y="3246120"/>
            <a:ext cx="46570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Диагностика отказов</a:t>
            </a:r>
            <a:endParaRPr lang="en-US" sz="1250" dirty="0"/>
          </a:p>
        </p:txBody>
      </p:sp>
      <p:sp>
        <p:nvSpPr>
          <p:cNvPr id="105" name="Text 66"/>
          <p:cNvSpPr txBox="1"/>
          <p:nvPr/>
        </p:nvSpPr>
        <p:spPr>
          <a:xfrm>
            <a:off x="3904488" y="358444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средств:</a:t>
            </a:r>
            <a:endParaRPr lang="en-US" sz="950" dirty="0"/>
          </a:p>
        </p:txBody>
      </p:sp>
      <p:sp>
        <p:nvSpPr>
          <p:cNvPr id="106" name="Shape 67"/>
          <p:cNvSpPr/>
          <p:nvPr/>
        </p:nvSpPr>
        <p:spPr>
          <a:xfrm>
            <a:off x="3913632" y="383773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7" name="Text 68"/>
          <p:cNvSpPr txBox="1"/>
          <p:nvPr/>
        </p:nvSpPr>
        <p:spPr>
          <a:xfrm>
            <a:off x="4041648" y="3785616"/>
            <a:ext cx="1344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протокольная трасса</a:t>
            </a:r>
            <a:endParaRPr lang="en-US" sz="900" dirty="0"/>
          </a:p>
        </p:txBody>
      </p:sp>
      <p:sp>
        <p:nvSpPr>
          <p:cNvPr id="108" name="Shape 69"/>
          <p:cNvSpPr/>
          <p:nvPr/>
        </p:nvSpPr>
        <p:spPr>
          <a:xfrm>
            <a:off x="3913632" y="400232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9" name="Text 70"/>
          <p:cNvSpPr txBox="1"/>
          <p:nvPr/>
        </p:nvSpPr>
        <p:spPr>
          <a:xfrm>
            <a:off x="4041648" y="3950208"/>
            <a:ext cx="1344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NAS trace</a:t>
            </a:r>
            <a:endParaRPr lang="en-US" sz="900" dirty="0"/>
          </a:p>
        </p:txBody>
      </p:sp>
      <p:sp>
        <p:nvSpPr>
          <p:cNvPr id="110" name="Shape 71"/>
          <p:cNvSpPr/>
          <p:nvPr/>
        </p:nvSpPr>
        <p:spPr>
          <a:xfrm>
            <a:off x="3913632" y="41669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1" name="Text 72"/>
          <p:cNvSpPr txBox="1"/>
          <p:nvPr/>
        </p:nvSpPr>
        <p:spPr>
          <a:xfrm>
            <a:off x="4041648" y="4114800"/>
            <a:ext cx="1344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лог UE</a:t>
            </a:r>
            <a:endParaRPr lang="en-US" sz="900" dirty="0"/>
          </a:p>
        </p:txBody>
      </p:sp>
      <p:sp>
        <p:nvSpPr>
          <p:cNvPr id="112" name="Shape 73"/>
          <p:cNvSpPr/>
          <p:nvPr/>
        </p:nvSpPr>
        <p:spPr>
          <a:xfrm>
            <a:off x="3913632" y="43315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3" name="Text 74"/>
          <p:cNvSpPr txBox="1"/>
          <p:nvPr/>
        </p:nvSpPr>
        <p:spPr>
          <a:xfrm>
            <a:off x="4041648" y="4279392"/>
            <a:ext cx="1344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лог Core / UDM / AUSF</a:t>
            </a:r>
            <a:endParaRPr lang="en-US" sz="900" dirty="0"/>
          </a:p>
        </p:txBody>
      </p:sp>
      <p:sp>
        <p:nvSpPr>
          <p:cNvPr id="114" name="Shape 75"/>
          <p:cNvSpPr/>
          <p:nvPr/>
        </p:nvSpPr>
        <p:spPr>
          <a:xfrm>
            <a:off x="3913632" y="44961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5" name="Text 76"/>
          <p:cNvSpPr txBox="1"/>
          <p:nvPr/>
        </p:nvSpPr>
        <p:spPr>
          <a:xfrm>
            <a:off x="4041648" y="4443984"/>
            <a:ext cx="1344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анализатор APDU</a:t>
            </a:r>
            <a:endParaRPr lang="en-US" sz="900" dirty="0"/>
          </a:p>
        </p:txBody>
      </p:sp>
      <p:sp>
        <p:nvSpPr>
          <p:cNvPr id="116" name="Shape 77"/>
          <p:cNvSpPr/>
          <p:nvPr/>
        </p:nvSpPr>
        <p:spPr>
          <a:xfrm>
            <a:off x="3913632" y="466069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7" name="Text 78"/>
          <p:cNvSpPr txBox="1"/>
          <p:nvPr/>
        </p:nvSpPr>
        <p:spPr>
          <a:xfrm>
            <a:off x="4041648" y="4608576"/>
            <a:ext cx="1344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отчёт test verdict</a:t>
            </a:r>
            <a:endParaRPr lang="en-US" sz="900" dirty="0"/>
          </a:p>
        </p:txBody>
      </p:sp>
      <p:sp>
        <p:nvSpPr>
          <p:cNvPr id="118" name="Shape 79"/>
          <p:cNvSpPr/>
          <p:nvPr/>
        </p:nvSpPr>
        <p:spPr>
          <a:xfrm>
            <a:off x="5458968" y="3630168"/>
            <a:ext cx="0" cy="114300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19" name="Text 80"/>
          <p:cNvSpPr txBox="1"/>
          <p:nvPr/>
        </p:nvSpPr>
        <p:spPr>
          <a:xfrm>
            <a:off x="5568696" y="35844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ищется:</a:t>
            </a:r>
            <a:endParaRPr lang="en-US" sz="950" dirty="0"/>
          </a:p>
        </p:txBody>
      </p:sp>
      <p:sp>
        <p:nvSpPr>
          <p:cNvPr id="120" name="Shape 81"/>
          <p:cNvSpPr/>
          <p:nvPr/>
        </p:nvSpPr>
        <p:spPr>
          <a:xfrm>
            <a:off x="5577840" y="383773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1" name="Text 82"/>
          <p:cNvSpPr txBox="1"/>
          <p:nvPr/>
        </p:nvSpPr>
        <p:spPr>
          <a:xfrm>
            <a:off x="5705856" y="3785616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authentication failure</a:t>
            </a:r>
            <a:endParaRPr lang="en-US" sz="900" dirty="0"/>
          </a:p>
        </p:txBody>
      </p:sp>
      <p:sp>
        <p:nvSpPr>
          <p:cNvPr id="122" name="Shape 83"/>
          <p:cNvSpPr/>
          <p:nvPr/>
        </p:nvSpPr>
        <p:spPr>
          <a:xfrm>
            <a:off x="5577840" y="400232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3" name="Text 84"/>
          <p:cNvSpPr txBox="1"/>
          <p:nvPr/>
        </p:nvSpPr>
        <p:spPr>
          <a:xfrm>
            <a:off x="5705856" y="3950208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synch failure (SQN)</a:t>
            </a:r>
            <a:endParaRPr lang="en-US" sz="900" dirty="0"/>
          </a:p>
        </p:txBody>
      </p:sp>
      <p:sp>
        <p:nvSpPr>
          <p:cNvPr id="124" name="Shape 85"/>
          <p:cNvSpPr/>
          <p:nvPr/>
        </p:nvSpPr>
        <p:spPr>
          <a:xfrm>
            <a:off x="5577840" y="41669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5" name="Text 86"/>
          <p:cNvSpPr txBox="1"/>
          <p:nvPr/>
        </p:nvSpPr>
        <p:spPr>
          <a:xfrm>
            <a:off x="5705856" y="4114800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mismatch K / OPc</a:t>
            </a:r>
            <a:endParaRPr lang="en-US" sz="900" dirty="0"/>
          </a:p>
        </p:txBody>
      </p:sp>
      <p:sp>
        <p:nvSpPr>
          <p:cNvPr id="126" name="Shape 87"/>
          <p:cNvSpPr/>
          <p:nvPr/>
        </p:nvSpPr>
        <p:spPr>
          <a:xfrm>
            <a:off x="5577840" y="43315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7" name="Text 88"/>
          <p:cNvSpPr txBox="1"/>
          <p:nvPr/>
        </p:nvSpPr>
        <p:spPr>
          <a:xfrm>
            <a:off x="5705856" y="4279392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forbidden PLMN</a:t>
            </a:r>
            <a:endParaRPr lang="en-US" sz="900" dirty="0"/>
          </a:p>
        </p:txBody>
      </p:sp>
      <p:sp>
        <p:nvSpPr>
          <p:cNvPr id="128" name="Shape 89"/>
          <p:cNvSpPr/>
          <p:nvPr/>
        </p:nvSpPr>
        <p:spPr>
          <a:xfrm>
            <a:off x="5577840" y="44961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9" name="Text 90"/>
          <p:cNvSpPr txBox="1"/>
          <p:nvPr/>
        </p:nvSpPr>
        <p:spPr>
          <a:xfrm>
            <a:off x="5705856" y="4443984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roaming not allowed</a:t>
            </a:r>
            <a:endParaRPr lang="en-US" sz="900" dirty="0"/>
          </a:p>
        </p:txBody>
      </p:sp>
      <p:sp>
        <p:nvSpPr>
          <p:cNvPr id="130" name="Shape 91"/>
          <p:cNvSpPr/>
          <p:nvPr/>
        </p:nvSpPr>
        <p:spPr>
          <a:xfrm>
            <a:off x="6959956" y="383773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1" name="Text 92"/>
          <p:cNvSpPr txBox="1"/>
          <p:nvPr/>
        </p:nvSpPr>
        <p:spPr>
          <a:xfrm>
            <a:off x="7087972" y="3785616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unknown subscriber</a:t>
            </a:r>
            <a:endParaRPr lang="en-US" sz="900" dirty="0"/>
          </a:p>
        </p:txBody>
      </p:sp>
      <p:sp>
        <p:nvSpPr>
          <p:cNvPr id="132" name="Shape 93"/>
          <p:cNvSpPr/>
          <p:nvPr/>
        </p:nvSpPr>
        <p:spPr>
          <a:xfrm>
            <a:off x="6959956" y="400232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3" name="Text 94"/>
          <p:cNvSpPr txBox="1"/>
          <p:nvPr/>
        </p:nvSpPr>
        <p:spPr>
          <a:xfrm>
            <a:off x="7087972" y="3950208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DNN / APN not allowed</a:t>
            </a:r>
            <a:endParaRPr lang="en-US" sz="900" dirty="0"/>
          </a:p>
        </p:txBody>
      </p:sp>
      <p:sp>
        <p:nvSpPr>
          <p:cNvPr id="134" name="Shape 95"/>
          <p:cNvSpPr/>
          <p:nvPr/>
        </p:nvSpPr>
        <p:spPr>
          <a:xfrm>
            <a:off x="6959956" y="41669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5" name="Text 96"/>
          <p:cNvSpPr txBox="1"/>
          <p:nvPr/>
        </p:nvSpPr>
        <p:spPr>
          <a:xfrm>
            <a:off x="7087972" y="4114800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IMS profile missing</a:t>
            </a:r>
            <a:endParaRPr lang="en-US" sz="900" dirty="0"/>
          </a:p>
        </p:txBody>
      </p:sp>
      <p:sp>
        <p:nvSpPr>
          <p:cNvPr id="136" name="Shape 97"/>
          <p:cNvSpPr/>
          <p:nvPr/>
        </p:nvSpPr>
        <p:spPr>
          <a:xfrm>
            <a:off x="6959956" y="43315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7" name="Text 98"/>
          <p:cNvSpPr txBox="1"/>
          <p:nvPr/>
        </p:nvSpPr>
        <p:spPr>
          <a:xfrm>
            <a:off x="7087972" y="4279392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eSIM profile inactive</a:t>
            </a:r>
            <a:endParaRPr lang="en-US" sz="900" dirty="0"/>
          </a:p>
        </p:txBody>
      </p:sp>
      <p:sp>
        <p:nvSpPr>
          <p:cNvPr id="138" name="Shape 99"/>
          <p:cNvSpPr/>
          <p:nvPr/>
        </p:nvSpPr>
        <p:spPr>
          <a:xfrm>
            <a:off x="6959956" y="44961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9" name="Text 100"/>
          <p:cNvSpPr txBox="1"/>
          <p:nvPr/>
        </p:nvSpPr>
        <p:spPr>
          <a:xfrm>
            <a:off x="7087972" y="4443984"/>
            <a:ext cx="1244956" cy="294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wrong service permissions</a:t>
            </a:r>
            <a:endParaRPr lang="en-US" sz="900" dirty="0"/>
          </a:p>
        </p:txBody>
      </p:sp>
      <p:sp>
        <p:nvSpPr>
          <p:cNvPr id="140" name="Shape 101"/>
          <p:cNvSpPr/>
          <p:nvPr/>
        </p:nvSpPr>
        <p:spPr>
          <a:xfrm>
            <a:off x="274320" y="4992624"/>
            <a:ext cx="11643055" cy="1060704"/>
          </a:xfrm>
          <a:prstGeom prst="roundRect">
            <a:avLst>
              <a:gd name="adj" fmla="val 6897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41" name="Text 102"/>
          <p:cNvSpPr txBox="1"/>
          <p:nvPr/>
        </p:nvSpPr>
        <p:spPr>
          <a:xfrm>
            <a:off x="274320" y="5029200"/>
            <a:ext cx="116430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чаще маскируется под проблему сети</a:t>
            </a:r>
            <a:endParaRPr lang="en-US" sz="1250" dirty="0"/>
          </a:p>
        </p:txBody>
      </p:sp>
      <p:pic>
        <p:nvPicPr>
          <p:cNvPr id="142" name="Image 37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22960" y="5303520"/>
            <a:ext cx="182880" cy="182880"/>
          </a:xfrm>
          <a:prstGeom prst="rect">
            <a:avLst/>
          </a:prstGeom>
        </p:spPr>
      </p:pic>
      <p:sp>
        <p:nvSpPr>
          <p:cNvPr id="143" name="Text 103"/>
          <p:cNvSpPr txBox="1"/>
          <p:nvPr/>
        </p:nvSpPr>
        <p:spPr>
          <a:xfrm>
            <a:off x="1097280" y="530352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 не регистрируется</a:t>
            </a:r>
            <a:endParaRPr lang="en-US" sz="1000" dirty="0"/>
          </a:p>
        </p:txBody>
      </p:sp>
      <p:pic>
        <p:nvPicPr>
          <p:cNvPr id="144" name="Image 38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22960" y="5486400"/>
            <a:ext cx="182880" cy="182880"/>
          </a:xfrm>
          <a:prstGeom prst="rect">
            <a:avLst/>
          </a:prstGeom>
        </p:spPr>
      </p:pic>
      <p:sp>
        <p:nvSpPr>
          <p:cNvPr id="145" name="Text 104"/>
          <p:cNvSpPr txBox="1"/>
          <p:nvPr/>
        </p:nvSpPr>
        <p:spPr>
          <a:xfrm>
            <a:off x="1097280" y="548640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аутентификация не проходит</a:t>
            </a:r>
            <a:endParaRPr lang="en-US" sz="1000" dirty="0"/>
          </a:p>
        </p:txBody>
      </p:sp>
      <p:pic>
        <p:nvPicPr>
          <p:cNvPr id="146" name="Image 39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22960" y="5669280"/>
            <a:ext cx="182880" cy="182880"/>
          </a:xfrm>
          <a:prstGeom prst="rect">
            <a:avLst/>
          </a:prstGeom>
        </p:spPr>
      </p:pic>
      <p:sp>
        <p:nvSpPr>
          <p:cNvPr id="147" name="Text 105"/>
          <p:cNvSpPr txBox="1"/>
          <p:nvPr/>
        </p:nvSpPr>
        <p:spPr>
          <a:xfrm>
            <a:off x="1097280" y="566928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PDU Session отклоняется</a:t>
            </a:r>
            <a:endParaRPr lang="en-US" sz="1000" dirty="0"/>
          </a:p>
        </p:txBody>
      </p:sp>
      <p:pic>
        <p:nvPicPr>
          <p:cNvPr id="148" name="Image 40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22960" y="5852160"/>
            <a:ext cx="182880" cy="182880"/>
          </a:xfrm>
          <a:prstGeom prst="rect">
            <a:avLst/>
          </a:prstGeom>
        </p:spPr>
      </p:pic>
      <p:sp>
        <p:nvSpPr>
          <p:cNvPr id="149" name="Text 106"/>
          <p:cNvSpPr txBox="1"/>
          <p:nvPr/>
        </p:nvSpPr>
        <p:spPr>
          <a:xfrm>
            <a:off x="1097280" y="58521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роуминг не работает</a:t>
            </a:r>
            <a:endParaRPr lang="en-US" sz="1000" dirty="0"/>
          </a:p>
        </p:txBody>
      </p:sp>
      <p:sp>
        <p:nvSpPr>
          <p:cNvPr id="150" name="Shape 107"/>
          <p:cNvSpPr/>
          <p:nvPr/>
        </p:nvSpPr>
        <p:spPr>
          <a:xfrm>
            <a:off x="6095848" y="5340096"/>
            <a:ext cx="0" cy="621792"/>
          </a:xfrm>
          <a:prstGeom prst="line">
            <a:avLst/>
          </a:prstGeom>
          <a:noFill/>
          <a:ln w="9525">
            <a:solidFill>
              <a:srgbClr val="7F7BEC"/>
            </a:solidFill>
            <a:prstDash val="dash"/>
          </a:ln>
        </p:spPr>
      </p:sp>
      <p:pic>
        <p:nvPicPr>
          <p:cNvPr id="151" name="Image 41" descr="preencoded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370168" y="5303520"/>
            <a:ext cx="182880" cy="182880"/>
          </a:xfrm>
          <a:prstGeom prst="rect">
            <a:avLst/>
          </a:prstGeom>
        </p:spPr>
      </p:pic>
      <p:sp>
        <p:nvSpPr>
          <p:cNvPr id="152" name="Text 108"/>
          <p:cNvSpPr txBox="1"/>
          <p:nvPr/>
        </p:nvSpPr>
        <p:spPr>
          <a:xfrm>
            <a:off x="6644488" y="5303520"/>
            <a:ext cx="5090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IMS / VoLTE / VoNR не регистрируется</a:t>
            </a:r>
            <a:endParaRPr lang="en-US" sz="1000" dirty="0"/>
          </a:p>
        </p:txBody>
      </p:sp>
      <p:pic>
        <p:nvPicPr>
          <p:cNvPr id="153" name="Image 42" descr="preencoded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6370168" y="5486400"/>
            <a:ext cx="182880" cy="182880"/>
          </a:xfrm>
          <a:prstGeom prst="rect">
            <a:avLst/>
          </a:prstGeom>
        </p:spPr>
      </p:pic>
      <p:sp>
        <p:nvSpPr>
          <p:cNvPr id="154" name="Text 109"/>
          <p:cNvSpPr txBox="1"/>
          <p:nvPr/>
        </p:nvSpPr>
        <p:spPr>
          <a:xfrm>
            <a:off x="6644488" y="5486400"/>
            <a:ext cx="5090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DNN / APN недоступен</a:t>
            </a:r>
            <a:endParaRPr lang="en-US" sz="1000" dirty="0"/>
          </a:p>
        </p:txBody>
      </p:sp>
      <p:pic>
        <p:nvPicPr>
          <p:cNvPr id="155" name="Image 43" descr="preencoded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370168" y="5669280"/>
            <a:ext cx="182880" cy="182880"/>
          </a:xfrm>
          <a:prstGeom prst="rect">
            <a:avLst/>
          </a:prstGeom>
        </p:spPr>
      </p:pic>
      <p:sp>
        <p:nvSpPr>
          <p:cNvPr id="156" name="Text 110"/>
          <p:cNvSpPr txBox="1"/>
          <p:nvPr/>
        </p:nvSpPr>
        <p:spPr>
          <a:xfrm>
            <a:off x="6644488" y="5669280"/>
            <a:ext cx="5090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сервис запрещён профилем подписки</a:t>
            </a:r>
            <a:endParaRPr lang="en-US" sz="1000" dirty="0"/>
          </a:p>
        </p:txBody>
      </p:sp>
      <p:pic>
        <p:nvPicPr>
          <p:cNvPr id="157" name="Image 44" descr="preencoded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6370168" y="5852160"/>
            <a:ext cx="182880" cy="182880"/>
          </a:xfrm>
          <a:prstGeom prst="rect">
            <a:avLst/>
          </a:prstGeom>
        </p:spPr>
      </p:pic>
      <p:sp>
        <p:nvSpPr>
          <p:cNvPr id="158" name="Text 111"/>
          <p:cNvSpPr txBox="1"/>
          <p:nvPr/>
        </p:nvSpPr>
        <p:spPr>
          <a:xfrm>
            <a:off x="6644488" y="5852160"/>
            <a:ext cx="5090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ошибка выглядит как Core issue, но причина в SIM / USIM / eSIM profile</a:t>
            </a:r>
            <a:endParaRPr lang="en-US" sz="1000" dirty="0"/>
          </a:p>
        </p:txBody>
      </p:sp>
      <p:sp>
        <p:nvSpPr>
          <p:cNvPr id="159" name="Shape 112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160" name="Image 45" descr="preencoded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161" name="Text 113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Часть «сетевых» отказов начинается в SIM: карту и профиль проверяют отдельно, а затем — в сетевом сценарии с протокольной трассой.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RF-тестирование UE: передатчик, приёмник и радиочувствительность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1097280" cy="4572000"/>
          </a:xfrm>
          <a:prstGeom prst="roundRect">
            <a:avLst>
              <a:gd name="adj" fmla="val 8333"/>
            </a:avLst>
          </a:prstGeom>
          <a:solidFill>
            <a:srgbClr val="534EE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161288"/>
            <a:ext cx="585216" cy="5852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18470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2212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тестируемое устройство (DUT)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393192" y="3124505"/>
            <a:ext cx="59436" cy="594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21208" y="2990088"/>
            <a:ext cx="804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TX-тракт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93192" y="3453689"/>
            <a:ext cx="59436" cy="594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21208" y="3319272"/>
            <a:ext cx="804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RX-тракт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93192" y="3782873"/>
            <a:ext cx="59436" cy="594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21208" y="3648456"/>
            <a:ext cx="804672" cy="480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РЧ фронт-энд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93192" y="4263756"/>
            <a:ext cx="59436" cy="594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1208" y="4129339"/>
            <a:ext cx="804672" cy="480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антенная система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389888" y="2944368"/>
            <a:ext cx="128016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536192" y="658368"/>
            <a:ext cx="2513000" cy="4572000"/>
          </a:xfrm>
          <a:prstGeom prst="roundRect">
            <a:avLst>
              <a:gd name="adj" fmla="val 2911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645920" y="749808"/>
            <a:ext cx="329184" cy="329184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645920" y="749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057400" y="713232"/>
            <a:ext cx="1900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Проводной RF-базис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645920" y="1161288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устройств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1655064" y="14191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783080" y="1362456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колбокс / тестовая RF-платформа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1655064" y="15928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783080" y="1536192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векторный генератор и анализатор сигналов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1655064" y="190387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83080" y="1847179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аттенюаторы, ответвители, RF-коммутатор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1655064" y="221486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783080" y="2158167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калиброванный кабельный тракт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1645920" y="2377623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Зачем нужен контур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1655064" y="263548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1783080" y="2578791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изолировать собственный TX/RX-тракт UE без влияния антенны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1655064" y="294647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783080" y="2889778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получить эталонную проводную картину перед усложнением канала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1645920" y="3246486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1655064" y="350434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1783080" y="3447654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мощность TX, EVM, ACLR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1655064" y="367808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783080" y="3621390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спектральная маска, частотная ошибка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1655064" y="398907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783080" y="3932377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проводная чувствительность RX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1655064" y="416280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783080" y="4106113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BLER в идеальном канале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1655064" y="433654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1783080" y="4279849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блокирование / избирательность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1609344" y="4553712"/>
            <a:ext cx="2366696" cy="603504"/>
          </a:xfrm>
          <a:prstGeom prst="roundRect">
            <a:avLst>
              <a:gd name="adj" fmla="val 9091"/>
            </a:avLst>
          </a:prstGeom>
          <a:solidFill>
            <a:srgbClr val="EEEDFD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1682496" y="4562856"/>
            <a:ext cx="223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Ошибка уже в проводной постановке → TX/RX-тракт, РЧ фронт-энд, базовая обработка, калибровка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4058336" y="914400"/>
            <a:ext cx="9144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48" name="Shape 45"/>
          <p:cNvSpPr/>
          <p:nvPr/>
        </p:nvSpPr>
        <p:spPr>
          <a:xfrm>
            <a:off x="4158920" y="658368"/>
            <a:ext cx="2513000" cy="4572000"/>
          </a:xfrm>
          <a:prstGeom prst="roundRect">
            <a:avLst>
              <a:gd name="adj" fmla="val 2911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268648" y="749808"/>
            <a:ext cx="329184" cy="329184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4268648" y="749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2</a:t>
            </a:r>
            <a:endParaRPr lang="en-US" sz="1300" dirty="0"/>
          </a:p>
        </p:txBody>
      </p:sp>
      <p:sp>
        <p:nvSpPr>
          <p:cNvPr id="51" name="Text 48"/>
          <p:cNvSpPr txBox="1"/>
          <p:nvPr/>
        </p:nvSpPr>
        <p:spPr>
          <a:xfrm>
            <a:off x="4680128" y="713232"/>
            <a:ext cx="1900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радиоканала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4268648" y="1161288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устройств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4277792" y="14191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405808" y="1362456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канала, MIMO-эмулятор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4277792" y="15928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4405808" y="1536192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источник шума / помех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4277792" y="17666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4405808" y="1709928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колбокс / тестовая RF-платформа</a:t>
            </a:r>
            <a:endParaRPr lang="en-US" sz="950" dirty="0"/>
          </a:p>
        </p:txBody>
      </p:sp>
      <p:sp>
        <p:nvSpPr>
          <p:cNvPr id="59" name="Text 56"/>
          <p:cNvSpPr txBox="1"/>
          <p:nvPr/>
        </p:nvSpPr>
        <p:spPr>
          <a:xfrm>
            <a:off x="4268648" y="1929384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Зачем нужен контур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4277792" y="218724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4405808" y="2130552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проверить UE в воспроизводимом канале, а не в идеальном кабеле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4277792" y="24982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4405808" y="2441539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моделировать замирания, Doppler, многолучевость</a:t>
            </a:r>
            <a:endParaRPr lang="en-US" sz="950" dirty="0"/>
          </a:p>
        </p:txBody>
      </p:sp>
      <p:sp>
        <p:nvSpPr>
          <p:cNvPr id="64" name="Text 61"/>
          <p:cNvSpPr txBox="1"/>
          <p:nvPr/>
        </p:nvSpPr>
        <p:spPr>
          <a:xfrm>
            <a:off x="4268648" y="2798247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4277792" y="305610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4405808" y="2999415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чувствительность RX при замираниях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4277792" y="336709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4405808" y="3310402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BLER в моделях канала TDL / CDL</a:t>
            </a:r>
            <a:endParaRPr lang="en-US" sz="950" dirty="0"/>
          </a:p>
        </p:txBody>
      </p:sp>
      <p:sp>
        <p:nvSpPr>
          <p:cNvPr id="69" name="Shape 66"/>
          <p:cNvSpPr/>
          <p:nvPr/>
        </p:nvSpPr>
        <p:spPr>
          <a:xfrm>
            <a:off x="4277792" y="354083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4405808" y="3484138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робастность MIMO, влияние Doppler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4277792" y="371456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4405808" y="3657874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устойчивость к многолучевости и помехам</a:t>
            </a:r>
            <a:endParaRPr lang="en-US" sz="950" dirty="0"/>
          </a:p>
        </p:txBody>
      </p:sp>
      <p:sp>
        <p:nvSpPr>
          <p:cNvPr id="73" name="Shape 70"/>
          <p:cNvSpPr/>
          <p:nvPr/>
        </p:nvSpPr>
        <p:spPr>
          <a:xfrm>
            <a:off x="4277792" y="402555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4405808" y="3968862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стабильность у порога чувствительности</a:t>
            </a:r>
            <a:endParaRPr lang="en-US" sz="950" dirty="0"/>
          </a:p>
        </p:txBody>
      </p:sp>
      <p:sp>
        <p:nvSpPr>
          <p:cNvPr id="75" name="Shape 72"/>
          <p:cNvSpPr/>
          <p:nvPr/>
        </p:nvSpPr>
        <p:spPr>
          <a:xfrm>
            <a:off x="4232072" y="4553712"/>
            <a:ext cx="2366696" cy="603504"/>
          </a:xfrm>
          <a:prstGeom prst="roundRect">
            <a:avLst>
              <a:gd name="adj" fmla="val 9091"/>
            </a:avLst>
          </a:prstGeom>
          <a:solidFill>
            <a:srgbClr val="EEEDFD"/>
          </a:solidFill>
          <a:ln/>
        </p:spPr>
      </p:sp>
      <p:sp>
        <p:nvSpPr>
          <p:cNvPr id="76" name="Text 73"/>
          <p:cNvSpPr txBox="1"/>
          <p:nvPr/>
        </p:nvSpPr>
        <p:spPr>
          <a:xfrm>
            <a:off x="4305224" y="4562856"/>
            <a:ext cx="223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Ошибка только с эмулятором канала → эквализация, оценка канала, MIMO, робастность к Doppler / замираниям</a:t>
            </a:r>
            <a:endParaRPr lang="en-US" sz="900" dirty="0"/>
          </a:p>
        </p:txBody>
      </p:sp>
      <p:sp>
        <p:nvSpPr>
          <p:cNvPr id="77" name="Shape 74"/>
          <p:cNvSpPr/>
          <p:nvPr/>
        </p:nvSpPr>
        <p:spPr>
          <a:xfrm>
            <a:off x="6681064" y="914400"/>
            <a:ext cx="9144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8" name="Shape 75"/>
          <p:cNvSpPr/>
          <p:nvPr/>
        </p:nvSpPr>
        <p:spPr>
          <a:xfrm>
            <a:off x="6781648" y="658368"/>
            <a:ext cx="2513000" cy="4572000"/>
          </a:xfrm>
          <a:prstGeom prst="roundRect">
            <a:avLst>
              <a:gd name="adj" fmla="val 2911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6891376" y="749808"/>
            <a:ext cx="329184" cy="329184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6891376" y="749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7302856" y="713232"/>
            <a:ext cx="1900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Проверка антенны и OTA</a:t>
            </a:r>
            <a:endParaRPr lang="en-US" sz="1100" dirty="0"/>
          </a:p>
        </p:txBody>
      </p:sp>
      <p:sp>
        <p:nvSpPr>
          <p:cNvPr id="82" name="Text 79"/>
          <p:cNvSpPr txBox="1"/>
          <p:nvPr/>
        </p:nvSpPr>
        <p:spPr>
          <a:xfrm>
            <a:off x="6891376" y="1161288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устройств</a:t>
            </a:r>
            <a:endParaRPr lang="en-US" sz="1000" dirty="0"/>
          </a:p>
        </p:txBody>
      </p:sp>
      <p:sp>
        <p:nvSpPr>
          <p:cNvPr id="83" name="Shape 80"/>
          <p:cNvSpPr/>
          <p:nvPr/>
        </p:nvSpPr>
        <p:spPr>
          <a:xfrm>
            <a:off x="6900520" y="14191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4" name="Text 81"/>
          <p:cNvSpPr txBox="1"/>
          <p:nvPr/>
        </p:nvSpPr>
        <p:spPr>
          <a:xfrm>
            <a:off x="7028536" y="1362456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экранированный бокс / RF-камера</a:t>
            </a:r>
            <a:endParaRPr lang="en-US" sz="950" dirty="0"/>
          </a:p>
        </p:txBody>
      </p:sp>
      <p:sp>
        <p:nvSpPr>
          <p:cNvPr id="85" name="Shape 82"/>
          <p:cNvSpPr/>
          <p:nvPr/>
        </p:nvSpPr>
        <p:spPr>
          <a:xfrm>
            <a:off x="6900520" y="15928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6" name="Text 83"/>
          <p:cNvSpPr txBox="1"/>
          <p:nvPr/>
        </p:nvSpPr>
        <p:spPr>
          <a:xfrm>
            <a:off x="7028536" y="1536192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безэховая OTA-камера, CATR-камера</a:t>
            </a:r>
            <a:endParaRPr lang="en-US" sz="950" dirty="0"/>
          </a:p>
        </p:txBody>
      </p:sp>
      <p:sp>
        <p:nvSpPr>
          <p:cNvPr id="87" name="Shape 84"/>
          <p:cNvSpPr/>
          <p:nvPr/>
        </p:nvSpPr>
        <p:spPr>
          <a:xfrm>
            <a:off x="6900520" y="17666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7028536" y="1709928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тестовые антенны, позиционер</a:t>
            </a:r>
            <a:endParaRPr lang="en-US" sz="950" dirty="0"/>
          </a:p>
        </p:txBody>
      </p:sp>
      <p:sp>
        <p:nvSpPr>
          <p:cNvPr id="89" name="Shape 86"/>
          <p:cNvSpPr/>
          <p:nvPr/>
        </p:nvSpPr>
        <p:spPr>
          <a:xfrm>
            <a:off x="6900520" y="194035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0" name="Text 87"/>
          <p:cNvSpPr txBox="1"/>
          <p:nvPr/>
        </p:nvSpPr>
        <p:spPr>
          <a:xfrm>
            <a:off x="7028536" y="1883664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преобразователи FR2</a:t>
            </a:r>
            <a:endParaRPr lang="en-US" sz="950" dirty="0"/>
          </a:p>
        </p:txBody>
      </p:sp>
      <p:sp>
        <p:nvSpPr>
          <p:cNvPr id="91" name="Text 88"/>
          <p:cNvSpPr txBox="1"/>
          <p:nvPr/>
        </p:nvSpPr>
        <p:spPr>
          <a:xfrm>
            <a:off x="6891376" y="2103120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Зачем нужен контур</a:t>
            </a:r>
            <a:endParaRPr lang="en-US" sz="1000" dirty="0"/>
          </a:p>
        </p:txBody>
      </p:sp>
      <p:sp>
        <p:nvSpPr>
          <p:cNvPr id="92" name="Shape 89"/>
          <p:cNvSpPr/>
          <p:nvPr/>
        </p:nvSpPr>
        <p:spPr>
          <a:xfrm>
            <a:off x="6900520" y="236098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7028536" y="2304288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оценить UE с реальной антенной, корпусом и ориентацией</a:t>
            </a:r>
            <a:endParaRPr lang="en-US" sz="950" dirty="0"/>
          </a:p>
        </p:txBody>
      </p:sp>
      <p:sp>
        <p:nvSpPr>
          <p:cNvPr id="94" name="Shape 91"/>
          <p:cNvSpPr/>
          <p:nvPr/>
        </p:nvSpPr>
        <p:spPr>
          <a:xfrm>
            <a:off x="6900520" y="267196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7028536" y="2615275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для FR2 / mmWave — излучение и поведение луча</a:t>
            </a:r>
            <a:endParaRPr lang="en-US" sz="950" dirty="0"/>
          </a:p>
        </p:txBody>
      </p:sp>
      <p:sp>
        <p:nvSpPr>
          <p:cNvPr id="96" name="Text 93"/>
          <p:cNvSpPr txBox="1"/>
          <p:nvPr/>
        </p:nvSpPr>
        <p:spPr>
          <a:xfrm>
            <a:off x="6891376" y="2971983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97" name="Shape 94"/>
          <p:cNvSpPr/>
          <p:nvPr/>
        </p:nvSpPr>
        <p:spPr>
          <a:xfrm>
            <a:off x="6900520" y="322984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8" name="Text 95"/>
          <p:cNvSpPr txBox="1"/>
          <p:nvPr/>
        </p:nvSpPr>
        <p:spPr>
          <a:xfrm>
            <a:off x="7028536" y="3173151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TRP, TIS</a:t>
            </a:r>
            <a:endParaRPr lang="en-US" sz="950" dirty="0"/>
          </a:p>
        </p:txBody>
      </p:sp>
      <p:sp>
        <p:nvSpPr>
          <p:cNvPr id="99" name="Shape 96"/>
          <p:cNvSpPr/>
          <p:nvPr/>
        </p:nvSpPr>
        <p:spPr>
          <a:xfrm>
            <a:off x="6900520" y="34035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028536" y="3346887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излучаемая чувствительность RX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6900520" y="357731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2" name="Text 99"/>
          <p:cNvSpPr txBox="1"/>
          <p:nvPr/>
        </p:nvSpPr>
        <p:spPr>
          <a:xfrm>
            <a:off x="7028536" y="3520623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антенная эффективность</a:t>
            </a:r>
            <a:endParaRPr lang="en-US" sz="950" dirty="0"/>
          </a:p>
        </p:txBody>
      </p:sp>
      <p:sp>
        <p:nvSpPr>
          <p:cNvPr id="103" name="Shape 100"/>
          <p:cNvSpPr/>
          <p:nvPr/>
        </p:nvSpPr>
        <p:spPr>
          <a:xfrm>
            <a:off x="6900520" y="375105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028536" y="3694359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зависимость от ориентации</a:t>
            </a:r>
            <a:endParaRPr lang="en-US" sz="950" dirty="0"/>
          </a:p>
        </p:txBody>
      </p:sp>
      <p:sp>
        <p:nvSpPr>
          <p:cNvPr id="105" name="Shape 102"/>
          <p:cNvSpPr/>
          <p:nvPr/>
        </p:nvSpPr>
        <p:spPr>
          <a:xfrm>
            <a:off x="6900520" y="392478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6" name="Text 103"/>
          <p:cNvSpPr txBox="1"/>
          <p:nvPr/>
        </p:nvSpPr>
        <p:spPr>
          <a:xfrm>
            <a:off x="7028536" y="3868095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поведение луча в FR2 / mmWave</a:t>
            </a:r>
            <a:endParaRPr lang="en-US" sz="950" dirty="0"/>
          </a:p>
        </p:txBody>
      </p:sp>
      <p:sp>
        <p:nvSpPr>
          <p:cNvPr id="107" name="Shape 104"/>
          <p:cNvSpPr/>
          <p:nvPr/>
        </p:nvSpPr>
        <p:spPr>
          <a:xfrm>
            <a:off x="6900520" y="409852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028536" y="4041831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desense от соседних узлов устройства</a:t>
            </a:r>
            <a:endParaRPr lang="en-US" sz="950" dirty="0"/>
          </a:p>
        </p:txBody>
      </p:sp>
      <p:sp>
        <p:nvSpPr>
          <p:cNvPr id="109" name="Shape 106"/>
          <p:cNvSpPr/>
          <p:nvPr/>
        </p:nvSpPr>
        <p:spPr>
          <a:xfrm>
            <a:off x="6854800" y="4553712"/>
            <a:ext cx="2366696" cy="603504"/>
          </a:xfrm>
          <a:prstGeom prst="roundRect">
            <a:avLst>
              <a:gd name="adj" fmla="val 9091"/>
            </a:avLst>
          </a:prstGeom>
          <a:solidFill>
            <a:srgbClr val="EEEDF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927952" y="4562856"/>
            <a:ext cx="223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Ошибка только в OTA → антенна, ориентация, поведение луча, влияние корпуса, desense</a:t>
            </a:r>
            <a:endParaRPr lang="en-US" sz="900" dirty="0"/>
          </a:p>
        </p:txBody>
      </p:sp>
      <p:sp>
        <p:nvSpPr>
          <p:cNvPr id="111" name="Shape 108"/>
          <p:cNvSpPr/>
          <p:nvPr/>
        </p:nvSpPr>
        <p:spPr>
          <a:xfrm>
            <a:off x="9303791" y="914400"/>
            <a:ext cx="9144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2" name="Shape 109"/>
          <p:cNvSpPr/>
          <p:nvPr/>
        </p:nvSpPr>
        <p:spPr>
          <a:xfrm>
            <a:off x="9404375" y="658368"/>
            <a:ext cx="2513000" cy="4572000"/>
          </a:xfrm>
          <a:prstGeom prst="roundRect">
            <a:avLst>
              <a:gd name="adj" fmla="val 2911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9514103" y="749808"/>
            <a:ext cx="329184" cy="329184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4" name="Text 111"/>
          <p:cNvSpPr txBox="1"/>
          <p:nvPr/>
        </p:nvSpPr>
        <p:spPr>
          <a:xfrm>
            <a:off x="9514103" y="749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4</a:t>
            </a:r>
            <a:endParaRPr lang="en-US" sz="1300" dirty="0"/>
          </a:p>
        </p:txBody>
      </p:sp>
      <p:sp>
        <p:nvSpPr>
          <p:cNvPr id="115" name="Text 112"/>
          <p:cNvSpPr txBox="1"/>
          <p:nvPr/>
        </p:nvSpPr>
        <p:spPr>
          <a:xfrm>
            <a:off x="9925583" y="713232"/>
            <a:ext cx="1900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WaveJudge: первопричина на уровне PHY</a:t>
            </a:r>
            <a:endParaRPr lang="en-US" sz="1100" dirty="0"/>
          </a:p>
        </p:txBody>
      </p:sp>
      <p:sp>
        <p:nvSpPr>
          <p:cNvPr id="116" name="Text 113"/>
          <p:cNvSpPr txBox="1"/>
          <p:nvPr/>
        </p:nvSpPr>
        <p:spPr>
          <a:xfrm>
            <a:off x="9514103" y="1161288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инструментов</a:t>
            </a:r>
            <a:endParaRPr lang="en-US" sz="1000" dirty="0"/>
          </a:p>
        </p:txBody>
      </p:sp>
      <p:sp>
        <p:nvSpPr>
          <p:cNvPr id="117" name="Shape 114"/>
          <p:cNvSpPr/>
          <p:nvPr/>
        </p:nvSpPr>
        <p:spPr>
          <a:xfrm>
            <a:off x="9523247" y="14191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9651263" y="1362456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 IQ-захвата</a:t>
            </a:r>
            <a:endParaRPr lang="en-US" sz="950" dirty="0"/>
          </a:p>
        </p:txBody>
      </p:sp>
      <p:sp>
        <p:nvSpPr>
          <p:cNvPr id="119" name="Shape 116"/>
          <p:cNvSpPr/>
          <p:nvPr/>
        </p:nvSpPr>
        <p:spPr>
          <a:xfrm>
            <a:off x="9523247" y="15928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0" name="Text 117"/>
          <p:cNvSpPr txBox="1"/>
          <p:nvPr/>
        </p:nvSpPr>
        <p:spPr>
          <a:xfrm>
            <a:off x="9651263" y="1536192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анализатор PHY</a:t>
            </a:r>
            <a:endParaRPr lang="en-US" sz="950" dirty="0"/>
          </a:p>
        </p:txBody>
      </p:sp>
      <p:sp>
        <p:nvSpPr>
          <p:cNvPr id="121" name="Shape 118"/>
          <p:cNvSpPr/>
          <p:nvPr/>
        </p:nvSpPr>
        <p:spPr>
          <a:xfrm>
            <a:off x="9523247" y="17666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9651263" y="1709928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корреляция протокола и PHY</a:t>
            </a:r>
            <a:endParaRPr lang="en-US" sz="950" dirty="0"/>
          </a:p>
        </p:txBody>
      </p:sp>
      <p:sp>
        <p:nvSpPr>
          <p:cNvPr id="123" name="Shape 120"/>
          <p:cNvSpPr/>
          <p:nvPr/>
        </p:nvSpPr>
        <p:spPr>
          <a:xfrm>
            <a:off x="9523247" y="194035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4" name="Text 121"/>
          <p:cNvSpPr txBox="1"/>
          <p:nvPr/>
        </p:nvSpPr>
        <p:spPr>
          <a:xfrm>
            <a:off x="9651263" y="1883664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 для постобработки</a:t>
            </a:r>
            <a:endParaRPr lang="en-US" sz="950" dirty="0"/>
          </a:p>
        </p:txBody>
      </p:sp>
      <p:sp>
        <p:nvSpPr>
          <p:cNvPr id="125" name="Text 122"/>
          <p:cNvSpPr txBox="1"/>
          <p:nvPr/>
        </p:nvSpPr>
        <p:spPr>
          <a:xfrm>
            <a:off x="9514103" y="2103120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Зачем нужен контур</a:t>
            </a:r>
            <a:endParaRPr lang="en-US" sz="1000" dirty="0"/>
          </a:p>
        </p:txBody>
      </p:sp>
      <p:sp>
        <p:nvSpPr>
          <p:cNvPr id="126" name="Shape 123"/>
          <p:cNvSpPr/>
          <p:nvPr/>
        </p:nvSpPr>
        <p:spPr>
          <a:xfrm>
            <a:off x="9523247" y="236098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7" name="Text 124"/>
          <p:cNvSpPr txBox="1"/>
          <p:nvPr/>
        </p:nvSpPr>
        <p:spPr>
          <a:xfrm>
            <a:off x="9651263" y="2304288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 заменяет приборы — работает после захвата данных</a:t>
            </a:r>
            <a:endParaRPr lang="en-US" sz="950" dirty="0"/>
          </a:p>
        </p:txBody>
      </p:sp>
      <p:sp>
        <p:nvSpPr>
          <p:cNvPr id="128" name="Shape 125"/>
          <p:cNvSpPr/>
          <p:nvPr/>
        </p:nvSpPr>
        <p:spPr>
          <a:xfrm>
            <a:off x="9523247" y="267196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9" name="Text 126"/>
          <p:cNvSpPr txBox="1"/>
          <p:nvPr/>
        </p:nvSpPr>
        <p:spPr>
          <a:xfrm>
            <a:off x="9651263" y="2615275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связывает PHY-событие с поведением протокола</a:t>
            </a:r>
            <a:endParaRPr lang="en-US" sz="950" dirty="0"/>
          </a:p>
        </p:txBody>
      </p:sp>
      <p:sp>
        <p:nvSpPr>
          <p:cNvPr id="130" name="Text 127"/>
          <p:cNvSpPr txBox="1"/>
          <p:nvPr/>
        </p:nvSpPr>
        <p:spPr>
          <a:xfrm>
            <a:off x="9514103" y="2971983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анализируется</a:t>
            </a:r>
            <a:endParaRPr lang="en-US" sz="1000" dirty="0"/>
          </a:p>
        </p:txBody>
      </p:sp>
      <p:sp>
        <p:nvSpPr>
          <p:cNvPr id="131" name="Shape 128"/>
          <p:cNvSpPr/>
          <p:nvPr/>
        </p:nvSpPr>
        <p:spPr>
          <a:xfrm>
            <a:off x="9523247" y="322984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2" name="Text 129"/>
          <p:cNvSpPr txBox="1"/>
          <p:nvPr/>
        </p:nvSpPr>
        <p:spPr>
          <a:xfrm>
            <a:off x="9651263" y="3173151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IQ-захват, OFDM-символы</a:t>
            </a:r>
            <a:endParaRPr lang="en-US" sz="950" dirty="0"/>
          </a:p>
        </p:txBody>
      </p:sp>
      <p:sp>
        <p:nvSpPr>
          <p:cNvPr id="133" name="Shape 130"/>
          <p:cNvSpPr/>
          <p:nvPr/>
        </p:nvSpPr>
        <p:spPr>
          <a:xfrm>
            <a:off x="9523247" y="34035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4" name="Text 131"/>
          <p:cNvSpPr txBox="1"/>
          <p:nvPr/>
        </p:nvSpPr>
        <p:spPr>
          <a:xfrm>
            <a:off x="9651263" y="3346887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ресурсная решётка, разложение EVM</a:t>
            </a:r>
            <a:endParaRPr lang="en-US" sz="950" dirty="0"/>
          </a:p>
        </p:txBody>
      </p:sp>
      <p:sp>
        <p:nvSpPr>
          <p:cNvPr id="135" name="Shape 132"/>
          <p:cNvSpPr/>
          <p:nvPr/>
        </p:nvSpPr>
        <p:spPr>
          <a:xfrm>
            <a:off x="9523247" y="357731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6" name="Text 133"/>
          <p:cNvSpPr txBox="1"/>
          <p:nvPr/>
        </p:nvSpPr>
        <p:spPr>
          <a:xfrm>
            <a:off x="9651263" y="3520623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временные события PHY</a:t>
            </a:r>
            <a:endParaRPr lang="en-US" sz="950" dirty="0"/>
          </a:p>
        </p:txBody>
      </p:sp>
      <p:sp>
        <p:nvSpPr>
          <p:cNvPr id="137" name="Shape 134"/>
          <p:cNvSpPr/>
          <p:nvPr/>
        </p:nvSpPr>
        <p:spPr>
          <a:xfrm>
            <a:off x="9523247" y="375105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8" name="Text 135"/>
          <p:cNvSpPr txBox="1"/>
          <p:nvPr/>
        </p:nvSpPr>
        <p:spPr>
          <a:xfrm>
            <a:off x="9651263" y="3694359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протокол рядом с PHY-событиями</a:t>
            </a:r>
            <a:endParaRPr lang="en-US" sz="950" dirty="0"/>
          </a:p>
        </p:txBody>
      </p:sp>
      <p:sp>
        <p:nvSpPr>
          <p:cNvPr id="139" name="Shape 136"/>
          <p:cNvSpPr/>
          <p:nvPr/>
        </p:nvSpPr>
        <p:spPr>
          <a:xfrm>
            <a:off x="9523247" y="392478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0" name="Text 137"/>
          <p:cNvSpPr txBox="1"/>
          <p:nvPr/>
        </p:nvSpPr>
        <p:spPr>
          <a:xfrm>
            <a:off x="9651263" y="3868095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первопричина BLER / ошибок декодирования</a:t>
            </a:r>
            <a:endParaRPr lang="en-US" sz="950" dirty="0"/>
          </a:p>
        </p:txBody>
      </p:sp>
      <p:sp>
        <p:nvSpPr>
          <p:cNvPr id="141" name="Shape 138"/>
          <p:cNvSpPr/>
          <p:nvPr/>
        </p:nvSpPr>
        <p:spPr>
          <a:xfrm>
            <a:off x="9477527" y="4553712"/>
            <a:ext cx="2366696" cy="603504"/>
          </a:xfrm>
          <a:prstGeom prst="roundRect">
            <a:avLst>
              <a:gd name="adj" fmla="val 9091"/>
            </a:avLst>
          </a:prstGeom>
          <a:solidFill>
            <a:srgbClr val="EEEDFD"/>
          </a:solidFill>
          <a:ln/>
        </p:spPr>
      </p:sp>
      <p:sp>
        <p:nvSpPr>
          <p:cNvPr id="142" name="Text 139"/>
          <p:cNvSpPr txBox="1"/>
          <p:nvPr/>
        </p:nvSpPr>
        <p:spPr>
          <a:xfrm>
            <a:off x="9550679" y="4562856"/>
            <a:ext cx="223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Причина неясна → WaveJudge покажет, где деградация: синхронизация, демодуляция, канал, тайминг, RF или UE</a:t>
            </a:r>
            <a:endParaRPr lang="en-US" sz="900" dirty="0"/>
          </a:p>
        </p:txBody>
      </p:sp>
      <p:sp>
        <p:nvSpPr>
          <p:cNvPr id="143" name="Shape 140"/>
          <p:cNvSpPr/>
          <p:nvPr/>
        </p:nvSpPr>
        <p:spPr>
          <a:xfrm>
            <a:off x="274320" y="5340096"/>
            <a:ext cx="11643055" cy="731520"/>
          </a:xfrm>
          <a:prstGeom prst="roundRect">
            <a:avLst>
              <a:gd name="adj" fmla="val 10000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4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513832"/>
            <a:ext cx="384048" cy="384048"/>
          </a:xfrm>
          <a:prstGeom prst="rect">
            <a:avLst/>
          </a:prstGeom>
        </p:spPr>
      </p:pic>
      <p:sp>
        <p:nvSpPr>
          <p:cNvPr id="145" name="Text 141"/>
          <p:cNvSpPr txBox="1"/>
          <p:nvPr/>
        </p:nvSpPr>
        <p:spPr>
          <a:xfrm>
            <a:off x="960120" y="5385816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Критерий полноценного RF-теста</a:t>
            </a:r>
            <a:endParaRPr lang="en-US" sz="1250" dirty="0"/>
          </a:p>
        </p:txBody>
      </p:sp>
      <p:pic>
        <p:nvPicPr>
          <p:cNvPr id="14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5468112"/>
            <a:ext cx="164592" cy="164592"/>
          </a:xfrm>
          <a:prstGeom prst="rect">
            <a:avLst/>
          </a:prstGeom>
        </p:spPr>
      </p:pic>
      <p:sp>
        <p:nvSpPr>
          <p:cNvPr id="147" name="Text 142"/>
          <p:cNvSpPr txBox="1"/>
          <p:nvPr/>
        </p:nvSpPr>
        <p:spPr>
          <a:xfrm>
            <a:off x="2926080" y="5394960"/>
            <a:ext cx="1927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измерен TX-тракт</a:t>
            </a:r>
            <a:endParaRPr lang="en-US" sz="1000" dirty="0"/>
          </a:p>
        </p:txBody>
      </p:sp>
      <p:pic>
        <p:nvPicPr>
          <p:cNvPr id="14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5304" y="5468112"/>
            <a:ext cx="164592" cy="164592"/>
          </a:xfrm>
          <a:prstGeom prst="rect">
            <a:avLst/>
          </a:prstGeom>
        </p:spPr>
      </p:pic>
      <p:sp>
        <p:nvSpPr>
          <p:cNvPr id="149" name="Text 143"/>
          <p:cNvSpPr txBox="1"/>
          <p:nvPr/>
        </p:nvSpPr>
        <p:spPr>
          <a:xfrm>
            <a:off x="5219624" y="5394960"/>
            <a:ext cx="1927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измерен RX-тракт</a:t>
            </a:r>
            <a:endParaRPr lang="en-US" sz="1000" dirty="0"/>
          </a:p>
        </p:txBody>
      </p:sp>
      <p:pic>
        <p:nvPicPr>
          <p:cNvPr id="15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848" y="5468112"/>
            <a:ext cx="164592" cy="164592"/>
          </a:xfrm>
          <a:prstGeom prst="rect">
            <a:avLst/>
          </a:prstGeom>
        </p:spPr>
      </p:pic>
      <p:sp>
        <p:nvSpPr>
          <p:cNvPr id="151" name="Text 144"/>
          <p:cNvSpPr txBox="1"/>
          <p:nvPr/>
        </p:nvSpPr>
        <p:spPr>
          <a:xfrm>
            <a:off x="7513168" y="5394960"/>
            <a:ext cx="1927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проверена чувствительность</a:t>
            </a:r>
            <a:endParaRPr lang="en-US" sz="1000" dirty="0"/>
          </a:p>
        </p:txBody>
      </p:sp>
      <p:pic>
        <p:nvPicPr>
          <p:cNvPr id="15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2391" y="5468112"/>
            <a:ext cx="164592" cy="164592"/>
          </a:xfrm>
          <a:prstGeom prst="rect">
            <a:avLst/>
          </a:prstGeom>
        </p:spPr>
      </p:pic>
      <p:sp>
        <p:nvSpPr>
          <p:cNvPr id="153" name="Text 145"/>
          <p:cNvSpPr txBox="1"/>
          <p:nvPr/>
        </p:nvSpPr>
        <p:spPr>
          <a:xfrm>
            <a:off x="9806711" y="5394960"/>
            <a:ext cx="1927784" cy="455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проверена устойчивость в реалистичном канале</a:t>
            </a:r>
            <a:endParaRPr lang="en-US" sz="1000" dirty="0"/>
          </a:p>
        </p:txBody>
      </p:sp>
      <p:pic>
        <p:nvPicPr>
          <p:cNvPr id="15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0" y="5779008"/>
            <a:ext cx="164592" cy="164592"/>
          </a:xfrm>
          <a:prstGeom prst="rect">
            <a:avLst/>
          </a:prstGeom>
        </p:spPr>
      </p:pic>
      <p:sp>
        <p:nvSpPr>
          <p:cNvPr id="155" name="Text 146"/>
          <p:cNvSpPr txBox="1"/>
          <p:nvPr/>
        </p:nvSpPr>
        <p:spPr>
          <a:xfrm>
            <a:off x="2926080" y="5705856"/>
            <a:ext cx="1927784" cy="455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проверена антенная / OTA-часть</a:t>
            </a:r>
            <a:endParaRPr lang="en-US" sz="1000" dirty="0"/>
          </a:p>
        </p:txBody>
      </p:sp>
      <p:pic>
        <p:nvPicPr>
          <p:cNvPr id="1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45304" y="5779008"/>
            <a:ext cx="164592" cy="164592"/>
          </a:xfrm>
          <a:prstGeom prst="rect">
            <a:avLst/>
          </a:prstGeom>
        </p:spPr>
      </p:pic>
      <p:sp>
        <p:nvSpPr>
          <p:cNvPr id="157" name="Text 147"/>
          <p:cNvSpPr txBox="1"/>
          <p:nvPr/>
        </p:nvSpPr>
        <p:spPr>
          <a:xfrm>
            <a:off x="5219624" y="5705856"/>
            <a:ext cx="1927784" cy="455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собраны данные IQ и трассировки</a:t>
            </a:r>
            <a:endParaRPr lang="en-US" sz="1000" dirty="0"/>
          </a:p>
        </p:txBody>
      </p:sp>
      <p:pic>
        <p:nvPicPr>
          <p:cNvPr id="15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8848" y="5779008"/>
            <a:ext cx="164592" cy="164592"/>
          </a:xfrm>
          <a:prstGeom prst="rect">
            <a:avLst/>
          </a:prstGeom>
        </p:spPr>
      </p:pic>
      <p:sp>
        <p:nvSpPr>
          <p:cNvPr id="159" name="Text 148"/>
          <p:cNvSpPr txBox="1"/>
          <p:nvPr/>
        </p:nvSpPr>
        <p:spPr>
          <a:xfrm>
            <a:off x="7513168" y="5705856"/>
            <a:ext cx="1927784" cy="455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локализована причина деградации</a:t>
            </a:r>
            <a:endParaRPr lang="en-US" sz="1000" dirty="0"/>
          </a:p>
        </p:txBody>
      </p:sp>
      <p:sp>
        <p:nvSpPr>
          <p:cNvPr id="160" name="Shape 149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16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162" name="Text 150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Полноценное RF-тестирование UE — не один прибор, а стенд: проводные измерения, эмуляция канала, OTA и WaveJudge-анализ для локализации причины деградации.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Тестирование протоколов UE: NAS, RRC и процедуры сессии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297680" y="658368"/>
            <a:ext cx="3596335" cy="1024128"/>
          </a:xfrm>
          <a:prstGeom prst="roundRect">
            <a:avLst>
              <a:gd name="adj" fmla="val 8929"/>
            </a:avLst>
          </a:prstGeom>
          <a:solidFill>
            <a:srgbClr val="534EE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841248"/>
            <a:ext cx="640080" cy="640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394960" y="768096"/>
            <a:ext cx="23161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394960" y="1207008"/>
            <a:ext cx="23161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тестируемое устройство (DUT)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050792" y="1170432"/>
            <a:ext cx="219456" cy="0"/>
          </a:xfrm>
          <a:prstGeom prst="line">
            <a:avLst/>
          </a:prstGeom>
          <a:noFill/>
          <a:ln w="25400">
            <a:solidFill>
              <a:srgbClr val="534EE6"/>
            </a:solidFill>
            <a:prstDash val="solid"/>
            <a:headEnd type="triangle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7921447" y="1170432"/>
            <a:ext cx="219456" cy="0"/>
          </a:xfrm>
          <a:prstGeom prst="line">
            <a:avLst/>
          </a:prstGeom>
          <a:noFill/>
          <a:ln w="25400">
            <a:solidFill>
              <a:srgbClr val="534EE6"/>
            </a:solidFill>
            <a:prstDash val="solid"/>
            <a:headEnd type="triangle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572000" y="18288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901952"/>
            <a:ext cx="192024" cy="1920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0" y="18288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1. Установка RRC-соединения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95848" y="1700784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572000" y="22860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359152"/>
            <a:ext cx="192024" cy="1920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029200" y="22860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2. Регистрация NAS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095848" y="2167128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4572000" y="27432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816352"/>
            <a:ext cx="192024" cy="19202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29200" y="27432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3. Аутентификация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095848" y="2624328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4572000" y="32004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3273552"/>
            <a:ext cx="192024" cy="19202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029200" y="32004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4. Режим защиты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095848" y="3081528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25" name="Shape 18"/>
          <p:cNvSpPr/>
          <p:nvPr/>
        </p:nvSpPr>
        <p:spPr>
          <a:xfrm>
            <a:off x="4572000" y="36576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3730752"/>
            <a:ext cx="192024" cy="19202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029200" y="36576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5. Создание PDU-сессии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095848" y="3538728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4572000" y="41148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FF0E5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9160" y="4187952"/>
            <a:ext cx="192024" cy="192024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029200" y="41148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6. Сессия активна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6095848" y="3995928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33" name="Shape 24"/>
          <p:cNvSpPr/>
          <p:nvPr/>
        </p:nvSpPr>
        <p:spPr>
          <a:xfrm>
            <a:off x="274320" y="658368"/>
            <a:ext cx="3749040" cy="2651760"/>
          </a:xfrm>
          <a:prstGeom prst="roundRect">
            <a:avLst>
              <a:gd name="adj" fmla="val 2759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" y="768096"/>
            <a:ext cx="329184" cy="329184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8680" y="7132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RAN и радиодоступа</a:t>
            </a:r>
            <a:endParaRPr lang="en-US" sz="1250" dirty="0"/>
          </a:p>
        </p:txBody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" y="1248156"/>
            <a:ext cx="182880" cy="18288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777240" y="12252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колбокс</a:t>
            </a:r>
            <a:endParaRPr lang="en-US" sz="1050" dirty="0"/>
          </a:p>
        </p:txBody>
      </p:sp>
      <p:pic>
        <p:nvPicPr>
          <p:cNvPr id="3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920" y="1476756"/>
            <a:ext cx="182880" cy="18288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777240" y="14538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базовой станции</a:t>
            </a:r>
            <a:endParaRPr lang="en-US" sz="1050" dirty="0"/>
          </a:p>
        </p:txBody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920" y="1705356"/>
            <a:ext cx="182880" cy="182880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777240" y="16824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протокольная тестовая платформа</a:t>
            </a:r>
            <a:endParaRPr lang="en-US" sz="1050" dirty="0"/>
          </a:p>
        </p:txBody>
      </p:sp>
      <p:pic>
        <p:nvPicPr>
          <p:cNvPr id="4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920" y="1933956"/>
            <a:ext cx="182880" cy="18288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77240" y="19110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система сбора протокольной трассировки</a:t>
            </a:r>
            <a:endParaRPr lang="en-US" sz="1050" dirty="0"/>
          </a:p>
        </p:txBody>
      </p:sp>
      <p:sp>
        <p:nvSpPr>
          <p:cNvPr id="44" name="Shape 30"/>
          <p:cNvSpPr/>
          <p:nvPr/>
        </p:nvSpPr>
        <p:spPr>
          <a:xfrm>
            <a:off x="502920" y="2194560"/>
            <a:ext cx="3291840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45" name="Shape 31"/>
          <p:cNvSpPr/>
          <p:nvPr/>
        </p:nvSpPr>
        <p:spPr>
          <a:xfrm>
            <a:off x="512064" y="23244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6" name="Text 32"/>
          <p:cNvSpPr txBox="1"/>
          <p:nvPr/>
        </p:nvSpPr>
        <p:spPr>
          <a:xfrm>
            <a:off x="640080" y="2258568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установка RRC-соединения</a:t>
            </a:r>
            <a:endParaRPr lang="en-US" sz="1000" dirty="0"/>
          </a:p>
        </p:txBody>
      </p:sp>
      <p:sp>
        <p:nvSpPr>
          <p:cNvPr id="47" name="Shape 33"/>
          <p:cNvSpPr/>
          <p:nvPr/>
        </p:nvSpPr>
        <p:spPr>
          <a:xfrm>
            <a:off x="512064" y="251642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8" name="Text 34"/>
          <p:cNvSpPr txBox="1"/>
          <p:nvPr/>
        </p:nvSpPr>
        <p:spPr>
          <a:xfrm>
            <a:off x="640080" y="2450592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перенастройка RRC</a:t>
            </a:r>
            <a:endParaRPr lang="en-US" sz="1000" dirty="0"/>
          </a:p>
        </p:txBody>
      </p:sp>
      <p:sp>
        <p:nvSpPr>
          <p:cNvPr id="49" name="Shape 35"/>
          <p:cNvSpPr/>
          <p:nvPr/>
        </p:nvSpPr>
        <p:spPr>
          <a:xfrm>
            <a:off x="512064" y="27084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0" name="Text 36"/>
          <p:cNvSpPr txBox="1"/>
          <p:nvPr/>
        </p:nvSpPr>
        <p:spPr>
          <a:xfrm>
            <a:off x="640080" y="2642616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настройка радиоканала передачи</a:t>
            </a:r>
            <a:endParaRPr lang="en-US" sz="1000" dirty="0"/>
          </a:p>
        </p:txBody>
      </p:sp>
      <p:sp>
        <p:nvSpPr>
          <p:cNvPr id="51" name="Shape 37"/>
          <p:cNvSpPr/>
          <p:nvPr/>
        </p:nvSpPr>
        <p:spPr>
          <a:xfrm>
            <a:off x="512064" y="29004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2" name="Text 38"/>
          <p:cNvSpPr txBox="1"/>
          <p:nvPr/>
        </p:nvSpPr>
        <p:spPr>
          <a:xfrm>
            <a:off x="640080" y="2834640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управление измерениями</a:t>
            </a:r>
            <a:endParaRPr lang="en-US" sz="1000" dirty="0"/>
          </a:p>
        </p:txBody>
      </p:sp>
      <p:sp>
        <p:nvSpPr>
          <p:cNvPr id="53" name="Shape 39"/>
          <p:cNvSpPr/>
          <p:nvPr/>
        </p:nvSpPr>
        <p:spPr>
          <a:xfrm>
            <a:off x="512064" y="309250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4" name="Text 40"/>
          <p:cNvSpPr txBox="1"/>
          <p:nvPr/>
        </p:nvSpPr>
        <p:spPr>
          <a:xfrm>
            <a:off x="640080" y="3026664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сигнализация мобильности</a:t>
            </a:r>
            <a:endParaRPr lang="en-US" sz="1000" dirty="0"/>
          </a:p>
        </p:txBody>
      </p:sp>
      <p:sp>
        <p:nvSpPr>
          <p:cNvPr id="55" name="Shape 41"/>
          <p:cNvSpPr/>
          <p:nvPr/>
        </p:nvSpPr>
        <p:spPr>
          <a:xfrm>
            <a:off x="8168335" y="658368"/>
            <a:ext cx="3749040" cy="2651760"/>
          </a:xfrm>
          <a:prstGeom prst="roundRect">
            <a:avLst>
              <a:gd name="adj" fmla="val 2759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32927" y="768096"/>
            <a:ext cx="329184" cy="329184"/>
          </a:xfrm>
          <a:prstGeom prst="rect">
            <a:avLst/>
          </a:prstGeom>
        </p:spPr>
      </p:pic>
      <p:sp>
        <p:nvSpPr>
          <p:cNvPr id="57" name="Text 42"/>
          <p:cNvSpPr txBox="1"/>
          <p:nvPr/>
        </p:nvSpPr>
        <p:spPr>
          <a:xfrm>
            <a:off x="8762695" y="7132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ядра сети и среды NAS / управления сессией</a:t>
            </a:r>
            <a:endParaRPr lang="en-US" sz="1250" dirty="0"/>
          </a:p>
        </p:txBody>
      </p:sp>
      <p:pic>
        <p:nvPicPr>
          <p:cNvPr id="5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96935" y="1248156"/>
            <a:ext cx="182880" cy="182880"/>
          </a:xfrm>
          <a:prstGeom prst="rect">
            <a:avLst/>
          </a:prstGeom>
        </p:spPr>
      </p:pic>
      <p:sp>
        <p:nvSpPr>
          <p:cNvPr id="59" name="Text 43"/>
          <p:cNvSpPr txBox="1"/>
          <p:nvPr/>
        </p:nvSpPr>
        <p:spPr>
          <a:xfrm>
            <a:off x="8671255" y="12252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ядра сети</a:t>
            </a:r>
            <a:endParaRPr lang="en-US" sz="1050" dirty="0"/>
          </a:p>
        </p:txBody>
      </p:sp>
      <p:pic>
        <p:nvPicPr>
          <p:cNvPr id="6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96935" y="1476756"/>
            <a:ext cx="182880" cy="182880"/>
          </a:xfrm>
          <a:prstGeom prst="rect">
            <a:avLst/>
          </a:prstGeom>
        </p:spPr>
      </p:pic>
      <p:sp>
        <p:nvSpPr>
          <p:cNvPr id="61" name="Text 44"/>
          <p:cNvSpPr txBox="1"/>
          <p:nvPr/>
        </p:nvSpPr>
        <p:spPr>
          <a:xfrm>
            <a:off x="8671255" y="14538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симулятор сигнализации NAS</a:t>
            </a:r>
            <a:endParaRPr lang="en-US" sz="1050" dirty="0"/>
          </a:p>
        </p:txBody>
      </p:sp>
      <p:pic>
        <p:nvPicPr>
          <p:cNvPr id="6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96935" y="1705356"/>
            <a:ext cx="182880" cy="182880"/>
          </a:xfrm>
          <a:prstGeom prst="rect">
            <a:avLst/>
          </a:prstGeom>
        </p:spPr>
      </p:pic>
      <p:sp>
        <p:nvSpPr>
          <p:cNvPr id="63" name="Text 45"/>
          <p:cNvSpPr txBox="1"/>
          <p:nvPr/>
        </p:nvSpPr>
        <p:spPr>
          <a:xfrm>
            <a:off x="8671255" y="16824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платформа тестирования управления сессией</a:t>
            </a:r>
            <a:endParaRPr lang="en-US" sz="1050" dirty="0"/>
          </a:p>
        </p:txBody>
      </p:sp>
      <p:pic>
        <p:nvPicPr>
          <p:cNvPr id="6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96935" y="1933956"/>
            <a:ext cx="182880" cy="182880"/>
          </a:xfrm>
          <a:prstGeom prst="rect">
            <a:avLst/>
          </a:prstGeom>
        </p:spPr>
      </p:pic>
      <p:sp>
        <p:nvSpPr>
          <p:cNvPr id="65" name="Text 46"/>
          <p:cNvSpPr txBox="1"/>
          <p:nvPr/>
        </p:nvSpPr>
        <p:spPr>
          <a:xfrm>
            <a:off x="8671255" y="19110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система анализа сигнализации</a:t>
            </a:r>
            <a:endParaRPr lang="en-US" sz="1050" dirty="0"/>
          </a:p>
        </p:txBody>
      </p:sp>
      <p:sp>
        <p:nvSpPr>
          <p:cNvPr id="66" name="Shape 47"/>
          <p:cNvSpPr/>
          <p:nvPr/>
        </p:nvSpPr>
        <p:spPr>
          <a:xfrm>
            <a:off x="8396935" y="2194560"/>
            <a:ext cx="3291840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67" name="Shape 48"/>
          <p:cNvSpPr/>
          <p:nvPr/>
        </p:nvSpPr>
        <p:spPr>
          <a:xfrm>
            <a:off x="8406079" y="23244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8" name="Text 49"/>
          <p:cNvSpPr txBox="1"/>
          <p:nvPr/>
        </p:nvSpPr>
        <p:spPr>
          <a:xfrm>
            <a:off x="8534095" y="2258568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регистрация</a:t>
            </a:r>
            <a:endParaRPr lang="en-US" sz="1000" dirty="0"/>
          </a:p>
        </p:txBody>
      </p:sp>
      <p:sp>
        <p:nvSpPr>
          <p:cNvPr id="69" name="Shape 50"/>
          <p:cNvSpPr/>
          <p:nvPr/>
        </p:nvSpPr>
        <p:spPr>
          <a:xfrm>
            <a:off x="8406079" y="251642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0" name="Text 51"/>
          <p:cNvSpPr txBox="1"/>
          <p:nvPr/>
        </p:nvSpPr>
        <p:spPr>
          <a:xfrm>
            <a:off x="8534095" y="2450592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аутентификация</a:t>
            </a:r>
            <a:endParaRPr lang="en-US" sz="1000" dirty="0"/>
          </a:p>
        </p:txBody>
      </p:sp>
      <p:sp>
        <p:nvSpPr>
          <p:cNvPr id="71" name="Shape 52"/>
          <p:cNvSpPr/>
          <p:nvPr/>
        </p:nvSpPr>
        <p:spPr>
          <a:xfrm>
            <a:off x="8406079" y="27084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2" name="Text 53"/>
          <p:cNvSpPr txBox="1"/>
          <p:nvPr/>
        </p:nvSpPr>
        <p:spPr>
          <a:xfrm>
            <a:off x="8534095" y="2642616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режим защиты</a:t>
            </a:r>
            <a:endParaRPr lang="en-US" sz="1000" dirty="0"/>
          </a:p>
        </p:txBody>
      </p:sp>
      <p:sp>
        <p:nvSpPr>
          <p:cNvPr id="73" name="Shape 54"/>
          <p:cNvSpPr/>
          <p:nvPr/>
        </p:nvSpPr>
        <p:spPr>
          <a:xfrm>
            <a:off x="8406079" y="29004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4" name="Text 55"/>
          <p:cNvSpPr txBox="1"/>
          <p:nvPr/>
        </p:nvSpPr>
        <p:spPr>
          <a:xfrm>
            <a:off x="8534095" y="2834640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создание PDU-сессии</a:t>
            </a:r>
            <a:endParaRPr lang="en-US" sz="1000" dirty="0"/>
          </a:p>
        </p:txBody>
      </p:sp>
      <p:sp>
        <p:nvSpPr>
          <p:cNvPr id="75" name="Shape 56"/>
          <p:cNvSpPr/>
          <p:nvPr/>
        </p:nvSpPr>
        <p:spPr>
          <a:xfrm>
            <a:off x="8406079" y="309250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6" name="Text 57"/>
          <p:cNvSpPr txBox="1"/>
          <p:nvPr/>
        </p:nvSpPr>
        <p:spPr>
          <a:xfrm>
            <a:off x="8534095" y="3026664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QoS / DNN / контекст сессии</a:t>
            </a:r>
            <a:endParaRPr lang="en-US" sz="1000" dirty="0"/>
          </a:p>
        </p:txBody>
      </p:sp>
      <p:sp>
        <p:nvSpPr>
          <p:cNvPr id="77" name="Shape 58"/>
          <p:cNvSpPr/>
          <p:nvPr/>
        </p:nvSpPr>
        <p:spPr>
          <a:xfrm>
            <a:off x="274320" y="3419856"/>
            <a:ext cx="3749040" cy="1517904"/>
          </a:xfrm>
          <a:prstGeom prst="roundRect">
            <a:avLst>
              <a:gd name="adj" fmla="val 4819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78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8912" y="3511296"/>
            <a:ext cx="274320" cy="274320"/>
          </a:xfrm>
          <a:prstGeom prst="rect">
            <a:avLst/>
          </a:prstGeom>
        </p:spPr>
      </p:pic>
      <p:sp>
        <p:nvSpPr>
          <p:cNvPr id="79" name="Text 59"/>
          <p:cNvSpPr txBox="1"/>
          <p:nvPr/>
        </p:nvSpPr>
        <p:spPr>
          <a:xfrm>
            <a:off x="822960" y="34655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 в RRC</a:t>
            </a:r>
            <a:endParaRPr lang="en-US" sz="1250" dirty="0"/>
          </a:p>
        </p:txBody>
      </p:sp>
      <p:sp>
        <p:nvSpPr>
          <p:cNvPr id="80" name="Shape 60"/>
          <p:cNvSpPr/>
          <p:nvPr/>
        </p:nvSpPr>
        <p:spPr>
          <a:xfrm>
            <a:off x="512064" y="3933749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81" name="Text 61"/>
          <p:cNvSpPr txBox="1"/>
          <p:nvPr/>
        </p:nvSpPr>
        <p:spPr>
          <a:xfrm>
            <a:off x="640080" y="3877056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порядок сообщений</a:t>
            </a:r>
            <a:endParaRPr lang="en-US" sz="1000" dirty="0"/>
          </a:p>
        </p:txBody>
      </p:sp>
      <p:sp>
        <p:nvSpPr>
          <p:cNvPr id="82" name="Shape 62"/>
          <p:cNvSpPr/>
          <p:nvPr/>
        </p:nvSpPr>
        <p:spPr>
          <a:xfrm>
            <a:off x="512064" y="4107485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83" name="Text 63"/>
          <p:cNvSpPr txBox="1"/>
          <p:nvPr/>
        </p:nvSpPr>
        <p:spPr>
          <a:xfrm>
            <a:off x="640080" y="4050792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таймеры</a:t>
            </a:r>
            <a:endParaRPr lang="en-US" sz="1000" dirty="0"/>
          </a:p>
        </p:txBody>
      </p:sp>
      <p:sp>
        <p:nvSpPr>
          <p:cNvPr id="84" name="Shape 64"/>
          <p:cNvSpPr/>
          <p:nvPr/>
        </p:nvSpPr>
        <p:spPr>
          <a:xfrm>
            <a:off x="512064" y="428122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85" name="Text 65"/>
          <p:cNvSpPr txBox="1"/>
          <p:nvPr/>
        </p:nvSpPr>
        <p:spPr>
          <a:xfrm>
            <a:off x="640080" y="4224528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повторные передачи</a:t>
            </a:r>
            <a:endParaRPr lang="en-US" sz="1000" dirty="0"/>
          </a:p>
        </p:txBody>
      </p:sp>
      <p:sp>
        <p:nvSpPr>
          <p:cNvPr id="86" name="Shape 66"/>
          <p:cNvSpPr/>
          <p:nvPr/>
        </p:nvSpPr>
        <p:spPr>
          <a:xfrm>
            <a:off x="512064" y="4454957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87" name="Text 67"/>
          <p:cNvSpPr txBox="1"/>
          <p:nvPr/>
        </p:nvSpPr>
        <p:spPr>
          <a:xfrm>
            <a:off x="640080" y="4398264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переходы состояний</a:t>
            </a:r>
            <a:endParaRPr lang="en-US" sz="1000" dirty="0"/>
          </a:p>
        </p:txBody>
      </p:sp>
      <p:sp>
        <p:nvSpPr>
          <p:cNvPr id="88" name="Shape 68"/>
          <p:cNvSpPr/>
          <p:nvPr/>
        </p:nvSpPr>
        <p:spPr>
          <a:xfrm>
            <a:off x="512064" y="4628693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89" name="Text 69"/>
          <p:cNvSpPr txBox="1"/>
          <p:nvPr/>
        </p:nvSpPr>
        <p:spPr>
          <a:xfrm>
            <a:off x="640080" y="4572000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обработка отказов и отклонений</a:t>
            </a:r>
            <a:endParaRPr lang="en-US" sz="1000" dirty="0"/>
          </a:p>
        </p:txBody>
      </p:sp>
      <p:sp>
        <p:nvSpPr>
          <p:cNvPr id="90" name="Shape 70"/>
          <p:cNvSpPr/>
          <p:nvPr/>
        </p:nvSpPr>
        <p:spPr>
          <a:xfrm>
            <a:off x="8168335" y="3419856"/>
            <a:ext cx="3749040" cy="1517904"/>
          </a:xfrm>
          <a:prstGeom prst="roundRect">
            <a:avLst>
              <a:gd name="adj" fmla="val 4819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91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32927" y="3511296"/>
            <a:ext cx="274320" cy="274320"/>
          </a:xfrm>
          <a:prstGeom prst="rect">
            <a:avLst/>
          </a:prstGeom>
        </p:spPr>
      </p:pic>
      <p:sp>
        <p:nvSpPr>
          <p:cNvPr id="92" name="Text 71"/>
          <p:cNvSpPr txBox="1"/>
          <p:nvPr/>
        </p:nvSpPr>
        <p:spPr>
          <a:xfrm>
            <a:off x="8716975" y="34655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 в NAS и процедурах сессии</a:t>
            </a:r>
            <a:endParaRPr lang="en-US" sz="1250" dirty="0"/>
          </a:p>
        </p:txBody>
      </p:sp>
      <p:sp>
        <p:nvSpPr>
          <p:cNvPr id="93" name="Shape 72"/>
          <p:cNvSpPr/>
          <p:nvPr/>
        </p:nvSpPr>
        <p:spPr>
          <a:xfrm>
            <a:off x="8406079" y="3933749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94" name="Text 73"/>
          <p:cNvSpPr txBox="1"/>
          <p:nvPr/>
        </p:nvSpPr>
        <p:spPr>
          <a:xfrm>
            <a:off x="8534095" y="3877056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ход регистрации</a:t>
            </a:r>
            <a:endParaRPr lang="en-US" sz="1000" dirty="0"/>
          </a:p>
        </p:txBody>
      </p:sp>
      <p:sp>
        <p:nvSpPr>
          <p:cNvPr id="95" name="Shape 74"/>
          <p:cNvSpPr/>
          <p:nvPr/>
        </p:nvSpPr>
        <p:spPr>
          <a:xfrm>
            <a:off x="8406079" y="4107485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96" name="Text 75"/>
          <p:cNvSpPr txBox="1"/>
          <p:nvPr/>
        </p:nvSpPr>
        <p:spPr>
          <a:xfrm>
            <a:off x="8534095" y="4050792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ответ на аутентификацию</a:t>
            </a:r>
            <a:endParaRPr lang="en-US" sz="1000" dirty="0"/>
          </a:p>
        </p:txBody>
      </p:sp>
      <p:sp>
        <p:nvSpPr>
          <p:cNvPr id="97" name="Shape 76"/>
          <p:cNvSpPr/>
          <p:nvPr/>
        </p:nvSpPr>
        <p:spPr>
          <a:xfrm>
            <a:off x="8406079" y="428122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98" name="Text 77"/>
          <p:cNvSpPr txBox="1"/>
          <p:nvPr/>
        </p:nvSpPr>
        <p:spPr>
          <a:xfrm>
            <a:off x="8534095" y="4224528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активация защиты</a:t>
            </a:r>
            <a:endParaRPr lang="en-US" sz="1000" dirty="0"/>
          </a:p>
        </p:txBody>
      </p:sp>
      <p:sp>
        <p:nvSpPr>
          <p:cNvPr id="99" name="Shape 78"/>
          <p:cNvSpPr/>
          <p:nvPr/>
        </p:nvSpPr>
        <p:spPr>
          <a:xfrm>
            <a:off x="8406079" y="4454957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00" name="Text 79"/>
          <p:cNvSpPr txBox="1"/>
          <p:nvPr/>
        </p:nvSpPr>
        <p:spPr>
          <a:xfrm>
            <a:off x="8534095" y="4398264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создание сессии</a:t>
            </a:r>
            <a:endParaRPr lang="en-US" sz="1000" dirty="0"/>
          </a:p>
        </p:txBody>
      </p:sp>
      <p:sp>
        <p:nvSpPr>
          <p:cNvPr id="101" name="Shape 80"/>
          <p:cNvSpPr/>
          <p:nvPr/>
        </p:nvSpPr>
        <p:spPr>
          <a:xfrm>
            <a:off x="8406079" y="4628693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02" name="Text 81"/>
          <p:cNvSpPr txBox="1"/>
          <p:nvPr/>
        </p:nvSpPr>
        <p:spPr>
          <a:xfrm>
            <a:off x="8534095" y="4572000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причины отклонения</a:t>
            </a:r>
            <a:endParaRPr lang="en-US" sz="1000" dirty="0"/>
          </a:p>
        </p:txBody>
      </p:sp>
      <p:sp>
        <p:nvSpPr>
          <p:cNvPr id="103" name="Shape 82"/>
          <p:cNvSpPr/>
          <p:nvPr/>
        </p:nvSpPr>
        <p:spPr>
          <a:xfrm>
            <a:off x="8406079" y="4802429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04" name="Text 83"/>
          <p:cNvSpPr txBox="1"/>
          <p:nvPr/>
        </p:nvSpPr>
        <p:spPr>
          <a:xfrm>
            <a:off x="8534095" y="4745736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согласованность контекста</a:t>
            </a:r>
            <a:endParaRPr lang="en-US" sz="1000" dirty="0"/>
          </a:p>
        </p:txBody>
      </p:sp>
      <p:sp>
        <p:nvSpPr>
          <p:cNvPr id="105" name="Shape 84"/>
          <p:cNvSpPr/>
          <p:nvPr/>
        </p:nvSpPr>
        <p:spPr>
          <a:xfrm>
            <a:off x="274320" y="5047488"/>
            <a:ext cx="11643055" cy="1005840"/>
          </a:xfrm>
          <a:prstGeom prst="roundRect">
            <a:avLst>
              <a:gd name="adj" fmla="val 7273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106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8640" y="5321808"/>
            <a:ext cx="502920" cy="502920"/>
          </a:xfrm>
          <a:prstGeom prst="rect">
            <a:avLst/>
          </a:prstGeom>
        </p:spPr>
      </p:pic>
      <p:sp>
        <p:nvSpPr>
          <p:cNvPr id="107" name="Text 85"/>
          <p:cNvSpPr txBox="1"/>
          <p:nvPr/>
        </p:nvSpPr>
        <p:spPr>
          <a:xfrm>
            <a:off x="1188720" y="51206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Критерий успеха</a:t>
            </a:r>
            <a:endParaRPr lang="en-US" sz="1300" dirty="0"/>
          </a:p>
        </p:txBody>
      </p:sp>
      <p:pic>
        <p:nvPicPr>
          <p:cNvPr id="108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88720" y="5436108"/>
            <a:ext cx="164592" cy="164592"/>
          </a:xfrm>
          <a:prstGeom prst="rect">
            <a:avLst/>
          </a:prstGeom>
        </p:spPr>
      </p:pic>
      <p:sp>
        <p:nvSpPr>
          <p:cNvPr id="109" name="Text 86"/>
          <p:cNvSpPr txBox="1"/>
          <p:nvPr/>
        </p:nvSpPr>
        <p:spPr>
          <a:xfrm>
            <a:off x="1463040" y="5413248"/>
            <a:ext cx="4846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 проходит корректную машину состояний</a:t>
            </a:r>
            <a:endParaRPr lang="en-US" sz="1050" dirty="0"/>
          </a:p>
        </p:txBody>
      </p:sp>
      <p:pic>
        <p:nvPicPr>
          <p:cNvPr id="110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88720" y="5646420"/>
            <a:ext cx="164592" cy="164592"/>
          </a:xfrm>
          <a:prstGeom prst="rect">
            <a:avLst/>
          </a:prstGeom>
        </p:spPr>
      </p:pic>
      <p:sp>
        <p:nvSpPr>
          <p:cNvPr id="111" name="Text 87"/>
          <p:cNvSpPr txBox="1"/>
          <p:nvPr/>
        </p:nvSpPr>
        <p:spPr>
          <a:xfrm>
            <a:off x="1463040" y="5623560"/>
            <a:ext cx="4846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RRC- и NAS-сообщения идут в правильной последовательности</a:t>
            </a:r>
            <a:endParaRPr lang="en-US" sz="1050" dirty="0"/>
          </a:p>
        </p:txBody>
      </p:sp>
      <p:pic>
        <p:nvPicPr>
          <p:cNvPr id="112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188720" y="5856732"/>
            <a:ext cx="164592" cy="164592"/>
          </a:xfrm>
          <a:prstGeom prst="rect">
            <a:avLst/>
          </a:prstGeom>
        </p:spPr>
      </p:pic>
      <p:sp>
        <p:nvSpPr>
          <p:cNvPr id="113" name="Text 88"/>
          <p:cNvSpPr txBox="1"/>
          <p:nvPr/>
        </p:nvSpPr>
        <p:spPr>
          <a:xfrm>
            <a:off x="1463040" y="5833872"/>
            <a:ext cx="4846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таймеры отрабатывают согласно сценарию</a:t>
            </a:r>
            <a:endParaRPr lang="en-US" sz="1050" dirty="0"/>
          </a:p>
        </p:txBody>
      </p:sp>
      <p:sp>
        <p:nvSpPr>
          <p:cNvPr id="114" name="Shape 89"/>
          <p:cNvSpPr/>
          <p:nvPr/>
        </p:nvSpPr>
        <p:spPr>
          <a:xfrm>
            <a:off x="6537960" y="5184648"/>
            <a:ext cx="0" cy="73152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pic>
        <p:nvPicPr>
          <p:cNvPr id="115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66560" y="5436108"/>
            <a:ext cx="164592" cy="164592"/>
          </a:xfrm>
          <a:prstGeom prst="rect">
            <a:avLst/>
          </a:prstGeom>
        </p:spPr>
      </p:pic>
      <p:sp>
        <p:nvSpPr>
          <p:cNvPr id="116" name="Text 90"/>
          <p:cNvSpPr txBox="1"/>
          <p:nvPr/>
        </p:nvSpPr>
        <p:spPr>
          <a:xfrm>
            <a:off x="7040880" y="541324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ошибки локализуются по протокольной трассировке</a:t>
            </a:r>
            <a:endParaRPr lang="en-US" sz="1050" dirty="0"/>
          </a:p>
        </p:txBody>
      </p:sp>
      <p:pic>
        <p:nvPicPr>
          <p:cNvPr id="117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766560" y="5646420"/>
            <a:ext cx="164592" cy="164592"/>
          </a:xfrm>
          <a:prstGeom prst="rect">
            <a:avLst/>
          </a:prstGeom>
        </p:spPr>
      </p:pic>
      <p:sp>
        <p:nvSpPr>
          <p:cNvPr id="118" name="Text 91"/>
          <p:cNvSpPr txBox="1"/>
          <p:nvPr/>
        </p:nvSpPr>
        <p:spPr>
          <a:xfrm>
            <a:off x="7040880" y="5623560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PDU-сессия создаётся корректно</a:t>
            </a:r>
            <a:endParaRPr lang="en-US" sz="1050" dirty="0"/>
          </a:p>
        </p:txBody>
      </p:sp>
      <p:sp>
        <p:nvSpPr>
          <p:cNvPr id="119" name="Shape 92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120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121" name="Text 93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Тестирование протоколов UE проверяет корректность машины состояний и последовательности сигнализации между UE, RAN и ядром сети, а не просто факт подключения.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RRM и mobility testing UE: measurements, reselection и handover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3789578" cy="2798064"/>
          </a:xfrm>
          <a:prstGeom prst="roundRect">
            <a:avLst>
              <a:gd name="adj" fmla="val 2614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49808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41248" y="731520"/>
            <a:ext cx="30854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соседних сот и уровней сигнала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66344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94360" y="1115568"/>
            <a:ext cx="1551889" cy="303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многосотовый эмулятор сети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201113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29129" y="111556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callbox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" y="147602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1419332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базовой станции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201113" y="147602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329129" y="1419332"/>
            <a:ext cx="1551889" cy="303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RF-коммутация / управление аттенюацией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57200" y="1768815"/>
            <a:ext cx="346953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457200" y="1796247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задаёт контур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6344" y="205410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4360" y="1997415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обслуживающая сота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201113" y="205410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329129" y="1997415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ранжирование сот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66344" y="222784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94360" y="2171151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соседние соты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201113" y="222784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329129" y="2171151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приоритет cell reselection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66344" y="24015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94360" y="2344887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уровни RSRP / RSRQ / SINR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2201113" y="24015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29129" y="2344887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пороги и гистерезис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2555199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66344" y="281306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94360" y="2756367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cell selection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2201113" y="281306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329129" y="2756367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запуск измерений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" y="298679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94360" y="2930103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cell reselection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2201113" y="298679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329129" y="2930103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mobility в Idle / Inactive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66344" y="31605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94360" y="3103839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поведение camping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4201058" y="658368"/>
            <a:ext cx="3789578" cy="2798064"/>
          </a:xfrm>
          <a:prstGeom prst="roundRect">
            <a:avLst>
              <a:gd name="adj" fmla="val 2614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3938" y="749808"/>
            <a:ext cx="292608" cy="292608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4767986" y="731520"/>
            <a:ext cx="30854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радиоканала и движения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4393082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4521098" y="111556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радиоканала</a:t>
            </a:r>
            <a:endParaRPr lang="en-US" sz="900" dirty="0"/>
          </a:p>
        </p:txBody>
      </p:sp>
      <p:sp>
        <p:nvSpPr>
          <p:cNvPr id="44" name="Shape 40"/>
          <p:cNvSpPr/>
          <p:nvPr/>
        </p:nvSpPr>
        <p:spPr>
          <a:xfrm>
            <a:off x="6127852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6255868" y="111556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fading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4393082" y="134599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7" name="Text 43"/>
          <p:cNvSpPr txBox="1"/>
          <p:nvPr/>
        </p:nvSpPr>
        <p:spPr>
          <a:xfrm>
            <a:off x="4521098" y="128930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MIMO channel emulator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6127852" y="134599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6255868" y="128930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источник помех</a:t>
            </a:r>
            <a:endParaRPr lang="en-US" sz="900" dirty="0"/>
          </a:p>
        </p:txBody>
      </p:sp>
      <p:sp>
        <p:nvSpPr>
          <p:cNvPr id="50" name="Shape 46"/>
          <p:cNvSpPr/>
          <p:nvPr/>
        </p:nvSpPr>
        <p:spPr>
          <a:xfrm>
            <a:off x="4383938" y="1508760"/>
            <a:ext cx="346953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51" name="Text 47"/>
          <p:cNvSpPr txBox="1"/>
          <p:nvPr/>
        </p:nvSpPr>
        <p:spPr>
          <a:xfrm>
            <a:off x="4383938" y="1536192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задаёт контур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4393082" y="17940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4521098" y="173736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профиль fading</a:t>
            </a:r>
            <a:endParaRPr lang="en-US" sz="900" dirty="0"/>
          </a:p>
        </p:txBody>
      </p:sp>
      <p:sp>
        <p:nvSpPr>
          <p:cNvPr id="54" name="Shape 50"/>
          <p:cNvSpPr/>
          <p:nvPr/>
        </p:nvSpPr>
        <p:spPr>
          <a:xfrm>
            <a:off x="6127852" y="17940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5" name="Text 51"/>
          <p:cNvSpPr txBox="1"/>
          <p:nvPr/>
        </p:nvSpPr>
        <p:spPr>
          <a:xfrm>
            <a:off x="6255868" y="173736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multipath</a:t>
            </a:r>
            <a:endParaRPr lang="en-US" sz="900" dirty="0"/>
          </a:p>
        </p:txBody>
      </p:sp>
      <p:sp>
        <p:nvSpPr>
          <p:cNvPr id="56" name="Shape 52"/>
          <p:cNvSpPr/>
          <p:nvPr/>
        </p:nvSpPr>
        <p:spPr>
          <a:xfrm>
            <a:off x="4393082" y="196778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4521098" y="1911096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Doppler</a:t>
            </a:r>
            <a:endParaRPr lang="en-US" sz="900" dirty="0"/>
          </a:p>
        </p:txBody>
      </p:sp>
      <p:sp>
        <p:nvSpPr>
          <p:cNvPr id="58" name="Shape 54"/>
          <p:cNvSpPr/>
          <p:nvPr/>
        </p:nvSpPr>
        <p:spPr>
          <a:xfrm>
            <a:off x="6127852" y="196778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6255868" y="1911096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interference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4393082" y="214152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4521098" y="2084832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delay spread</a:t>
            </a:r>
            <a:endParaRPr lang="en-US" sz="900" dirty="0"/>
          </a:p>
        </p:txBody>
      </p:sp>
      <p:sp>
        <p:nvSpPr>
          <p:cNvPr id="62" name="Shape 58"/>
          <p:cNvSpPr/>
          <p:nvPr/>
        </p:nvSpPr>
        <p:spPr>
          <a:xfrm>
            <a:off x="6127852" y="214152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6255868" y="2084832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условия на границе соты</a:t>
            </a:r>
            <a:endParaRPr lang="en-US" sz="900" dirty="0"/>
          </a:p>
        </p:txBody>
      </p:sp>
      <p:sp>
        <p:nvSpPr>
          <p:cNvPr id="64" name="Shape 60"/>
          <p:cNvSpPr/>
          <p:nvPr/>
        </p:nvSpPr>
        <p:spPr>
          <a:xfrm>
            <a:off x="4393082" y="2315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4521098" y="225856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изменение path loss</a:t>
            </a:r>
            <a:endParaRPr lang="en-US" sz="900" dirty="0"/>
          </a:p>
        </p:txBody>
      </p:sp>
      <p:sp>
        <p:nvSpPr>
          <p:cNvPr id="66" name="Text 62"/>
          <p:cNvSpPr txBox="1"/>
          <p:nvPr/>
        </p:nvSpPr>
        <p:spPr>
          <a:xfrm>
            <a:off x="4383938" y="2468880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67" name="Shape 63"/>
          <p:cNvSpPr/>
          <p:nvPr/>
        </p:nvSpPr>
        <p:spPr>
          <a:xfrm>
            <a:off x="4393082" y="272674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4521098" y="267004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стабильность измерений</a:t>
            </a:r>
            <a:endParaRPr lang="en-US" sz="900" dirty="0"/>
          </a:p>
        </p:txBody>
      </p:sp>
      <p:sp>
        <p:nvSpPr>
          <p:cNvPr id="69" name="Shape 65"/>
          <p:cNvSpPr/>
          <p:nvPr/>
        </p:nvSpPr>
        <p:spPr>
          <a:xfrm>
            <a:off x="6127852" y="272674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0" name="Text 66"/>
          <p:cNvSpPr txBox="1"/>
          <p:nvPr/>
        </p:nvSpPr>
        <p:spPr>
          <a:xfrm>
            <a:off x="6255868" y="267004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устойчивость радиолинка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4393082" y="29004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2" name="Text 68"/>
          <p:cNvSpPr txBox="1"/>
          <p:nvPr/>
        </p:nvSpPr>
        <p:spPr>
          <a:xfrm>
            <a:off x="4521098" y="284378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поведение порога RLF</a:t>
            </a:r>
            <a:endParaRPr lang="en-US" sz="900" dirty="0"/>
          </a:p>
        </p:txBody>
      </p:sp>
      <p:sp>
        <p:nvSpPr>
          <p:cNvPr id="73" name="Shape 69"/>
          <p:cNvSpPr/>
          <p:nvPr/>
        </p:nvSpPr>
        <p:spPr>
          <a:xfrm>
            <a:off x="6127852" y="29004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6255868" y="284378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handover при fading</a:t>
            </a:r>
            <a:endParaRPr lang="en-US" sz="900" dirty="0"/>
          </a:p>
        </p:txBody>
      </p:sp>
      <p:sp>
        <p:nvSpPr>
          <p:cNvPr id="75" name="Shape 71"/>
          <p:cNvSpPr/>
          <p:nvPr/>
        </p:nvSpPr>
        <p:spPr>
          <a:xfrm>
            <a:off x="4393082" y="30742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6" name="Text 72"/>
          <p:cNvSpPr txBox="1"/>
          <p:nvPr/>
        </p:nvSpPr>
        <p:spPr>
          <a:xfrm>
            <a:off x="4521098" y="301752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BLER на границе mobility</a:t>
            </a:r>
            <a:endParaRPr lang="en-US" sz="900" dirty="0"/>
          </a:p>
        </p:txBody>
      </p:sp>
      <p:sp>
        <p:nvSpPr>
          <p:cNvPr id="77" name="Shape 73"/>
          <p:cNvSpPr/>
          <p:nvPr/>
        </p:nvSpPr>
        <p:spPr>
          <a:xfrm>
            <a:off x="8127797" y="658368"/>
            <a:ext cx="3789578" cy="2798064"/>
          </a:xfrm>
          <a:prstGeom prst="roundRect">
            <a:avLst>
              <a:gd name="adj" fmla="val 2614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749808"/>
            <a:ext cx="292608" cy="292608"/>
          </a:xfrm>
          <a:prstGeom prst="rect">
            <a:avLst/>
          </a:prstGeom>
        </p:spPr>
      </p:pic>
      <p:sp>
        <p:nvSpPr>
          <p:cNvPr id="79" name="Text 74"/>
          <p:cNvSpPr txBox="1"/>
          <p:nvPr/>
        </p:nvSpPr>
        <p:spPr>
          <a:xfrm>
            <a:off x="8694725" y="731520"/>
            <a:ext cx="30854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mobility-процедур RAN / Core</a:t>
            </a:r>
            <a:endParaRPr lang="en-US" sz="1200" dirty="0"/>
          </a:p>
        </p:txBody>
      </p:sp>
      <p:sp>
        <p:nvSpPr>
          <p:cNvPr id="80" name="Shape 75"/>
          <p:cNvSpPr/>
          <p:nvPr/>
        </p:nvSpPr>
        <p:spPr>
          <a:xfrm>
            <a:off x="8319821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1" name="Text 76"/>
          <p:cNvSpPr txBox="1"/>
          <p:nvPr/>
        </p:nvSpPr>
        <p:spPr>
          <a:xfrm>
            <a:off x="8447837" y="1115568"/>
            <a:ext cx="1551889" cy="303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протокольная тест-платформа</a:t>
            </a:r>
            <a:endParaRPr lang="en-US" sz="900" dirty="0"/>
          </a:p>
        </p:txBody>
      </p:sp>
      <p:sp>
        <p:nvSpPr>
          <p:cNvPr id="82" name="Shape 77"/>
          <p:cNvSpPr/>
          <p:nvPr/>
        </p:nvSpPr>
        <p:spPr>
          <a:xfrm>
            <a:off x="10054590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3" name="Text 78"/>
          <p:cNvSpPr txBox="1"/>
          <p:nvPr/>
        </p:nvSpPr>
        <p:spPr>
          <a:xfrm>
            <a:off x="10182606" y="111556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RAN</a:t>
            </a:r>
            <a:endParaRPr lang="en-US" sz="900" dirty="0"/>
          </a:p>
        </p:txBody>
      </p:sp>
      <p:sp>
        <p:nvSpPr>
          <p:cNvPr id="84" name="Shape 79"/>
          <p:cNvSpPr/>
          <p:nvPr/>
        </p:nvSpPr>
        <p:spPr>
          <a:xfrm>
            <a:off x="8319821" y="147602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5" name="Text 80"/>
          <p:cNvSpPr txBox="1"/>
          <p:nvPr/>
        </p:nvSpPr>
        <p:spPr>
          <a:xfrm>
            <a:off x="8447837" y="1419332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Core</a:t>
            </a:r>
            <a:endParaRPr lang="en-US" sz="900" dirty="0"/>
          </a:p>
        </p:txBody>
      </p:sp>
      <p:sp>
        <p:nvSpPr>
          <p:cNvPr id="86" name="Shape 81"/>
          <p:cNvSpPr/>
          <p:nvPr/>
        </p:nvSpPr>
        <p:spPr>
          <a:xfrm>
            <a:off x="10054590" y="147602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7" name="Text 82"/>
          <p:cNvSpPr txBox="1"/>
          <p:nvPr/>
        </p:nvSpPr>
        <p:spPr>
          <a:xfrm>
            <a:off x="10182606" y="1419332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protocol trace analyzer</a:t>
            </a:r>
            <a:endParaRPr lang="en-US" sz="900" dirty="0"/>
          </a:p>
        </p:txBody>
      </p:sp>
      <p:sp>
        <p:nvSpPr>
          <p:cNvPr id="88" name="Shape 83"/>
          <p:cNvSpPr/>
          <p:nvPr/>
        </p:nvSpPr>
        <p:spPr>
          <a:xfrm>
            <a:off x="8310677" y="1638788"/>
            <a:ext cx="346953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89" name="Text 84"/>
          <p:cNvSpPr txBox="1"/>
          <p:nvPr/>
        </p:nvSpPr>
        <p:spPr>
          <a:xfrm>
            <a:off x="8310677" y="1666220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задаёт контур</a:t>
            </a:r>
            <a:endParaRPr lang="en-US" sz="1000" dirty="0"/>
          </a:p>
        </p:txBody>
      </p:sp>
      <p:sp>
        <p:nvSpPr>
          <p:cNvPr id="90" name="Shape 85"/>
          <p:cNvSpPr/>
          <p:nvPr/>
        </p:nvSpPr>
        <p:spPr>
          <a:xfrm>
            <a:off x="8319821" y="19240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1" name="Text 86"/>
          <p:cNvSpPr txBox="1"/>
          <p:nvPr/>
        </p:nvSpPr>
        <p:spPr>
          <a:xfrm>
            <a:off x="8447837" y="186738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конфигурация измерений</a:t>
            </a:r>
            <a:endParaRPr lang="en-US" sz="900" dirty="0"/>
          </a:p>
        </p:txBody>
      </p:sp>
      <p:sp>
        <p:nvSpPr>
          <p:cNvPr id="92" name="Shape 87"/>
          <p:cNvSpPr/>
          <p:nvPr/>
        </p:nvSpPr>
        <p:spPr>
          <a:xfrm>
            <a:off x="10054590" y="19240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3" name="Text 88"/>
          <p:cNvSpPr txBox="1"/>
          <p:nvPr/>
        </p:nvSpPr>
        <p:spPr>
          <a:xfrm>
            <a:off x="10182606" y="186738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параметры целевой соты</a:t>
            </a:r>
            <a:endParaRPr lang="en-US" sz="900" dirty="0"/>
          </a:p>
        </p:txBody>
      </p:sp>
      <p:sp>
        <p:nvSpPr>
          <p:cNvPr id="94" name="Shape 89"/>
          <p:cNvSpPr/>
          <p:nvPr/>
        </p:nvSpPr>
        <p:spPr>
          <a:xfrm>
            <a:off x="8319821" y="209781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5" name="Text 90"/>
          <p:cNvSpPr txBox="1"/>
          <p:nvPr/>
        </p:nvSpPr>
        <p:spPr>
          <a:xfrm>
            <a:off x="8447837" y="204112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event A3 / A5 / B1 / B2</a:t>
            </a:r>
            <a:endParaRPr lang="en-US" sz="900" dirty="0"/>
          </a:p>
        </p:txBody>
      </p:sp>
      <p:sp>
        <p:nvSpPr>
          <p:cNvPr id="96" name="Shape 91"/>
          <p:cNvSpPr/>
          <p:nvPr/>
        </p:nvSpPr>
        <p:spPr>
          <a:xfrm>
            <a:off x="10054590" y="209781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7" name="Text 92"/>
          <p:cNvSpPr txBox="1"/>
          <p:nvPr/>
        </p:nvSpPr>
        <p:spPr>
          <a:xfrm>
            <a:off x="10182606" y="204112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Reconfiguration</a:t>
            </a:r>
            <a:endParaRPr lang="en-US" sz="900" dirty="0"/>
          </a:p>
        </p:txBody>
      </p:sp>
      <p:sp>
        <p:nvSpPr>
          <p:cNvPr id="98" name="Shape 93"/>
          <p:cNvSpPr/>
          <p:nvPr/>
        </p:nvSpPr>
        <p:spPr>
          <a:xfrm>
            <a:off x="8319821" y="227155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9" name="Text 94"/>
          <p:cNvSpPr txBox="1"/>
          <p:nvPr/>
        </p:nvSpPr>
        <p:spPr>
          <a:xfrm>
            <a:off x="8447837" y="221486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команда handover</a:t>
            </a:r>
            <a:endParaRPr lang="en-US" sz="900" dirty="0"/>
          </a:p>
        </p:txBody>
      </p:sp>
      <p:sp>
        <p:nvSpPr>
          <p:cNvPr id="100" name="Shape 95"/>
          <p:cNvSpPr/>
          <p:nvPr/>
        </p:nvSpPr>
        <p:spPr>
          <a:xfrm>
            <a:off x="10054590" y="227155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1" name="Text 96"/>
          <p:cNvSpPr txBox="1"/>
          <p:nvPr/>
        </p:nvSpPr>
        <p:spPr>
          <a:xfrm>
            <a:off x="10182606" y="221486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логика переноса контекста</a:t>
            </a:r>
            <a:endParaRPr lang="en-US" sz="900" dirty="0"/>
          </a:p>
        </p:txBody>
      </p:sp>
      <p:sp>
        <p:nvSpPr>
          <p:cNvPr id="102" name="Text 97"/>
          <p:cNvSpPr txBox="1"/>
          <p:nvPr/>
        </p:nvSpPr>
        <p:spPr>
          <a:xfrm>
            <a:off x="8310677" y="2425172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103" name="Shape 98"/>
          <p:cNvSpPr/>
          <p:nvPr/>
        </p:nvSpPr>
        <p:spPr>
          <a:xfrm>
            <a:off x="8319821" y="26830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4" name="Text 99"/>
          <p:cNvSpPr txBox="1"/>
          <p:nvPr/>
        </p:nvSpPr>
        <p:spPr>
          <a:xfrm>
            <a:off x="8447837" y="262634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отчёт об измерениях</a:t>
            </a:r>
            <a:endParaRPr lang="en-US" sz="900" dirty="0"/>
          </a:p>
        </p:txBody>
      </p:sp>
      <p:sp>
        <p:nvSpPr>
          <p:cNvPr id="105" name="Shape 100"/>
          <p:cNvSpPr/>
          <p:nvPr/>
        </p:nvSpPr>
        <p:spPr>
          <a:xfrm>
            <a:off x="10054590" y="26830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6" name="Text 101"/>
          <p:cNvSpPr txBox="1"/>
          <p:nvPr/>
        </p:nvSpPr>
        <p:spPr>
          <a:xfrm>
            <a:off x="10182606" y="2626340"/>
            <a:ext cx="1551889" cy="303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Reconfiguration Complete</a:t>
            </a:r>
            <a:endParaRPr lang="en-US" sz="900" dirty="0"/>
          </a:p>
        </p:txBody>
      </p:sp>
      <p:sp>
        <p:nvSpPr>
          <p:cNvPr id="107" name="Shape 102"/>
          <p:cNvSpPr/>
          <p:nvPr/>
        </p:nvSpPr>
        <p:spPr>
          <a:xfrm>
            <a:off x="8319821" y="298679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8" name="Text 103"/>
          <p:cNvSpPr txBox="1"/>
          <p:nvPr/>
        </p:nvSpPr>
        <p:spPr>
          <a:xfrm>
            <a:off x="8447837" y="2930103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подготовка handover</a:t>
            </a:r>
            <a:endParaRPr lang="en-US" sz="900" dirty="0"/>
          </a:p>
        </p:txBody>
      </p:sp>
      <p:sp>
        <p:nvSpPr>
          <p:cNvPr id="109" name="Shape 104"/>
          <p:cNvSpPr/>
          <p:nvPr/>
        </p:nvSpPr>
        <p:spPr>
          <a:xfrm>
            <a:off x="10054590" y="298679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0" name="Text 105"/>
          <p:cNvSpPr txBox="1"/>
          <p:nvPr/>
        </p:nvSpPr>
        <p:spPr>
          <a:xfrm>
            <a:off x="10182606" y="2930103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время прерывания сервиса</a:t>
            </a:r>
            <a:endParaRPr lang="en-US" sz="900" dirty="0"/>
          </a:p>
        </p:txBody>
      </p:sp>
      <p:sp>
        <p:nvSpPr>
          <p:cNvPr id="111" name="Shape 106"/>
          <p:cNvSpPr/>
          <p:nvPr/>
        </p:nvSpPr>
        <p:spPr>
          <a:xfrm>
            <a:off x="8319821" y="31605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2" name="Text 107"/>
          <p:cNvSpPr txBox="1"/>
          <p:nvPr/>
        </p:nvSpPr>
        <p:spPr>
          <a:xfrm>
            <a:off x="8447837" y="3103839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выполнение handover</a:t>
            </a:r>
            <a:endParaRPr lang="en-US" sz="900" dirty="0"/>
          </a:p>
        </p:txBody>
      </p:sp>
      <p:sp>
        <p:nvSpPr>
          <p:cNvPr id="113" name="Shape 108"/>
          <p:cNvSpPr/>
          <p:nvPr/>
        </p:nvSpPr>
        <p:spPr>
          <a:xfrm>
            <a:off x="10054590" y="31605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4" name="Text 109"/>
          <p:cNvSpPr txBox="1"/>
          <p:nvPr/>
        </p:nvSpPr>
        <p:spPr>
          <a:xfrm>
            <a:off x="10182606" y="3103839"/>
            <a:ext cx="1551889" cy="303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восстановление после отказа</a:t>
            </a:r>
            <a:endParaRPr lang="en-US" sz="900" dirty="0"/>
          </a:p>
        </p:txBody>
      </p:sp>
      <p:sp>
        <p:nvSpPr>
          <p:cNvPr id="115" name="Shape 110"/>
          <p:cNvSpPr/>
          <p:nvPr/>
        </p:nvSpPr>
        <p:spPr>
          <a:xfrm>
            <a:off x="4632808" y="3566160"/>
            <a:ext cx="2926080" cy="365760"/>
          </a:xfrm>
          <a:prstGeom prst="roundRect">
            <a:avLst>
              <a:gd name="adj" fmla="val 25000"/>
            </a:avLst>
          </a:prstGeom>
          <a:solidFill>
            <a:srgbClr val="534EE6"/>
          </a:solidFill>
          <a:ln/>
        </p:spPr>
      </p:sp>
      <p:sp>
        <p:nvSpPr>
          <p:cNvPr id="116" name="Text 111"/>
          <p:cNvSpPr txBox="1"/>
          <p:nvPr/>
        </p:nvSpPr>
        <p:spPr>
          <a:xfrm>
            <a:off x="4632808" y="3566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  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тестируемое устройство (DUT)</a:t>
            </a:r>
            <a:endParaRPr lang="en-US" sz="1500" dirty="0"/>
          </a:p>
        </p:txBody>
      </p:sp>
      <p:sp>
        <p:nvSpPr>
          <p:cNvPr id="117" name="Shape 112"/>
          <p:cNvSpPr/>
          <p:nvPr/>
        </p:nvSpPr>
        <p:spPr>
          <a:xfrm>
            <a:off x="2169109" y="3474720"/>
            <a:ext cx="0" cy="27432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  <a:headEnd type="triangle"/>
          </a:ln>
        </p:spPr>
      </p:sp>
      <p:sp>
        <p:nvSpPr>
          <p:cNvPr id="118" name="Shape 113"/>
          <p:cNvSpPr/>
          <p:nvPr/>
        </p:nvSpPr>
        <p:spPr>
          <a:xfrm>
            <a:off x="2169109" y="3749040"/>
            <a:ext cx="2436266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19" name="Shape 114"/>
          <p:cNvSpPr/>
          <p:nvPr/>
        </p:nvSpPr>
        <p:spPr>
          <a:xfrm>
            <a:off x="10022586" y="3474720"/>
            <a:ext cx="0" cy="27432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  <a:headEnd type="triangle"/>
          </a:ln>
        </p:spPr>
      </p:sp>
      <p:sp>
        <p:nvSpPr>
          <p:cNvPr id="120" name="Shape 115"/>
          <p:cNvSpPr/>
          <p:nvPr/>
        </p:nvSpPr>
        <p:spPr>
          <a:xfrm flipH="1">
            <a:off x="7586320" y="3749040"/>
            <a:ext cx="2436266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21" name="Shape 116"/>
          <p:cNvSpPr/>
          <p:nvPr/>
        </p:nvSpPr>
        <p:spPr>
          <a:xfrm>
            <a:off x="6095848" y="3474720"/>
            <a:ext cx="0" cy="73152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  <a:headEnd type="triangle"/>
            <a:tailEnd type="triangle"/>
          </a:ln>
        </p:spPr>
      </p:sp>
      <p:sp>
        <p:nvSpPr>
          <p:cNvPr id="122" name="Shape 117"/>
          <p:cNvSpPr/>
          <p:nvPr/>
        </p:nvSpPr>
        <p:spPr>
          <a:xfrm>
            <a:off x="274320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23" name="Text 118"/>
          <p:cNvSpPr txBox="1"/>
          <p:nvPr/>
        </p:nvSpPr>
        <p:spPr>
          <a:xfrm>
            <a:off x="301752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Обслуживающая сота</a:t>
            </a:r>
            <a:endParaRPr lang="en-US" sz="900" dirty="0"/>
          </a:p>
        </p:txBody>
      </p:sp>
      <p:sp>
        <p:nvSpPr>
          <p:cNvPr id="124" name="Shape 119"/>
          <p:cNvSpPr/>
          <p:nvPr/>
        </p:nvSpPr>
        <p:spPr>
          <a:xfrm>
            <a:off x="1438961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25" name="Shape 120"/>
          <p:cNvSpPr/>
          <p:nvPr/>
        </p:nvSpPr>
        <p:spPr>
          <a:xfrm>
            <a:off x="1585265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26" name="Text 121"/>
          <p:cNvSpPr txBox="1"/>
          <p:nvPr/>
        </p:nvSpPr>
        <p:spPr>
          <a:xfrm>
            <a:off x="1612697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Конфигурация измерений</a:t>
            </a:r>
            <a:endParaRPr lang="en-US" sz="900" dirty="0"/>
          </a:p>
        </p:txBody>
      </p:sp>
      <p:sp>
        <p:nvSpPr>
          <p:cNvPr id="127" name="Shape 122"/>
          <p:cNvSpPr/>
          <p:nvPr/>
        </p:nvSpPr>
        <p:spPr>
          <a:xfrm>
            <a:off x="2749906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28" name="Shape 123"/>
          <p:cNvSpPr/>
          <p:nvPr/>
        </p:nvSpPr>
        <p:spPr>
          <a:xfrm>
            <a:off x="2896210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29" name="Text 124"/>
          <p:cNvSpPr txBox="1"/>
          <p:nvPr/>
        </p:nvSpPr>
        <p:spPr>
          <a:xfrm>
            <a:off x="2923642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Измерения соседних сот</a:t>
            </a:r>
            <a:endParaRPr lang="en-US" sz="900" dirty="0"/>
          </a:p>
        </p:txBody>
      </p:sp>
      <p:sp>
        <p:nvSpPr>
          <p:cNvPr id="130" name="Shape 125"/>
          <p:cNvSpPr/>
          <p:nvPr/>
        </p:nvSpPr>
        <p:spPr>
          <a:xfrm>
            <a:off x="4060850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31" name="Shape 126"/>
          <p:cNvSpPr/>
          <p:nvPr/>
        </p:nvSpPr>
        <p:spPr>
          <a:xfrm>
            <a:off x="4207154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32" name="Text 127"/>
          <p:cNvSpPr txBox="1"/>
          <p:nvPr/>
        </p:nvSpPr>
        <p:spPr>
          <a:xfrm>
            <a:off x="4234586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Отчёт об измерениях</a:t>
            </a:r>
            <a:endParaRPr lang="en-US" sz="900" dirty="0"/>
          </a:p>
        </p:txBody>
      </p:sp>
      <p:sp>
        <p:nvSpPr>
          <p:cNvPr id="133" name="Shape 128"/>
          <p:cNvSpPr/>
          <p:nvPr/>
        </p:nvSpPr>
        <p:spPr>
          <a:xfrm>
            <a:off x="5371795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34" name="Shape 129"/>
          <p:cNvSpPr/>
          <p:nvPr/>
        </p:nvSpPr>
        <p:spPr>
          <a:xfrm>
            <a:off x="5518099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35" name="Text 130"/>
          <p:cNvSpPr txBox="1"/>
          <p:nvPr/>
        </p:nvSpPr>
        <p:spPr>
          <a:xfrm>
            <a:off x="5545531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Решение о handover</a:t>
            </a:r>
            <a:endParaRPr lang="en-US" sz="900" dirty="0"/>
          </a:p>
        </p:txBody>
      </p:sp>
      <p:sp>
        <p:nvSpPr>
          <p:cNvPr id="136" name="Shape 131"/>
          <p:cNvSpPr/>
          <p:nvPr/>
        </p:nvSpPr>
        <p:spPr>
          <a:xfrm>
            <a:off x="6682740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37" name="Shape 132"/>
          <p:cNvSpPr/>
          <p:nvPr/>
        </p:nvSpPr>
        <p:spPr>
          <a:xfrm>
            <a:off x="6829044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38" name="Text 133"/>
          <p:cNvSpPr txBox="1"/>
          <p:nvPr/>
        </p:nvSpPr>
        <p:spPr>
          <a:xfrm>
            <a:off x="6856476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Reconfiguration / Handover Command</a:t>
            </a:r>
            <a:endParaRPr lang="en-US" sz="900" dirty="0"/>
          </a:p>
        </p:txBody>
      </p:sp>
      <p:sp>
        <p:nvSpPr>
          <p:cNvPr id="139" name="Shape 134"/>
          <p:cNvSpPr/>
          <p:nvPr/>
        </p:nvSpPr>
        <p:spPr>
          <a:xfrm>
            <a:off x="7993685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40" name="Shape 135"/>
          <p:cNvSpPr/>
          <p:nvPr/>
        </p:nvSpPr>
        <p:spPr>
          <a:xfrm>
            <a:off x="8139989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41" name="Text 136"/>
          <p:cNvSpPr txBox="1"/>
          <p:nvPr/>
        </p:nvSpPr>
        <p:spPr>
          <a:xfrm>
            <a:off x="8167421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Random Access к целевой соте</a:t>
            </a:r>
            <a:endParaRPr lang="en-US" sz="900" dirty="0"/>
          </a:p>
        </p:txBody>
      </p:sp>
      <p:sp>
        <p:nvSpPr>
          <p:cNvPr id="142" name="Shape 137"/>
          <p:cNvSpPr/>
          <p:nvPr/>
        </p:nvSpPr>
        <p:spPr>
          <a:xfrm>
            <a:off x="9304630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43" name="Shape 138"/>
          <p:cNvSpPr/>
          <p:nvPr/>
        </p:nvSpPr>
        <p:spPr>
          <a:xfrm>
            <a:off x="9450934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44" name="Text 139"/>
          <p:cNvSpPr txBox="1"/>
          <p:nvPr/>
        </p:nvSpPr>
        <p:spPr>
          <a:xfrm>
            <a:off x="9478366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Reconfiguration Complete</a:t>
            </a:r>
            <a:endParaRPr lang="en-US" sz="900" dirty="0"/>
          </a:p>
        </p:txBody>
      </p:sp>
      <p:sp>
        <p:nvSpPr>
          <p:cNvPr id="145" name="Shape 140"/>
          <p:cNvSpPr/>
          <p:nvPr/>
        </p:nvSpPr>
        <p:spPr>
          <a:xfrm>
            <a:off x="10615574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46" name="Shape 141"/>
          <p:cNvSpPr/>
          <p:nvPr/>
        </p:nvSpPr>
        <p:spPr>
          <a:xfrm>
            <a:off x="10761878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FF0E5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147" name="Text 142"/>
          <p:cNvSpPr txBox="1"/>
          <p:nvPr/>
        </p:nvSpPr>
        <p:spPr>
          <a:xfrm>
            <a:off x="10789310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Непрерывность сервиса</a:t>
            </a:r>
            <a:endParaRPr lang="en-US" sz="900" dirty="0"/>
          </a:p>
        </p:txBody>
      </p:sp>
      <p:sp>
        <p:nvSpPr>
          <p:cNvPr id="148" name="Shape 143"/>
          <p:cNvSpPr/>
          <p:nvPr/>
        </p:nvSpPr>
        <p:spPr>
          <a:xfrm>
            <a:off x="274320" y="4626864"/>
            <a:ext cx="3703320" cy="1426464"/>
          </a:xfrm>
          <a:prstGeom prst="roundRect">
            <a:avLst>
              <a:gd name="adj" fmla="val 5128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4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4700016"/>
            <a:ext cx="256032" cy="256032"/>
          </a:xfrm>
          <a:prstGeom prst="rect">
            <a:avLst/>
          </a:prstGeom>
        </p:spPr>
      </p:pic>
      <p:sp>
        <p:nvSpPr>
          <p:cNvPr id="150" name="Text 144"/>
          <p:cNvSpPr txBox="1"/>
          <p:nvPr/>
        </p:nvSpPr>
        <p:spPr>
          <a:xfrm>
            <a:off x="777240" y="468172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проверяем в measurements</a:t>
            </a:r>
            <a:endParaRPr lang="en-US" sz="1200" dirty="0"/>
          </a:p>
        </p:txBody>
      </p:sp>
      <p:sp>
        <p:nvSpPr>
          <p:cNvPr id="151" name="Shape 145"/>
          <p:cNvSpPr/>
          <p:nvPr/>
        </p:nvSpPr>
        <p:spPr>
          <a:xfrm>
            <a:off x="466344" y="51499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52" name="Text 146"/>
          <p:cNvSpPr txBox="1"/>
          <p:nvPr/>
        </p:nvSpPr>
        <p:spPr>
          <a:xfrm>
            <a:off x="594360" y="50657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правильность измерений</a:t>
            </a:r>
            <a:endParaRPr lang="en-US" sz="1000" dirty="0"/>
          </a:p>
        </p:txBody>
      </p:sp>
      <p:sp>
        <p:nvSpPr>
          <p:cNvPr id="153" name="Shape 147"/>
          <p:cNvSpPr/>
          <p:nvPr/>
        </p:nvSpPr>
        <p:spPr>
          <a:xfrm>
            <a:off x="466344" y="53785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54" name="Text 148"/>
          <p:cNvSpPr txBox="1"/>
          <p:nvPr/>
        </p:nvSpPr>
        <p:spPr>
          <a:xfrm>
            <a:off x="594360" y="52943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фильтрация L1 / L3</a:t>
            </a:r>
            <a:endParaRPr lang="en-US" sz="1000" dirty="0"/>
          </a:p>
        </p:txBody>
      </p:sp>
      <p:sp>
        <p:nvSpPr>
          <p:cNvPr id="155" name="Shape 149"/>
          <p:cNvSpPr/>
          <p:nvPr/>
        </p:nvSpPr>
        <p:spPr>
          <a:xfrm>
            <a:off x="466344" y="56071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56" name="Text 150"/>
          <p:cNvSpPr txBox="1"/>
          <p:nvPr/>
        </p:nvSpPr>
        <p:spPr>
          <a:xfrm>
            <a:off x="594360" y="5522976"/>
            <a:ext cx="157734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тайминг отчёта об измерениях</a:t>
            </a:r>
            <a:endParaRPr lang="en-US" sz="1000" dirty="0"/>
          </a:p>
        </p:txBody>
      </p:sp>
      <p:sp>
        <p:nvSpPr>
          <p:cNvPr id="157" name="Shape 151"/>
          <p:cNvSpPr/>
          <p:nvPr/>
        </p:nvSpPr>
        <p:spPr>
          <a:xfrm>
            <a:off x="2180844" y="51499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58" name="Text 152"/>
          <p:cNvSpPr txBox="1"/>
          <p:nvPr/>
        </p:nvSpPr>
        <p:spPr>
          <a:xfrm>
            <a:off x="2308860" y="5065776"/>
            <a:ext cx="1531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запуск event condition</a:t>
            </a:r>
            <a:endParaRPr lang="en-US" sz="1000" dirty="0"/>
          </a:p>
        </p:txBody>
      </p:sp>
      <p:sp>
        <p:nvSpPr>
          <p:cNvPr id="159" name="Shape 153"/>
          <p:cNvSpPr/>
          <p:nvPr/>
        </p:nvSpPr>
        <p:spPr>
          <a:xfrm>
            <a:off x="2180844" y="53785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60" name="Text 154"/>
          <p:cNvSpPr txBox="1"/>
          <p:nvPr/>
        </p:nvSpPr>
        <p:spPr>
          <a:xfrm>
            <a:off x="2308860" y="5294376"/>
            <a:ext cx="1531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гистерезис</a:t>
            </a:r>
            <a:endParaRPr lang="en-US" sz="1000" dirty="0"/>
          </a:p>
        </p:txBody>
      </p:sp>
      <p:sp>
        <p:nvSpPr>
          <p:cNvPr id="161" name="Shape 155"/>
          <p:cNvSpPr/>
          <p:nvPr/>
        </p:nvSpPr>
        <p:spPr>
          <a:xfrm>
            <a:off x="2180844" y="56071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62" name="Text 156"/>
          <p:cNvSpPr txBox="1"/>
          <p:nvPr/>
        </p:nvSpPr>
        <p:spPr>
          <a:xfrm>
            <a:off x="2308860" y="5522976"/>
            <a:ext cx="1531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time-to-trigger</a:t>
            </a:r>
            <a:endParaRPr lang="en-US" sz="1000" dirty="0"/>
          </a:p>
        </p:txBody>
      </p:sp>
      <p:sp>
        <p:nvSpPr>
          <p:cNvPr id="163" name="Shape 157"/>
          <p:cNvSpPr/>
          <p:nvPr/>
        </p:nvSpPr>
        <p:spPr>
          <a:xfrm>
            <a:off x="2180844" y="58357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64" name="Text 158"/>
          <p:cNvSpPr txBox="1"/>
          <p:nvPr/>
        </p:nvSpPr>
        <p:spPr>
          <a:xfrm>
            <a:off x="2308860" y="5751576"/>
            <a:ext cx="1531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reporting quantity</a:t>
            </a:r>
            <a:endParaRPr lang="en-US" sz="1000" dirty="0"/>
          </a:p>
        </p:txBody>
      </p:sp>
      <p:sp>
        <p:nvSpPr>
          <p:cNvPr id="165" name="Shape 159"/>
          <p:cNvSpPr/>
          <p:nvPr/>
        </p:nvSpPr>
        <p:spPr>
          <a:xfrm>
            <a:off x="4114800" y="4626864"/>
            <a:ext cx="3962095" cy="1426464"/>
          </a:xfrm>
          <a:prstGeom prst="roundRect">
            <a:avLst>
              <a:gd name="adj" fmla="val 5128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16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9392" y="4700016"/>
            <a:ext cx="256032" cy="256032"/>
          </a:xfrm>
          <a:prstGeom prst="rect">
            <a:avLst/>
          </a:prstGeom>
        </p:spPr>
      </p:pic>
      <p:sp>
        <p:nvSpPr>
          <p:cNvPr id="167" name="Text 160"/>
          <p:cNvSpPr txBox="1"/>
          <p:nvPr/>
        </p:nvSpPr>
        <p:spPr>
          <a:xfrm>
            <a:off x="4617720" y="4681728"/>
            <a:ext cx="3322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Критерий успеха</a:t>
            </a:r>
            <a:endParaRPr lang="en-US" sz="1200" dirty="0"/>
          </a:p>
        </p:txBody>
      </p:sp>
      <p:pic>
        <p:nvPicPr>
          <p:cNvPr id="16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0" y="5010912"/>
            <a:ext cx="164592" cy="164592"/>
          </a:xfrm>
          <a:prstGeom prst="rect">
            <a:avLst/>
          </a:prstGeom>
        </p:spPr>
      </p:pic>
      <p:sp>
        <p:nvSpPr>
          <p:cNvPr id="169" name="Text 161"/>
          <p:cNvSpPr txBox="1"/>
          <p:nvPr/>
        </p:nvSpPr>
        <p:spPr>
          <a:xfrm>
            <a:off x="4572000" y="5010912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 корректно измеряет обслуживающую и соседние соты</a:t>
            </a:r>
            <a:endParaRPr lang="en-US" sz="950" dirty="0"/>
          </a:p>
        </p:txBody>
      </p:sp>
      <p:pic>
        <p:nvPicPr>
          <p:cNvPr id="17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5175504"/>
            <a:ext cx="164592" cy="164592"/>
          </a:xfrm>
          <a:prstGeom prst="rect">
            <a:avLst/>
          </a:prstGeom>
        </p:spPr>
      </p:pic>
      <p:sp>
        <p:nvSpPr>
          <p:cNvPr id="171" name="Text 162"/>
          <p:cNvSpPr txBox="1"/>
          <p:nvPr/>
        </p:nvSpPr>
        <p:spPr>
          <a:xfrm>
            <a:off x="4572000" y="5175504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отчёт отправляется по заданному event condition</a:t>
            </a:r>
            <a:endParaRPr lang="en-US" sz="950" dirty="0"/>
          </a:p>
        </p:txBody>
      </p:sp>
      <p:pic>
        <p:nvPicPr>
          <p:cNvPr id="17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680" y="5340096"/>
            <a:ext cx="164592" cy="164592"/>
          </a:xfrm>
          <a:prstGeom prst="rect">
            <a:avLst/>
          </a:prstGeom>
        </p:spPr>
      </p:pic>
      <p:sp>
        <p:nvSpPr>
          <p:cNvPr id="173" name="Text 163"/>
          <p:cNvSpPr txBox="1"/>
          <p:nvPr/>
        </p:nvSpPr>
        <p:spPr>
          <a:xfrm>
            <a:off x="4572000" y="5340096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cell reselection идёт по логике priority / threshold</a:t>
            </a:r>
            <a:endParaRPr lang="en-US" sz="950" dirty="0"/>
          </a:p>
        </p:txBody>
      </p:sp>
      <p:pic>
        <p:nvPicPr>
          <p:cNvPr id="17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7680" y="5504688"/>
            <a:ext cx="164592" cy="164592"/>
          </a:xfrm>
          <a:prstGeom prst="rect">
            <a:avLst/>
          </a:prstGeom>
        </p:spPr>
      </p:pic>
      <p:sp>
        <p:nvSpPr>
          <p:cNvPr id="175" name="Text 164"/>
          <p:cNvSpPr txBox="1"/>
          <p:nvPr/>
        </p:nvSpPr>
        <p:spPr>
          <a:xfrm>
            <a:off x="4572000" y="5504688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handover завершается без потери контекста UE</a:t>
            </a:r>
            <a:endParaRPr lang="en-US" sz="950" dirty="0"/>
          </a:p>
        </p:txBody>
      </p:sp>
      <p:pic>
        <p:nvPicPr>
          <p:cNvPr id="17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7680" y="5669280"/>
            <a:ext cx="164592" cy="164592"/>
          </a:xfrm>
          <a:prstGeom prst="rect">
            <a:avLst/>
          </a:prstGeom>
        </p:spPr>
      </p:pic>
      <p:sp>
        <p:nvSpPr>
          <p:cNvPr id="177" name="Text 165"/>
          <p:cNvSpPr txBox="1"/>
          <p:nvPr/>
        </p:nvSpPr>
        <p:spPr>
          <a:xfrm>
            <a:off x="4572000" y="5669280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RLF и recovery соответствуют сценарию</a:t>
            </a:r>
            <a:endParaRPr lang="en-US" sz="950" dirty="0"/>
          </a:p>
        </p:txBody>
      </p:sp>
      <p:pic>
        <p:nvPicPr>
          <p:cNvPr id="17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97680" y="5833872"/>
            <a:ext cx="164592" cy="164592"/>
          </a:xfrm>
          <a:prstGeom prst="rect">
            <a:avLst/>
          </a:prstGeom>
        </p:spPr>
      </p:pic>
      <p:sp>
        <p:nvSpPr>
          <p:cNvPr id="179" name="Text 166"/>
          <p:cNvSpPr txBox="1"/>
          <p:nvPr/>
        </p:nvSpPr>
        <p:spPr>
          <a:xfrm>
            <a:off x="4572000" y="5833872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непрерывность сервиса подтверждена</a:t>
            </a:r>
            <a:endParaRPr lang="en-US" sz="950" dirty="0"/>
          </a:p>
        </p:txBody>
      </p:sp>
      <p:sp>
        <p:nvSpPr>
          <p:cNvPr id="180" name="Shape 167"/>
          <p:cNvSpPr/>
          <p:nvPr/>
        </p:nvSpPr>
        <p:spPr>
          <a:xfrm>
            <a:off x="8214055" y="4626864"/>
            <a:ext cx="3703320" cy="1426464"/>
          </a:xfrm>
          <a:prstGeom prst="roundRect">
            <a:avLst>
              <a:gd name="adj" fmla="val 5128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8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78647" y="4700016"/>
            <a:ext cx="256032" cy="256032"/>
          </a:xfrm>
          <a:prstGeom prst="rect">
            <a:avLst/>
          </a:prstGeom>
        </p:spPr>
      </p:pic>
      <p:sp>
        <p:nvSpPr>
          <p:cNvPr id="182" name="Text 168"/>
          <p:cNvSpPr txBox="1"/>
          <p:nvPr/>
        </p:nvSpPr>
        <p:spPr>
          <a:xfrm>
            <a:off x="8716975" y="468172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проверяем в mobility outcome</a:t>
            </a:r>
            <a:endParaRPr lang="en-US" sz="1200" dirty="0"/>
          </a:p>
        </p:txBody>
      </p:sp>
      <p:sp>
        <p:nvSpPr>
          <p:cNvPr id="183" name="Shape 169"/>
          <p:cNvSpPr/>
          <p:nvPr/>
        </p:nvSpPr>
        <p:spPr>
          <a:xfrm>
            <a:off x="8406079" y="51499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84" name="Text 170"/>
          <p:cNvSpPr txBox="1"/>
          <p:nvPr/>
        </p:nvSpPr>
        <p:spPr>
          <a:xfrm>
            <a:off x="8534095" y="50657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правильная целевая сота</a:t>
            </a:r>
            <a:endParaRPr lang="en-US" sz="1000" dirty="0"/>
          </a:p>
        </p:txBody>
      </p:sp>
      <p:sp>
        <p:nvSpPr>
          <p:cNvPr id="185" name="Shape 171"/>
          <p:cNvSpPr/>
          <p:nvPr/>
        </p:nvSpPr>
        <p:spPr>
          <a:xfrm>
            <a:off x="8406079" y="53785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86" name="Text 172"/>
          <p:cNvSpPr txBox="1"/>
          <p:nvPr/>
        </p:nvSpPr>
        <p:spPr>
          <a:xfrm>
            <a:off x="8534095" y="52943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нет late handover</a:t>
            </a:r>
            <a:endParaRPr lang="en-US" sz="1000" dirty="0"/>
          </a:p>
        </p:txBody>
      </p:sp>
      <p:sp>
        <p:nvSpPr>
          <p:cNvPr id="187" name="Shape 173"/>
          <p:cNvSpPr/>
          <p:nvPr/>
        </p:nvSpPr>
        <p:spPr>
          <a:xfrm>
            <a:off x="8406079" y="56071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88" name="Text 174"/>
          <p:cNvSpPr txBox="1"/>
          <p:nvPr/>
        </p:nvSpPr>
        <p:spPr>
          <a:xfrm>
            <a:off x="8534095" y="55229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нет early handover</a:t>
            </a:r>
            <a:endParaRPr lang="en-US" sz="1000" dirty="0"/>
          </a:p>
        </p:txBody>
      </p:sp>
      <p:sp>
        <p:nvSpPr>
          <p:cNvPr id="189" name="Shape 175"/>
          <p:cNvSpPr/>
          <p:nvPr/>
        </p:nvSpPr>
        <p:spPr>
          <a:xfrm>
            <a:off x="8406079" y="58357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90" name="Text 176"/>
          <p:cNvSpPr txBox="1"/>
          <p:nvPr/>
        </p:nvSpPr>
        <p:spPr>
          <a:xfrm>
            <a:off x="8534095" y="57515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нет ping-pong</a:t>
            </a:r>
            <a:endParaRPr lang="en-US" sz="1000" dirty="0"/>
          </a:p>
        </p:txBody>
      </p:sp>
      <p:sp>
        <p:nvSpPr>
          <p:cNvPr id="191" name="Shape 177"/>
          <p:cNvSpPr/>
          <p:nvPr/>
        </p:nvSpPr>
        <p:spPr>
          <a:xfrm>
            <a:off x="10120579" y="51499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92" name="Text 178"/>
          <p:cNvSpPr txBox="1"/>
          <p:nvPr/>
        </p:nvSpPr>
        <p:spPr>
          <a:xfrm>
            <a:off x="10248595" y="5065776"/>
            <a:ext cx="1531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нет unnecessary RLF</a:t>
            </a:r>
            <a:endParaRPr lang="en-US" sz="1000" dirty="0"/>
          </a:p>
        </p:txBody>
      </p:sp>
      <p:sp>
        <p:nvSpPr>
          <p:cNvPr id="193" name="Shape 179"/>
          <p:cNvSpPr/>
          <p:nvPr/>
        </p:nvSpPr>
        <p:spPr>
          <a:xfrm>
            <a:off x="10120579" y="53785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94" name="Text 180"/>
          <p:cNvSpPr txBox="1"/>
          <p:nvPr/>
        </p:nvSpPr>
        <p:spPr>
          <a:xfrm>
            <a:off x="10248595" y="5294376"/>
            <a:ext cx="153162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минимальное прерывание сервиса</a:t>
            </a:r>
            <a:endParaRPr lang="en-US" sz="1000" dirty="0"/>
          </a:p>
        </p:txBody>
      </p:sp>
      <p:sp>
        <p:nvSpPr>
          <p:cNvPr id="195" name="Shape 181"/>
          <p:cNvSpPr/>
          <p:nvPr/>
        </p:nvSpPr>
        <p:spPr>
          <a:xfrm>
            <a:off x="10120579" y="5751576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96" name="Text 182"/>
          <p:cNvSpPr txBox="1"/>
          <p:nvPr/>
        </p:nvSpPr>
        <p:spPr>
          <a:xfrm>
            <a:off x="10248595" y="5667451"/>
            <a:ext cx="153162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сессия сохраняется после mobility</a:t>
            </a:r>
            <a:endParaRPr lang="en-US" sz="1000" dirty="0"/>
          </a:p>
        </p:txBody>
      </p:sp>
      <p:sp>
        <p:nvSpPr>
          <p:cNvPr id="197" name="Shape 183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19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199" name="Text 184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RRM и mobility testing UE проверяет, как устройство измеряет радиосреду, принимает решения в Idle / Inactive и сохраняет сервис при handover в Connected mode.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Блок 3. Тестирование UE и SIM</dc:title>
  <dc:subject>PptxGenJS Presentation</dc:subject>
  <dc:creator>PptxGenJS</dc:creator>
  <cp:lastModifiedBy>PptxGenJS</cp:lastModifiedBy>
  <cp:revision>1</cp:revision>
  <dcterms:created xsi:type="dcterms:W3CDTF">2026-10-05T10:03:37Z</dcterms:created>
  <dcterms:modified xsi:type="dcterms:W3CDTF">2026-10-05T10:03:37Z</dcterms:modified>
</cp:coreProperties>
</file>