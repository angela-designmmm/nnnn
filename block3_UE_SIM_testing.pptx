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image" Target="../media/image-2-43.png"/><Relationship Id="rId44" Type="http://schemas.openxmlformats.org/officeDocument/2006/relationships/image" Target="../media/image-2-44.png"/><Relationship Id="rId45" Type="http://schemas.openxmlformats.org/officeDocument/2006/relationships/image" Target="../media/image-2-45.png"/><Relationship Id="rId46" Type="http://schemas.openxmlformats.org/officeDocument/2006/relationships/image" Target="../media/image-2-46.png"/><Relationship Id="rId47" Type="http://schemas.openxmlformats.org/officeDocument/2006/relationships/image" Target="../media/image-2-47.png"/><Relationship Id="rId48" Type="http://schemas.openxmlformats.org/officeDocument/2006/relationships/image" Target="../media/image-2-48.png"/><Relationship Id="rId49" Type="http://schemas.openxmlformats.org/officeDocument/2006/relationships/image" Target="../media/image-2-49.png"/><Relationship Id="rId50" Type="http://schemas.openxmlformats.org/officeDocument/2006/relationships/image" Target="../media/image-2-50.png"/><Relationship Id="rId51" Type="http://schemas.openxmlformats.org/officeDocument/2006/relationships/image" Target="../media/image-2-51.png"/><Relationship Id="rId52" Type="http://schemas.openxmlformats.org/officeDocument/2006/relationships/slideLayout" Target="../slideLayouts/slideLayout1.xml"/><Relationship Id="rId5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430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Функциональное тестирование UE: доступ к сети и базовые сервисы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331720" y="6400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51760" y="6217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фиолетовый = тестируемый объект (DUT)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897880" y="64008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0" y="62179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оранжевый = тестовая система / эмулируемое окружение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F9F9FF"/>
          </a:solidFill>
          <a:ln w="22225">
            <a:solidFill>
              <a:srgbClr val="534EE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78992"/>
            <a:ext cx="502920" cy="5029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74320" y="1618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тестируемый объект (DUT)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618488" y="1737360"/>
            <a:ext cx="23774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874520" y="960120"/>
            <a:ext cx="7772400" cy="1554480"/>
          </a:xfrm>
          <a:prstGeom prst="roundRect">
            <a:avLst>
              <a:gd name="adj" fmla="val 4706"/>
            </a:avLst>
          </a:prstGeom>
          <a:solidFill>
            <a:srgbClr val="FFFBF7"/>
          </a:solidFill>
          <a:ln w="19050">
            <a:solidFill>
              <a:srgbClr val="FF812A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2011680" y="1078992"/>
            <a:ext cx="133868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853" y="1161288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011680" y="1618488"/>
            <a:ext cx="13386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Радиодоступ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2011680" y="1874520"/>
            <a:ext cx="13386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эмуляция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радиодоступа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368650" y="1737360"/>
            <a:ext cx="164592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3551530" y="1078992"/>
            <a:ext cx="133868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702" y="1161288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551530" y="1618488"/>
            <a:ext cx="13386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RAN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3551530" y="1874520"/>
            <a:ext cx="13386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эмуляция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RAN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908499" y="1737360"/>
            <a:ext cx="164592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091379" y="1078992"/>
            <a:ext cx="133868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1161288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091379" y="1618488"/>
            <a:ext cx="13386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Core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5091379" y="1874520"/>
            <a:ext cx="13386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эмуляция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Core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448349" y="1737360"/>
            <a:ext cx="164592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6631229" y="1078992"/>
            <a:ext cx="133868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9402" y="1161288"/>
            <a:ext cx="402336" cy="40233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631229" y="1618488"/>
            <a:ext cx="13386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Data Network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6631229" y="1874520"/>
            <a:ext cx="13386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эмуляция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Data Network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7988198" y="1737360"/>
            <a:ext cx="164592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8171078" y="1078992"/>
            <a:ext cx="1338682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9251" y="1161288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171078" y="1618488"/>
            <a:ext cx="13386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Service</a:t>
            </a:r>
            <a:endParaRPr lang="en-US" sz="1150" dirty="0"/>
          </a:p>
        </p:txBody>
      </p:sp>
      <p:sp>
        <p:nvSpPr>
          <p:cNvPr id="36" name="Text 28"/>
          <p:cNvSpPr txBox="1"/>
          <p:nvPr/>
        </p:nvSpPr>
        <p:spPr>
          <a:xfrm>
            <a:off x="8171078" y="1874520"/>
            <a:ext cx="13386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эмуляция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базового сервиса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9646920" y="1737360"/>
            <a:ext cx="100584" cy="0"/>
          </a:xfrm>
          <a:prstGeom prst="line">
            <a:avLst/>
          </a:prstGeom>
          <a:noFill/>
          <a:ln w="15875">
            <a:solidFill>
              <a:srgbClr val="FF812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747504" y="1124712"/>
            <a:ext cx="0" cy="1225296"/>
          </a:xfrm>
          <a:prstGeom prst="line">
            <a:avLst/>
          </a:prstGeom>
          <a:noFill/>
          <a:ln w="15875">
            <a:solidFill>
              <a:srgbClr val="FF812A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9747504" y="1124712"/>
            <a:ext cx="109728" cy="0"/>
          </a:xfrm>
          <a:prstGeom prst="line">
            <a:avLst/>
          </a:prstGeom>
          <a:noFill/>
          <a:ln w="15875">
            <a:solidFill>
              <a:srgbClr val="FF812A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9857232" y="960120"/>
            <a:ext cx="2060143" cy="329184"/>
          </a:xfrm>
          <a:prstGeom prst="roundRect">
            <a:avLst>
              <a:gd name="adj" fmla="val 16667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9930384" y="960120"/>
            <a:ext cx="1913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тестовая платформа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9747504" y="1536192"/>
            <a:ext cx="109728" cy="0"/>
          </a:xfrm>
          <a:prstGeom prst="line">
            <a:avLst/>
          </a:prstGeom>
          <a:noFill/>
          <a:ln w="15875">
            <a:solidFill>
              <a:srgbClr val="FF812A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9857232" y="1371600"/>
            <a:ext cx="2060143" cy="329184"/>
          </a:xfrm>
          <a:prstGeom prst="roundRect">
            <a:avLst>
              <a:gd name="adj" fmla="val 16667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9930384" y="1371600"/>
            <a:ext cx="1913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сети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9747504" y="1947672"/>
            <a:ext cx="109728" cy="0"/>
          </a:xfrm>
          <a:prstGeom prst="line">
            <a:avLst/>
          </a:prstGeom>
          <a:noFill/>
          <a:ln w="15875">
            <a:solidFill>
              <a:srgbClr val="FF812A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9857232" y="1783080"/>
            <a:ext cx="2060143" cy="329184"/>
          </a:xfrm>
          <a:prstGeom prst="roundRect">
            <a:avLst>
              <a:gd name="adj" fmla="val 16667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9930384" y="1783080"/>
            <a:ext cx="1913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callbox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9747504" y="2359152"/>
            <a:ext cx="109728" cy="0"/>
          </a:xfrm>
          <a:prstGeom prst="line">
            <a:avLst/>
          </a:prstGeom>
          <a:noFill/>
          <a:ln w="15875">
            <a:solidFill>
              <a:srgbClr val="FF812A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9857232" y="2194560"/>
            <a:ext cx="2060143" cy="329184"/>
          </a:xfrm>
          <a:prstGeom prst="roundRect">
            <a:avLst>
              <a:gd name="adj" fmla="val 16667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9930384" y="2194560"/>
            <a:ext cx="1913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базовой станции и Core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274320" y="2697480"/>
            <a:ext cx="2240280" cy="3337560"/>
          </a:xfrm>
          <a:prstGeom prst="roundRect">
            <a:avLst>
              <a:gd name="adj" fmla="val 3265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274320" y="2770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проверяется</a:t>
            </a:r>
            <a:endParaRPr lang="en-US" sz="1300" dirty="0"/>
          </a:p>
        </p:txBody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227832"/>
            <a:ext cx="237744" cy="237744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804672" y="315468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доступ к сети</a:t>
            </a:r>
            <a:endParaRPr lang="en-US" sz="1050" dirty="0"/>
          </a:p>
        </p:txBody>
      </p:sp>
      <p:sp>
        <p:nvSpPr>
          <p:cNvPr id="55" name="Shape 46"/>
          <p:cNvSpPr/>
          <p:nvPr/>
        </p:nvSpPr>
        <p:spPr>
          <a:xfrm>
            <a:off x="457200" y="3547872"/>
            <a:ext cx="1874520" cy="0"/>
          </a:xfrm>
          <a:prstGeom prst="line">
            <a:avLst/>
          </a:prstGeom>
          <a:noFill/>
          <a:ln w="6350">
            <a:solidFill>
              <a:srgbClr val="7F7BEC"/>
            </a:solidFill>
            <a:prstDash val="sysDot"/>
          </a:ln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3630168"/>
            <a:ext cx="237744" cy="237744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804672" y="3557016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RRC setup</a:t>
            </a:r>
            <a:endParaRPr lang="en-US" sz="1050" dirty="0"/>
          </a:p>
        </p:txBody>
      </p:sp>
      <p:sp>
        <p:nvSpPr>
          <p:cNvPr id="58" name="Shape 48"/>
          <p:cNvSpPr/>
          <p:nvPr/>
        </p:nvSpPr>
        <p:spPr>
          <a:xfrm>
            <a:off x="457200" y="3950208"/>
            <a:ext cx="1874520" cy="0"/>
          </a:xfrm>
          <a:prstGeom prst="line">
            <a:avLst/>
          </a:prstGeom>
          <a:noFill/>
          <a:ln w="6350">
            <a:solidFill>
              <a:srgbClr val="7F7BEC"/>
            </a:solidFill>
            <a:prstDash val="sysDot"/>
          </a:ln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" y="4032504"/>
            <a:ext cx="237744" cy="237744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804672" y="3959352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Registration</a:t>
            </a:r>
            <a:endParaRPr lang="en-US" sz="1050" dirty="0"/>
          </a:p>
        </p:txBody>
      </p:sp>
      <p:sp>
        <p:nvSpPr>
          <p:cNvPr id="61" name="Shape 50"/>
          <p:cNvSpPr/>
          <p:nvPr/>
        </p:nvSpPr>
        <p:spPr>
          <a:xfrm>
            <a:off x="457200" y="4352544"/>
            <a:ext cx="1874520" cy="0"/>
          </a:xfrm>
          <a:prstGeom prst="line">
            <a:avLst/>
          </a:prstGeom>
          <a:noFill/>
          <a:ln w="6350">
            <a:solidFill>
              <a:srgbClr val="7F7BEC"/>
            </a:solidFill>
            <a:prstDash val="sysDot"/>
          </a:ln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" y="4434840"/>
            <a:ext cx="237744" cy="237744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804672" y="4361688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создание контекста UE</a:t>
            </a:r>
            <a:endParaRPr lang="en-US" sz="1050" dirty="0"/>
          </a:p>
        </p:txBody>
      </p:sp>
      <p:sp>
        <p:nvSpPr>
          <p:cNvPr id="64" name="Shape 52"/>
          <p:cNvSpPr/>
          <p:nvPr/>
        </p:nvSpPr>
        <p:spPr>
          <a:xfrm>
            <a:off x="457200" y="4754880"/>
            <a:ext cx="1874520" cy="0"/>
          </a:xfrm>
          <a:prstGeom prst="line">
            <a:avLst/>
          </a:prstGeom>
          <a:noFill/>
          <a:ln w="6350">
            <a:solidFill>
              <a:srgbClr val="7F7BEC"/>
            </a:solidFill>
            <a:prstDash val="sysDot"/>
          </a:ln>
        </p:spPr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" y="4837176"/>
            <a:ext cx="237744" cy="237744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804672" y="4764024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PDU Session</a:t>
            </a:r>
            <a:endParaRPr lang="en-US" sz="1050" dirty="0"/>
          </a:p>
        </p:txBody>
      </p:sp>
      <p:sp>
        <p:nvSpPr>
          <p:cNvPr id="67" name="Shape 54"/>
          <p:cNvSpPr/>
          <p:nvPr/>
        </p:nvSpPr>
        <p:spPr>
          <a:xfrm>
            <a:off x="457200" y="5157216"/>
            <a:ext cx="1874520" cy="0"/>
          </a:xfrm>
          <a:prstGeom prst="line">
            <a:avLst/>
          </a:prstGeom>
          <a:noFill/>
          <a:ln w="6350">
            <a:solidFill>
              <a:srgbClr val="7F7BEC"/>
            </a:solidFill>
            <a:prstDash val="sysDot"/>
          </a:ln>
        </p:spPr>
      </p:sp>
      <p:pic>
        <p:nvPicPr>
          <p:cNvPr id="6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" y="5239512"/>
            <a:ext cx="237744" cy="237744"/>
          </a:xfrm>
          <a:prstGeom prst="rect">
            <a:avLst/>
          </a:prstGeom>
        </p:spPr>
      </p:pic>
      <p:sp>
        <p:nvSpPr>
          <p:cNvPr id="69" name="Text 55"/>
          <p:cNvSpPr txBox="1"/>
          <p:nvPr/>
        </p:nvSpPr>
        <p:spPr>
          <a:xfrm>
            <a:off x="804672" y="516636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получение IP-адреса</a:t>
            </a:r>
            <a:endParaRPr lang="en-US" sz="1050" dirty="0"/>
          </a:p>
        </p:txBody>
      </p:sp>
      <p:sp>
        <p:nvSpPr>
          <p:cNvPr id="70" name="Shape 56"/>
          <p:cNvSpPr/>
          <p:nvPr/>
        </p:nvSpPr>
        <p:spPr>
          <a:xfrm>
            <a:off x="457200" y="5559552"/>
            <a:ext cx="1874520" cy="0"/>
          </a:xfrm>
          <a:prstGeom prst="line">
            <a:avLst/>
          </a:prstGeom>
          <a:noFill/>
          <a:ln w="6350">
            <a:solidFill>
              <a:srgbClr val="7F7BEC"/>
            </a:solidFill>
            <a:prstDash val="sysDot"/>
          </a:ln>
        </p:spPr>
      </p:sp>
      <p:pic>
        <p:nvPicPr>
          <p:cNvPr id="7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488" y="5641848"/>
            <a:ext cx="237744" cy="237744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804672" y="5568696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DNS / HTTP / ping</a:t>
            </a:r>
            <a:endParaRPr lang="en-US" sz="1050" dirty="0"/>
          </a:p>
        </p:txBody>
      </p:sp>
      <p:sp>
        <p:nvSpPr>
          <p:cNvPr id="73" name="Shape 58"/>
          <p:cNvSpPr/>
          <p:nvPr/>
        </p:nvSpPr>
        <p:spPr>
          <a:xfrm>
            <a:off x="9677095" y="2697480"/>
            <a:ext cx="2240280" cy="3337560"/>
          </a:xfrm>
          <a:prstGeom prst="roundRect">
            <a:avLst>
              <a:gd name="adj" fmla="val 3265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74" name="Text 59"/>
          <p:cNvSpPr txBox="1"/>
          <p:nvPr/>
        </p:nvSpPr>
        <p:spPr>
          <a:xfrm>
            <a:off x="9677095" y="27523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является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тестовой системой</a:t>
            </a:r>
            <a:endParaRPr lang="en-US" sz="1300" dirty="0"/>
          </a:p>
        </p:txBody>
      </p:sp>
      <p:pic>
        <p:nvPicPr>
          <p:cNvPr id="7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8263" y="3392424"/>
            <a:ext cx="237744" cy="237744"/>
          </a:xfrm>
          <a:prstGeom prst="rect">
            <a:avLst/>
          </a:prstGeom>
        </p:spPr>
      </p:pic>
      <p:sp>
        <p:nvSpPr>
          <p:cNvPr id="76" name="Text 60"/>
          <p:cNvSpPr txBox="1"/>
          <p:nvPr/>
        </p:nvSpPr>
        <p:spPr>
          <a:xfrm>
            <a:off x="10207447" y="3300984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тестовая платформа / эмулятор сети</a:t>
            </a:r>
            <a:endParaRPr lang="en-US" sz="1000" dirty="0"/>
          </a:p>
        </p:txBody>
      </p:sp>
      <p:sp>
        <p:nvSpPr>
          <p:cNvPr id="77" name="Shape 61"/>
          <p:cNvSpPr/>
          <p:nvPr/>
        </p:nvSpPr>
        <p:spPr>
          <a:xfrm>
            <a:off x="9859975" y="3730752"/>
            <a:ext cx="1874520" cy="0"/>
          </a:xfrm>
          <a:prstGeom prst="line">
            <a:avLst/>
          </a:prstGeom>
          <a:noFill/>
          <a:ln w="6350">
            <a:solidFill>
              <a:srgbClr val="FF812A"/>
            </a:solidFill>
            <a:prstDash val="sysDot"/>
          </a:ln>
        </p:spPr>
      </p:sp>
      <p:pic>
        <p:nvPicPr>
          <p:cNvPr id="7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78263" y="3831336"/>
            <a:ext cx="237744" cy="237744"/>
          </a:xfrm>
          <a:prstGeom prst="rect">
            <a:avLst/>
          </a:prstGeom>
        </p:spPr>
      </p:pic>
      <p:sp>
        <p:nvSpPr>
          <p:cNvPr id="79" name="Text 62"/>
          <p:cNvSpPr txBox="1"/>
          <p:nvPr/>
        </p:nvSpPr>
        <p:spPr>
          <a:xfrm>
            <a:off x="10207447" y="3739896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создаёт радиосреду</a:t>
            </a:r>
            <a:endParaRPr lang="en-US" sz="1000" dirty="0"/>
          </a:p>
        </p:txBody>
      </p:sp>
      <p:sp>
        <p:nvSpPr>
          <p:cNvPr id="80" name="Shape 63"/>
          <p:cNvSpPr/>
          <p:nvPr/>
        </p:nvSpPr>
        <p:spPr>
          <a:xfrm>
            <a:off x="9859975" y="4169664"/>
            <a:ext cx="1874520" cy="0"/>
          </a:xfrm>
          <a:prstGeom prst="line">
            <a:avLst/>
          </a:prstGeom>
          <a:noFill/>
          <a:ln w="6350">
            <a:solidFill>
              <a:srgbClr val="FF812A"/>
            </a:solidFill>
            <a:prstDash val="sysDot"/>
          </a:ln>
        </p:spPr>
      </p:sp>
      <p:pic>
        <p:nvPicPr>
          <p:cNvPr id="8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78263" y="4270248"/>
            <a:ext cx="237744" cy="237744"/>
          </a:xfrm>
          <a:prstGeom prst="rect">
            <a:avLst/>
          </a:prstGeom>
        </p:spPr>
      </p:pic>
      <p:sp>
        <p:nvSpPr>
          <p:cNvPr id="82" name="Text 64"/>
          <p:cNvSpPr txBox="1"/>
          <p:nvPr/>
        </p:nvSpPr>
        <p:spPr>
          <a:xfrm>
            <a:off x="10207447" y="4178808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эмулирует сеть доступа</a:t>
            </a:r>
            <a:endParaRPr lang="en-US" sz="1000" dirty="0"/>
          </a:p>
        </p:txBody>
      </p:sp>
      <p:sp>
        <p:nvSpPr>
          <p:cNvPr id="83" name="Shape 65"/>
          <p:cNvSpPr/>
          <p:nvPr/>
        </p:nvSpPr>
        <p:spPr>
          <a:xfrm>
            <a:off x="9859975" y="4608576"/>
            <a:ext cx="1874520" cy="0"/>
          </a:xfrm>
          <a:prstGeom prst="line">
            <a:avLst/>
          </a:prstGeom>
          <a:noFill/>
          <a:ln w="6350">
            <a:solidFill>
              <a:srgbClr val="FF812A"/>
            </a:solidFill>
            <a:prstDash val="sysDot"/>
          </a:ln>
        </p:spPr>
      </p:sp>
      <p:pic>
        <p:nvPicPr>
          <p:cNvPr id="8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78263" y="4709160"/>
            <a:ext cx="237744" cy="237744"/>
          </a:xfrm>
          <a:prstGeom prst="rect">
            <a:avLst/>
          </a:prstGeom>
        </p:spPr>
      </p:pic>
      <p:sp>
        <p:nvSpPr>
          <p:cNvPr id="85" name="Text 66"/>
          <p:cNvSpPr txBox="1"/>
          <p:nvPr/>
        </p:nvSpPr>
        <p:spPr>
          <a:xfrm>
            <a:off x="10207447" y="4617720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эмулирует Core</a:t>
            </a:r>
            <a:endParaRPr lang="en-US" sz="1000" dirty="0"/>
          </a:p>
        </p:txBody>
      </p:sp>
      <p:sp>
        <p:nvSpPr>
          <p:cNvPr id="86" name="Shape 67"/>
          <p:cNvSpPr/>
          <p:nvPr/>
        </p:nvSpPr>
        <p:spPr>
          <a:xfrm>
            <a:off x="9859975" y="5047488"/>
            <a:ext cx="1874520" cy="0"/>
          </a:xfrm>
          <a:prstGeom prst="line">
            <a:avLst/>
          </a:prstGeom>
          <a:noFill/>
          <a:ln w="6350">
            <a:solidFill>
              <a:srgbClr val="FF812A"/>
            </a:solidFill>
            <a:prstDash val="sysDot"/>
          </a:ln>
        </p:spPr>
      </p:sp>
      <p:pic>
        <p:nvPicPr>
          <p:cNvPr id="8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78263" y="5148072"/>
            <a:ext cx="237744" cy="237744"/>
          </a:xfrm>
          <a:prstGeom prst="rect">
            <a:avLst/>
          </a:prstGeom>
        </p:spPr>
      </p:pic>
      <p:sp>
        <p:nvSpPr>
          <p:cNvPr id="88" name="Text 68"/>
          <p:cNvSpPr txBox="1"/>
          <p:nvPr/>
        </p:nvSpPr>
        <p:spPr>
          <a:xfrm>
            <a:off x="10207447" y="5056632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проверяет результат процедуры</a:t>
            </a:r>
            <a:endParaRPr lang="en-US" sz="1000" dirty="0"/>
          </a:p>
        </p:txBody>
      </p:sp>
      <p:sp>
        <p:nvSpPr>
          <p:cNvPr id="89" name="Shape 69"/>
          <p:cNvSpPr/>
          <p:nvPr/>
        </p:nvSpPr>
        <p:spPr>
          <a:xfrm>
            <a:off x="9859975" y="5486400"/>
            <a:ext cx="1874520" cy="0"/>
          </a:xfrm>
          <a:prstGeom prst="line">
            <a:avLst/>
          </a:prstGeom>
          <a:noFill/>
          <a:ln w="6350">
            <a:solidFill>
              <a:srgbClr val="FF812A"/>
            </a:solidFill>
            <a:prstDash val="sysDot"/>
          </a:ln>
        </p:spPr>
      </p:sp>
      <p:pic>
        <p:nvPicPr>
          <p:cNvPr id="9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78263" y="5586984"/>
            <a:ext cx="237744" cy="237744"/>
          </a:xfrm>
          <a:prstGeom prst="rect">
            <a:avLst/>
          </a:prstGeom>
        </p:spPr>
      </p:pic>
      <p:sp>
        <p:nvSpPr>
          <p:cNvPr id="91" name="Text 70"/>
          <p:cNvSpPr txBox="1"/>
          <p:nvPr/>
        </p:nvSpPr>
        <p:spPr>
          <a:xfrm>
            <a:off x="10207447" y="5495544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фиксирует success / fail</a:t>
            </a:r>
            <a:endParaRPr lang="en-US" sz="1000" dirty="0"/>
          </a:p>
        </p:txBody>
      </p:sp>
      <p:sp>
        <p:nvSpPr>
          <p:cNvPr id="92" name="Shape 71"/>
          <p:cNvSpPr/>
          <p:nvPr/>
        </p:nvSpPr>
        <p:spPr>
          <a:xfrm>
            <a:off x="2805836" y="27432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34EE6"/>
            </a:solidFill>
            <a:prstDash val="solid"/>
          </a:ln>
        </p:spPr>
      </p:sp>
      <p:pic>
        <p:nvPicPr>
          <p:cNvPr id="9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06420" y="2843784"/>
            <a:ext cx="256032" cy="256032"/>
          </a:xfrm>
          <a:prstGeom prst="rect">
            <a:avLst/>
          </a:prstGeom>
        </p:spPr>
      </p:pic>
      <p:sp>
        <p:nvSpPr>
          <p:cNvPr id="94" name="Text 72"/>
          <p:cNvSpPr txBox="1"/>
          <p:nvPr/>
        </p:nvSpPr>
        <p:spPr>
          <a:xfrm>
            <a:off x="2624328" y="3246120"/>
            <a:ext cx="820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включение UE</a:t>
            </a:r>
            <a:endParaRPr lang="en-US" sz="800" dirty="0"/>
          </a:p>
        </p:txBody>
      </p:sp>
      <p:sp>
        <p:nvSpPr>
          <p:cNvPr id="95" name="Shape 73"/>
          <p:cNvSpPr/>
          <p:nvPr/>
        </p:nvSpPr>
        <p:spPr>
          <a:xfrm>
            <a:off x="3281324" y="2971800"/>
            <a:ext cx="27157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96" name="Shape 74"/>
          <p:cNvSpPr/>
          <p:nvPr/>
        </p:nvSpPr>
        <p:spPr>
          <a:xfrm>
            <a:off x="3571189" y="27432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34EE6"/>
            </a:solidFill>
            <a:prstDash val="solid"/>
          </a:ln>
        </p:spPr>
      </p:sp>
      <p:pic>
        <p:nvPicPr>
          <p:cNvPr id="9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71773" y="2843784"/>
            <a:ext cx="256032" cy="256032"/>
          </a:xfrm>
          <a:prstGeom prst="rect">
            <a:avLst/>
          </a:prstGeom>
        </p:spPr>
      </p:pic>
      <p:sp>
        <p:nvSpPr>
          <p:cNvPr id="98" name="Text 75"/>
          <p:cNvSpPr txBox="1"/>
          <p:nvPr/>
        </p:nvSpPr>
        <p:spPr>
          <a:xfrm>
            <a:off x="3389681" y="3246120"/>
            <a:ext cx="820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выбор соты</a:t>
            </a:r>
            <a:endParaRPr lang="en-US" sz="800" dirty="0"/>
          </a:p>
        </p:txBody>
      </p:sp>
      <p:sp>
        <p:nvSpPr>
          <p:cNvPr id="99" name="Shape 76"/>
          <p:cNvSpPr/>
          <p:nvPr/>
        </p:nvSpPr>
        <p:spPr>
          <a:xfrm>
            <a:off x="4046677" y="2971800"/>
            <a:ext cx="27157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00" name="Shape 77"/>
          <p:cNvSpPr/>
          <p:nvPr/>
        </p:nvSpPr>
        <p:spPr>
          <a:xfrm>
            <a:off x="4336542" y="27432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34EE6"/>
            </a:solidFill>
            <a:prstDash val="solid"/>
          </a:ln>
        </p:spPr>
      </p:sp>
      <p:pic>
        <p:nvPicPr>
          <p:cNvPr id="10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37126" y="2843784"/>
            <a:ext cx="256032" cy="256032"/>
          </a:xfrm>
          <a:prstGeom prst="rect">
            <a:avLst/>
          </a:prstGeom>
        </p:spPr>
      </p:pic>
      <p:sp>
        <p:nvSpPr>
          <p:cNvPr id="102" name="Text 78"/>
          <p:cNvSpPr txBox="1"/>
          <p:nvPr/>
        </p:nvSpPr>
        <p:spPr>
          <a:xfrm>
            <a:off x="4155034" y="3246120"/>
            <a:ext cx="820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установление RRC-соединения</a:t>
            </a:r>
            <a:endParaRPr lang="en-US" sz="800" dirty="0"/>
          </a:p>
        </p:txBody>
      </p:sp>
      <p:sp>
        <p:nvSpPr>
          <p:cNvPr id="103" name="Shape 79"/>
          <p:cNvSpPr/>
          <p:nvPr/>
        </p:nvSpPr>
        <p:spPr>
          <a:xfrm>
            <a:off x="4812030" y="2971800"/>
            <a:ext cx="27157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04" name="Shape 80"/>
          <p:cNvSpPr/>
          <p:nvPr/>
        </p:nvSpPr>
        <p:spPr>
          <a:xfrm>
            <a:off x="5101895" y="27432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34EE6"/>
            </a:solidFill>
            <a:prstDash val="solid"/>
          </a:ln>
        </p:spPr>
      </p:sp>
      <p:pic>
        <p:nvPicPr>
          <p:cNvPr id="10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02479" y="2843784"/>
            <a:ext cx="256032" cy="256032"/>
          </a:xfrm>
          <a:prstGeom prst="rect">
            <a:avLst/>
          </a:prstGeom>
        </p:spPr>
      </p:pic>
      <p:sp>
        <p:nvSpPr>
          <p:cNvPr id="106" name="Text 81"/>
          <p:cNvSpPr txBox="1"/>
          <p:nvPr/>
        </p:nvSpPr>
        <p:spPr>
          <a:xfrm>
            <a:off x="4920386" y="3246120"/>
            <a:ext cx="820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регистрация</a:t>
            </a:r>
            <a:endParaRPr lang="en-US" sz="800" dirty="0"/>
          </a:p>
        </p:txBody>
      </p:sp>
      <p:sp>
        <p:nvSpPr>
          <p:cNvPr id="107" name="Shape 82"/>
          <p:cNvSpPr/>
          <p:nvPr/>
        </p:nvSpPr>
        <p:spPr>
          <a:xfrm>
            <a:off x="5577383" y="2971800"/>
            <a:ext cx="27157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08" name="Shape 83"/>
          <p:cNvSpPr/>
          <p:nvPr/>
        </p:nvSpPr>
        <p:spPr>
          <a:xfrm>
            <a:off x="5867248" y="27432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34EE6"/>
            </a:solidFill>
            <a:prstDash val="solid"/>
          </a:ln>
        </p:spPr>
      </p:sp>
      <p:pic>
        <p:nvPicPr>
          <p:cNvPr id="10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67832" y="2843784"/>
            <a:ext cx="256032" cy="256032"/>
          </a:xfrm>
          <a:prstGeom prst="rect">
            <a:avLst/>
          </a:prstGeom>
        </p:spPr>
      </p:pic>
      <p:sp>
        <p:nvSpPr>
          <p:cNvPr id="110" name="Text 84"/>
          <p:cNvSpPr txBox="1"/>
          <p:nvPr/>
        </p:nvSpPr>
        <p:spPr>
          <a:xfrm>
            <a:off x="5685739" y="3246120"/>
            <a:ext cx="820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аутентификация</a:t>
            </a:r>
            <a:endParaRPr lang="en-US" sz="800" dirty="0"/>
          </a:p>
        </p:txBody>
      </p:sp>
      <p:sp>
        <p:nvSpPr>
          <p:cNvPr id="111" name="Shape 85"/>
          <p:cNvSpPr/>
          <p:nvPr/>
        </p:nvSpPr>
        <p:spPr>
          <a:xfrm>
            <a:off x="6342736" y="2971800"/>
            <a:ext cx="27157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12" name="Shape 86"/>
          <p:cNvSpPr/>
          <p:nvPr/>
        </p:nvSpPr>
        <p:spPr>
          <a:xfrm>
            <a:off x="6632600" y="27432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34EE6"/>
            </a:solidFill>
            <a:prstDash val="solid"/>
          </a:ln>
        </p:spPr>
      </p:sp>
      <p:pic>
        <p:nvPicPr>
          <p:cNvPr id="11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33184" y="2843784"/>
            <a:ext cx="256032" cy="256032"/>
          </a:xfrm>
          <a:prstGeom prst="rect">
            <a:avLst/>
          </a:prstGeom>
        </p:spPr>
      </p:pic>
      <p:sp>
        <p:nvSpPr>
          <p:cNvPr id="114" name="Text 87"/>
          <p:cNvSpPr txBox="1"/>
          <p:nvPr/>
        </p:nvSpPr>
        <p:spPr>
          <a:xfrm>
            <a:off x="6451092" y="3246120"/>
            <a:ext cx="820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режим безопасности</a:t>
            </a:r>
            <a:endParaRPr lang="en-US" sz="800" dirty="0"/>
          </a:p>
        </p:txBody>
      </p:sp>
      <p:sp>
        <p:nvSpPr>
          <p:cNvPr id="115" name="Shape 88"/>
          <p:cNvSpPr/>
          <p:nvPr/>
        </p:nvSpPr>
        <p:spPr>
          <a:xfrm>
            <a:off x="7108088" y="2971800"/>
            <a:ext cx="27157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16" name="Shape 89"/>
          <p:cNvSpPr/>
          <p:nvPr/>
        </p:nvSpPr>
        <p:spPr>
          <a:xfrm>
            <a:off x="7397953" y="27432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34EE6"/>
            </a:solidFill>
            <a:prstDash val="solid"/>
          </a:ln>
        </p:spPr>
      </p:sp>
      <p:pic>
        <p:nvPicPr>
          <p:cNvPr id="11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98537" y="2843784"/>
            <a:ext cx="256032" cy="256032"/>
          </a:xfrm>
          <a:prstGeom prst="rect">
            <a:avLst/>
          </a:prstGeom>
        </p:spPr>
      </p:pic>
      <p:sp>
        <p:nvSpPr>
          <p:cNvPr id="118" name="Text 90"/>
          <p:cNvSpPr txBox="1"/>
          <p:nvPr/>
        </p:nvSpPr>
        <p:spPr>
          <a:xfrm>
            <a:off x="7216445" y="3246120"/>
            <a:ext cx="820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установление PDU Session</a:t>
            </a:r>
            <a:endParaRPr lang="en-US" sz="800" dirty="0"/>
          </a:p>
        </p:txBody>
      </p:sp>
      <p:sp>
        <p:nvSpPr>
          <p:cNvPr id="119" name="Shape 91"/>
          <p:cNvSpPr/>
          <p:nvPr/>
        </p:nvSpPr>
        <p:spPr>
          <a:xfrm>
            <a:off x="7873441" y="2971800"/>
            <a:ext cx="27157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20" name="Shape 92"/>
          <p:cNvSpPr/>
          <p:nvPr/>
        </p:nvSpPr>
        <p:spPr>
          <a:xfrm>
            <a:off x="8163306" y="27432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34EE6"/>
            </a:solidFill>
            <a:prstDash val="solid"/>
          </a:ln>
        </p:spPr>
      </p:sp>
      <p:pic>
        <p:nvPicPr>
          <p:cNvPr id="12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63890" y="2843784"/>
            <a:ext cx="256032" cy="256032"/>
          </a:xfrm>
          <a:prstGeom prst="rect">
            <a:avLst/>
          </a:prstGeom>
        </p:spPr>
      </p:pic>
      <p:sp>
        <p:nvSpPr>
          <p:cNvPr id="122" name="Text 93"/>
          <p:cNvSpPr txBox="1"/>
          <p:nvPr/>
        </p:nvSpPr>
        <p:spPr>
          <a:xfrm>
            <a:off x="7981798" y="3246120"/>
            <a:ext cx="820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IP-связность</a:t>
            </a:r>
            <a:endParaRPr lang="en-US" sz="800" dirty="0"/>
          </a:p>
        </p:txBody>
      </p:sp>
      <p:sp>
        <p:nvSpPr>
          <p:cNvPr id="123" name="Shape 94"/>
          <p:cNvSpPr/>
          <p:nvPr/>
        </p:nvSpPr>
        <p:spPr>
          <a:xfrm>
            <a:off x="8638794" y="2971800"/>
            <a:ext cx="271577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24" name="Shape 95"/>
          <p:cNvSpPr/>
          <p:nvPr/>
        </p:nvSpPr>
        <p:spPr>
          <a:xfrm>
            <a:off x="8928659" y="27432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34EE6"/>
            </a:solidFill>
            <a:prstDash val="solid"/>
          </a:ln>
        </p:spPr>
      </p:sp>
      <p:pic>
        <p:nvPicPr>
          <p:cNvPr id="125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29243" y="2843784"/>
            <a:ext cx="256032" cy="256032"/>
          </a:xfrm>
          <a:prstGeom prst="rect">
            <a:avLst/>
          </a:prstGeom>
        </p:spPr>
      </p:pic>
      <p:sp>
        <p:nvSpPr>
          <p:cNvPr id="126" name="Text 96"/>
          <p:cNvSpPr txBox="1"/>
          <p:nvPr/>
        </p:nvSpPr>
        <p:spPr>
          <a:xfrm>
            <a:off x="8747150" y="3246120"/>
            <a:ext cx="8202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доступ к базовому сервису</a:t>
            </a:r>
            <a:endParaRPr lang="en-US" sz="800" dirty="0"/>
          </a:p>
        </p:txBody>
      </p:sp>
      <p:sp>
        <p:nvSpPr>
          <p:cNvPr id="127" name="Shape 97"/>
          <p:cNvSpPr/>
          <p:nvPr/>
        </p:nvSpPr>
        <p:spPr>
          <a:xfrm>
            <a:off x="2651760" y="3840480"/>
            <a:ext cx="6888175" cy="2194560"/>
          </a:xfrm>
          <a:prstGeom prst="roundRect">
            <a:avLst>
              <a:gd name="adj" fmla="val 3333"/>
            </a:avLst>
          </a:prstGeom>
          <a:solidFill>
            <a:srgbClr val="F4FBF6"/>
          </a:solidFill>
          <a:ln w="15875">
            <a:solidFill>
              <a:srgbClr val="2E9B57"/>
            </a:solidFill>
            <a:prstDash val="solid"/>
          </a:ln>
        </p:spPr>
      </p:sp>
      <p:sp>
        <p:nvSpPr>
          <p:cNvPr id="128" name="Shape 98"/>
          <p:cNvSpPr/>
          <p:nvPr/>
        </p:nvSpPr>
        <p:spPr>
          <a:xfrm>
            <a:off x="2651760" y="3840480"/>
            <a:ext cx="6888175" cy="347472"/>
          </a:xfrm>
          <a:prstGeom prst="roundRect">
            <a:avLst>
              <a:gd name="adj" fmla="val 21053"/>
            </a:avLst>
          </a:prstGeom>
          <a:solidFill>
            <a:srgbClr val="E3F3E9"/>
          </a:solidFill>
          <a:ln/>
        </p:spPr>
      </p:sp>
      <p:sp>
        <p:nvSpPr>
          <p:cNvPr id="129" name="Text 99"/>
          <p:cNvSpPr txBox="1"/>
          <p:nvPr/>
        </p:nvSpPr>
        <p:spPr>
          <a:xfrm>
            <a:off x="2651760" y="3840480"/>
            <a:ext cx="6888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E9B5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Критерий успеха</a:t>
            </a:r>
            <a:endParaRPr lang="en-US" sz="1300" dirty="0"/>
          </a:p>
        </p:txBody>
      </p:sp>
      <p:pic>
        <p:nvPicPr>
          <p:cNvPr id="1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843784" y="4453128"/>
            <a:ext cx="219456" cy="219456"/>
          </a:xfrm>
          <a:prstGeom prst="rect">
            <a:avLst/>
          </a:prstGeom>
        </p:spPr>
      </p:pic>
      <p:sp>
        <p:nvSpPr>
          <p:cNvPr id="131" name="Text 100"/>
          <p:cNvSpPr txBox="1"/>
          <p:nvPr/>
        </p:nvSpPr>
        <p:spPr>
          <a:xfrm>
            <a:off x="3136392" y="4343400"/>
            <a:ext cx="17931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UE подключено к сети</a:t>
            </a:r>
            <a:endParaRPr lang="en-US" sz="1100" dirty="0"/>
          </a:p>
        </p:txBody>
      </p:sp>
      <p:pic>
        <p:nvPicPr>
          <p:cNvPr id="132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843784" y="5276088"/>
            <a:ext cx="219456" cy="219456"/>
          </a:xfrm>
          <a:prstGeom prst="rect">
            <a:avLst/>
          </a:prstGeom>
        </p:spPr>
      </p:pic>
      <p:sp>
        <p:nvSpPr>
          <p:cNvPr id="133" name="Text 101"/>
          <p:cNvSpPr txBox="1"/>
          <p:nvPr/>
        </p:nvSpPr>
        <p:spPr>
          <a:xfrm>
            <a:off x="3136392" y="5166360"/>
            <a:ext cx="17931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RRC установлен</a:t>
            </a:r>
            <a:endParaRPr lang="en-US" sz="1100" dirty="0"/>
          </a:p>
        </p:txBody>
      </p:sp>
      <p:sp>
        <p:nvSpPr>
          <p:cNvPr id="134" name="Shape 102"/>
          <p:cNvSpPr/>
          <p:nvPr/>
        </p:nvSpPr>
        <p:spPr>
          <a:xfrm>
            <a:off x="4956962" y="4343400"/>
            <a:ext cx="0" cy="1554480"/>
          </a:xfrm>
          <a:prstGeom prst="line">
            <a:avLst/>
          </a:prstGeom>
          <a:noFill/>
          <a:ln w="6350">
            <a:solidFill>
              <a:srgbClr val="2E9B57"/>
            </a:solidFill>
            <a:prstDash val="sysDot"/>
          </a:ln>
        </p:spPr>
      </p:sp>
      <p:pic>
        <p:nvPicPr>
          <p:cNvPr id="13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048402" y="4453128"/>
            <a:ext cx="219456" cy="219456"/>
          </a:xfrm>
          <a:prstGeom prst="rect">
            <a:avLst/>
          </a:prstGeom>
        </p:spPr>
      </p:pic>
      <p:sp>
        <p:nvSpPr>
          <p:cNvPr id="136" name="Text 103"/>
          <p:cNvSpPr txBox="1"/>
          <p:nvPr/>
        </p:nvSpPr>
        <p:spPr>
          <a:xfrm>
            <a:off x="5341010" y="4343400"/>
            <a:ext cx="17931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Registration успешна</a:t>
            </a:r>
            <a:endParaRPr lang="en-US" sz="1100" dirty="0"/>
          </a:p>
        </p:txBody>
      </p:sp>
      <p:pic>
        <p:nvPicPr>
          <p:cNvPr id="137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48402" y="5276088"/>
            <a:ext cx="219456" cy="219456"/>
          </a:xfrm>
          <a:prstGeom prst="rect">
            <a:avLst/>
          </a:prstGeom>
        </p:spPr>
      </p:pic>
      <p:sp>
        <p:nvSpPr>
          <p:cNvPr id="138" name="Text 104"/>
          <p:cNvSpPr txBox="1"/>
          <p:nvPr/>
        </p:nvSpPr>
        <p:spPr>
          <a:xfrm>
            <a:off x="5341010" y="5166360"/>
            <a:ext cx="17931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PDU Session создана</a:t>
            </a:r>
            <a:endParaRPr lang="en-US" sz="1100" dirty="0"/>
          </a:p>
        </p:txBody>
      </p:sp>
      <p:sp>
        <p:nvSpPr>
          <p:cNvPr id="139" name="Shape 105"/>
          <p:cNvSpPr/>
          <p:nvPr/>
        </p:nvSpPr>
        <p:spPr>
          <a:xfrm>
            <a:off x="7161581" y="4343400"/>
            <a:ext cx="0" cy="1554480"/>
          </a:xfrm>
          <a:prstGeom prst="line">
            <a:avLst/>
          </a:prstGeom>
          <a:noFill/>
          <a:ln w="6350">
            <a:solidFill>
              <a:srgbClr val="2E9B57"/>
            </a:solidFill>
            <a:prstDash val="sysDot"/>
          </a:ln>
        </p:spPr>
      </p:sp>
      <p:pic>
        <p:nvPicPr>
          <p:cNvPr id="140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253021" y="4453128"/>
            <a:ext cx="219456" cy="219456"/>
          </a:xfrm>
          <a:prstGeom prst="rect">
            <a:avLst/>
          </a:prstGeom>
        </p:spPr>
      </p:pic>
      <p:sp>
        <p:nvSpPr>
          <p:cNvPr id="141" name="Text 106"/>
          <p:cNvSpPr txBox="1"/>
          <p:nvPr/>
        </p:nvSpPr>
        <p:spPr>
          <a:xfrm>
            <a:off x="7545629" y="4343400"/>
            <a:ext cx="17931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IP-связность есть</a:t>
            </a:r>
            <a:endParaRPr lang="en-US" sz="1100" dirty="0"/>
          </a:p>
        </p:txBody>
      </p:sp>
      <p:pic>
        <p:nvPicPr>
          <p:cNvPr id="142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253021" y="5276088"/>
            <a:ext cx="219456" cy="219456"/>
          </a:xfrm>
          <a:prstGeom prst="rect">
            <a:avLst/>
          </a:prstGeom>
        </p:spPr>
      </p:pic>
      <p:sp>
        <p:nvSpPr>
          <p:cNvPr id="143" name="Text 107"/>
          <p:cNvSpPr txBox="1"/>
          <p:nvPr/>
        </p:nvSpPr>
        <p:spPr>
          <a:xfrm>
            <a:off x="7545629" y="5166360"/>
            <a:ext cx="17931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базовый сервис доступен</a:t>
            </a:r>
            <a:endParaRPr lang="en-US" sz="1100" dirty="0"/>
          </a:p>
        </p:txBody>
      </p:sp>
      <p:sp>
        <p:nvSpPr>
          <p:cNvPr id="144" name="Shape 108"/>
          <p:cNvSpPr/>
          <p:nvPr/>
        </p:nvSpPr>
        <p:spPr>
          <a:xfrm>
            <a:off x="274320" y="6163056"/>
            <a:ext cx="11643055" cy="548640"/>
          </a:xfrm>
          <a:prstGeom prst="roundRect">
            <a:avLst>
              <a:gd name="adj" fmla="val 16667"/>
            </a:avLst>
          </a:prstGeom>
          <a:solidFill>
            <a:srgbClr val="F9F9FF"/>
          </a:solidFill>
          <a:ln w="19050">
            <a:solidFill>
              <a:srgbClr val="534EE6"/>
            </a:solidFill>
            <a:prstDash val="solid"/>
          </a:ln>
        </p:spPr>
      </p:sp>
      <p:pic>
        <p:nvPicPr>
          <p:cNvPr id="145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640" y="6254496"/>
            <a:ext cx="365760" cy="365760"/>
          </a:xfrm>
          <a:prstGeom prst="rect">
            <a:avLst/>
          </a:prstGeom>
        </p:spPr>
      </p:pic>
      <p:sp>
        <p:nvSpPr>
          <p:cNvPr id="146" name="Text 109"/>
          <p:cNvSpPr txBox="1"/>
          <p:nvPr/>
        </p:nvSpPr>
        <p:spPr>
          <a:xfrm>
            <a:off x="1188720" y="6181344"/>
            <a:ext cx="9814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При функциональном тестировании DUT — это UE, а сеть вокруг него воспроизводится тестовой системой в контролируемом сценарии.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430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Тестирование SIM-карты: USIM, UICC, eSIM, аутентификация и профиль абонента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58368"/>
            <a:ext cx="3383280" cy="347472"/>
          </a:xfrm>
          <a:prstGeom prst="roundRect">
            <a:avLst>
              <a:gd name="adj" fmla="val 21053"/>
            </a:avLst>
          </a:prstGeom>
          <a:solidFill>
            <a:srgbClr val="FF81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6583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Проверка карты и профиля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607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Типы средств: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5306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1324508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тестер USIM / UICC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019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1539392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считыватель смарт-карт</a:t>
            </a:r>
            <a:endParaRPr lang="en-US" sz="10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507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1520" y="1754276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анализатор APDU-команд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4995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31520" y="1969160"/>
            <a:ext cx="2788920" cy="324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система тестирования соответствия USIM / USAT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09317"/>
            <a:ext cx="182880" cy="1828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31520" y="2328520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инструмент проверки eSIM-профиля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457200" y="2544775"/>
            <a:ext cx="301752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sp>
        <p:nvSpPr>
          <p:cNvPr id="18" name="Text 11"/>
          <p:cNvSpPr txBox="1"/>
          <p:nvPr/>
        </p:nvSpPr>
        <p:spPr>
          <a:xfrm>
            <a:off x="457200" y="2581351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проверяет: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825953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31520" y="2845156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структура файлов UICC</a:t>
            </a:r>
            <a:endParaRPr lang="en-US" sz="10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040837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31520" y="3060040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доступность USIM application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255721"/>
            <a:ext cx="182880" cy="18288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31520" y="3274924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корректность IMSI / SUPI</a:t>
            </a:r>
            <a:endParaRPr lang="en-US" sz="10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470605"/>
            <a:ext cx="182880" cy="18288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731520" y="3489808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параметры PLMN</a:t>
            </a:r>
            <a:endParaRPr lang="en-US" sz="10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685489"/>
            <a:ext cx="182880" cy="18288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731520" y="3704692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DNN / APN provisioning</a:t>
            </a:r>
            <a:endParaRPr lang="en-US" sz="10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900373"/>
            <a:ext cx="182880" cy="18288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731520" y="3919576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IMS provisioning</a:t>
            </a:r>
            <a:endParaRPr lang="en-US" sz="10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115257"/>
            <a:ext cx="182880" cy="182880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731520" y="4134460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USAT commands</a:t>
            </a:r>
            <a:endParaRPr lang="en-US" sz="100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330141"/>
            <a:ext cx="182880" cy="182880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731520" y="4349344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PIN / access conditions</a:t>
            </a:r>
            <a:endParaRPr lang="en-US" sz="1000" dirty="0"/>
          </a:p>
        </p:txBody>
      </p:sp>
      <p:sp>
        <p:nvSpPr>
          <p:cNvPr id="35" name="Shape 20"/>
          <p:cNvSpPr/>
          <p:nvPr/>
        </p:nvSpPr>
        <p:spPr>
          <a:xfrm>
            <a:off x="8534095" y="658368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36" name="Shape 21"/>
          <p:cNvSpPr/>
          <p:nvPr/>
        </p:nvSpPr>
        <p:spPr>
          <a:xfrm>
            <a:off x="8534095" y="658368"/>
            <a:ext cx="3383280" cy="347472"/>
          </a:xfrm>
          <a:prstGeom prst="roundRect">
            <a:avLst>
              <a:gd name="adj" fmla="val 21053"/>
            </a:avLst>
          </a:prstGeom>
          <a:solidFill>
            <a:srgbClr val="FF812A"/>
          </a:solidFill>
          <a:ln/>
        </p:spPr>
      </p:sp>
      <p:sp>
        <p:nvSpPr>
          <p:cNvPr id="37" name="Text 22"/>
          <p:cNvSpPr txBox="1"/>
          <p:nvPr/>
        </p:nvSpPr>
        <p:spPr>
          <a:xfrm>
            <a:off x="8534095" y="6583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Проверка в сетевом сценарии</a:t>
            </a:r>
            <a:endParaRPr lang="en-US" sz="1300" dirty="0"/>
          </a:p>
        </p:txBody>
      </p:sp>
      <p:sp>
        <p:nvSpPr>
          <p:cNvPr id="38" name="Text 23"/>
          <p:cNvSpPr txBox="1"/>
          <p:nvPr/>
        </p:nvSpPr>
        <p:spPr>
          <a:xfrm>
            <a:off x="8716975" y="10607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Типы средств:</a:t>
            </a:r>
            <a:endParaRPr lang="en-US" sz="105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16975" y="1305306"/>
            <a:ext cx="182880" cy="182880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8991295" y="1324508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сети LTE / NR</a:t>
            </a:r>
            <a:endParaRPr lang="en-US" sz="100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16975" y="1520190"/>
            <a:ext cx="182880" cy="182880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8991295" y="1539392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callbox</a:t>
            </a:r>
            <a:endParaRPr lang="en-US" sz="100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16975" y="1735074"/>
            <a:ext cx="182880" cy="182880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8991295" y="1754276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Core</a:t>
            </a:r>
            <a:endParaRPr lang="en-US" sz="100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16975" y="1949958"/>
            <a:ext cx="182880" cy="182880"/>
          </a:xfrm>
          <a:prstGeom prst="rect">
            <a:avLst/>
          </a:prstGeom>
        </p:spPr>
      </p:pic>
      <p:sp>
        <p:nvSpPr>
          <p:cNvPr id="46" name="Text 27"/>
          <p:cNvSpPr txBox="1"/>
          <p:nvPr/>
        </p:nvSpPr>
        <p:spPr>
          <a:xfrm>
            <a:off x="8991295" y="1969160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HSS / UDM / AUSF</a:t>
            </a:r>
            <a:endParaRPr lang="en-US" sz="1000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16975" y="2164842"/>
            <a:ext cx="182880" cy="182880"/>
          </a:xfrm>
          <a:prstGeom prst="rect">
            <a:avLst/>
          </a:prstGeom>
        </p:spPr>
      </p:pic>
      <p:sp>
        <p:nvSpPr>
          <p:cNvPr id="48" name="Text 28"/>
          <p:cNvSpPr txBox="1"/>
          <p:nvPr/>
        </p:nvSpPr>
        <p:spPr>
          <a:xfrm>
            <a:off x="8991295" y="2184044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protocol trace analyzer</a:t>
            </a:r>
            <a:endParaRPr lang="en-US" sz="1000" dirty="0"/>
          </a:p>
        </p:txBody>
      </p:sp>
      <p:sp>
        <p:nvSpPr>
          <p:cNvPr id="49" name="Shape 29"/>
          <p:cNvSpPr/>
          <p:nvPr/>
        </p:nvSpPr>
        <p:spPr>
          <a:xfrm>
            <a:off x="8716975" y="2400300"/>
            <a:ext cx="301752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sp>
        <p:nvSpPr>
          <p:cNvPr id="50" name="Text 30"/>
          <p:cNvSpPr txBox="1"/>
          <p:nvPr/>
        </p:nvSpPr>
        <p:spPr>
          <a:xfrm>
            <a:off x="8716975" y="243687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проверяет:</a:t>
            </a:r>
            <a:endParaRPr lang="en-US" sz="1050" dirty="0"/>
          </a:p>
        </p:txBody>
      </p:sp>
      <p:pic>
        <p:nvPicPr>
          <p:cNvPr id="5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16975" y="2681478"/>
            <a:ext cx="182880" cy="182880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8991295" y="2700680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выбор PLMN</a:t>
            </a:r>
            <a:endParaRPr lang="en-US" sz="1000" dirty="0"/>
          </a:p>
        </p:txBody>
      </p:sp>
      <p:pic>
        <p:nvPicPr>
          <p:cNvPr id="5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16975" y="2896362"/>
            <a:ext cx="182880" cy="182880"/>
          </a:xfrm>
          <a:prstGeom prst="rect">
            <a:avLst/>
          </a:prstGeom>
        </p:spPr>
      </p:pic>
      <p:sp>
        <p:nvSpPr>
          <p:cNvPr id="54" name="Text 32"/>
          <p:cNvSpPr txBox="1"/>
          <p:nvPr/>
        </p:nvSpPr>
        <p:spPr>
          <a:xfrm>
            <a:off x="8991295" y="2915564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регистрация</a:t>
            </a:r>
            <a:endParaRPr lang="en-US" sz="1000" dirty="0"/>
          </a:p>
        </p:txBody>
      </p:sp>
      <p:pic>
        <p:nvPicPr>
          <p:cNvPr id="5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16975" y="3111246"/>
            <a:ext cx="182880" cy="182880"/>
          </a:xfrm>
          <a:prstGeom prst="rect">
            <a:avLst/>
          </a:prstGeom>
        </p:spPr>
      </p:pic>
      <p:sp>
        <p:nvSpPr>
          <p:cNvPr id="56" name="Text 33"/>
          <p:cNvSpPr txBox="1"/>
          <p:nvPr/>
        </p:nvSpPr>
        <p:spPr>
          <a:xfrm>
            <a:off x="8991295" y="3130448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аутентификация AKA</a:t>
            </a:r>
            <a:endParaRPr lang="en-US" sz="1000" dirty="0"/>
          </a:p>
        </p:txBody>
      </p:sp>
      <p:pic>
        <p:nvPicPr>
          <p:cNvPr id="5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16975" y="3326130"/>
            <a:ext cx="182880" cy="182880"/>
          </a:xfrm>
          <a:prstGeom prst="rect">
            <a:avLst/>
          </a:prstGeom>
        </p:spPr>
      </p:pic>
      <p:sp>
        <p:nvSpPr>
          <p:cNvPr id="58" name="Text 34"/>
          <p:cNvSpPr txBox="1"/>
          <p:nvPr/>
        </p:nvSpPr>
        <p:spPr>
          <a:xfrm>
            <a:off x="8991295" y="3345332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security mode</a:t>
            </a:r>
            <a:endParaRPr lang="en-US" sz="1000" dirty="0"/>
          </a:p>
        </p:txBody>
      </p:sp>
      <p:pic>
        <p:nvPicPr>
          <p:cNvPr id="5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16975" y="3541014"/>
            <a:ext cx="182880" cy="182880"/>
          </a:xfrm>
          <a:prstGeom prst="rect">
            <a:avLst/>
          </a:prstGeom>
        </p:spPr>
      </p:pic>
      <p:sp>
        <p:nvSpPr>
          <p:cNvPr id="60" name="Text 35"/>
          <p:cNvSpPr txBox="1"/>
          <p:nvPr/>
        </p:nvSpPr>
        <p:spPr>
          <a:xfrm>
            <a:off x="8991295" y="3560216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PDU Session</a:t>
            </a:r>
            <a:endParaRPr lang="en-US" sz="1000" dirty="0"/>
          </a:p>
        </p:txBody>
      </p:sp>
      <p:pic>
        <p:nvPicPr>
          <p:cNvPr id="6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16975" y="3755898"/>
            <a:ext cx="182880" cy="182880"/>
          </a:xfrm>
          <a:prstGeom prst="rect">
            <a:avLst/>
          </a:prstGeom>
        </p:spPr>
      </p:pic>
      <p:sp>
        <p:nvSpPr>
          <p:cNvPr id="62" name="Text 36"/>
          <p:cNvSpPr txBox="1"/>
          <p:nvPr/>
        </p:nvSpPr>
        <p:spPr>
          <a:xfrm>
            <a:off x="8991295" y="3775100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DNN / APN access</a:t>
            </a:r>
            <a:endParaRPr lang="en-US" sz="1000" dirty="0"/>
          </a:p>
        </p:txBody>
      </p:sp>
      <p:pic>
        <p:nvPicPr>
          <p:cNvPr id="6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16975" y="3970782"/>
            <a:ext cx="182880" cy="182880"/>
          </a:xfrm>
          <a:prstGeom prst="rect">
            <a:avLst/>
          </a:prstGeom>
        </p:spPr>
      </p:pic>
      <p:sp>
        <p:nvSpPr>
          <p:cNvPr id="64" name="Text 37"/>
          <p:cNvSpPr txBox="1"/>
          <p:nvPr/>
        </p:nvSpPr>
        <p:spPr>
          <a:xfrm>
            <a:off x="8991295" y="3989984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roaming behavior</a:t>
            </a:r>
            <a:endParaRPr lang="en-US" sz="1000" dirty="0"/>
          </a:p>
        </p:txBody>
      </p:sp>
      <p:pic>
        <p:nvPicPr>
          <p:cNvPr id="6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716975" y="4185666"/>
            <a:ext cx="182880" cy="182880"/>
          </a:xfrm>
          <a:prstGeom prst="rect">
            <a:avLst/>
          </a:prstGeom>
        </p:spPr>
      </p:pic>
      <p:sp>
        <p:nvSpPr>
          <p:cNvPr id="66" name="Text 38"/>
          <p:cNvSpPr txBox="1"/>
          <p:nvPr/>
        </p:nvSpPr>
        <p:spPr>
          <a:xfrm>
            <a:off x="8991295" y="4204868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IMS registration</a:t>
            </a:r>
            <a:endParaRPr lang="en-US" sz="1000" dirty="0"/>
          </a:p>
        </p:txBody>
      </p:sp>
      <p:pic>
        <p:nvPicPr>
          <p:cNvPr id="67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16975" y="4400550"/>
            <a:ext cx="182880" cy="182880"/>
          </a:xfrm>
          <a:prstGeom prst="rect">
            <a:avLst/>
          </a:prstGeom>
        </p:spPr>
      </p:pic>
      <p:sp>
        <p:nvSpPr>
          <p:cNvPr id="68" name="Text 39"/>
          <p:cNvSpPr txBox="1"/>
          <p:nvPr/>
        </p:nvSpPr>
        <p:spPr>
          <a:xfrm>
            <a:off x="8991295" y="4419752"/>
            <a:ext cx="2788920" cy="17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reject causes</a:t>
            </a:r>
            <a:endParaRPr lang="en-US" sz="1000" dirty="0"/>
          </a:p>
        </p:txBody>
      </p:sp>
      <p:sp>
        <p:nvSpPr>
          <p:cNvPr id="69" name="Shape 40"/>
          <p:cNvSpPr/>
          <p:nvPr/>
        </p:nvSpPr>
        <p:spPr>
          <a:xfrm>
            <a:off x="3858768" y="658368"/>
            <a:ext cx="4474159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22225">
            <a:solidFill>
              <a:srgbClr val="534EE6"/>
            </a:solidFill>
            <a:prstDash val="solid"/>
          </a:ln>
        </p:spPr>
      </p:sp>
      <p:sp>
        <p:nvSpPr>
          <p:cNvPr id="70" name="Shape 41"/>
          <p:cNvSpPr/>
          <p:nvPr/>
        </p:nvSpPr>
        <p:spPr>
          <a:xfrm>
            <a:off x="3858768" y="658368"/>
            <a:ext cx="4474159" cy="365760"/>
          </a:xfrm>
          <a:prstGeom prst="roundRect">
            <a:avLst>
              <a:gd name="adj" fmla="val 20000"/>
            </a:avLst>
          </a:prstGeom>
          <a:solidFill>
            <a:srgbClr val="534EE6"/>
          </a:solidFill>
          <a:ln/>
        </p:spPr>
      </p:sp>
      <p:sp>
        <p:nvSpPr>
          <p:cNvPr id="71" name="Text 42"/>
          <p:cNvSpPr txBox="1"/>
          <p:nvPr/>
        </p:nvSpPr>
        <p:spPr>
          <a:xfrm>
            <a:off x="3858768" y="658368"/>
            <a:ext cx="44741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SIM / USIM / eSIM как DUT</a:t>
            </a:r>
            <a:endParaRPr lang="en-US" sz="1350" dirty="0"/>
          </a:p>
        </p:txBody>
      </p:sp>
      <p:pic>
        <p:nvPicPr>
          <p:cNvPr id="7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133088" y="1097280"/>
            <a:ext cx="164592" cy="164592"/>
          </a:xfrm>
          <a:prstGeom prst="rect">
            <a:avLst/>
          </a:prstGeom>
        </p:spPr>
      </p:pic>
      <p:sp>
        <p:nvSpPr>
          <p:cNvPr id="73" name="Text 43"/>
          <p:cNvSpPr txBox="1"/>
          <p:nvPr/>
        </p:nvSpPr>
        <p:spPr>
          <a:xfrm>
            <a:off x="4425696" y="1078992"/>
            <a:ext cx="374263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идентификатор абонента (IMSI / SUPI)</a:t>
            </a:r>
            <a:endParaRPr lang="en-US" sz="1050" dirty="0"/>
          </a:p>
        </p:txBody>
      </p:sp>
      <p:sp>
        <p:nvSpPr>
          <p:cNvPr id="74" name="Shape 44"/>
          <p:cNvSpPr/>
          <p:nvPr/>
        </p:nvSpPr>
        <p:spPr>
          <a:xfrm>
            <a:off x="4133088" y="1278331"/>
            <a:ext cx="3925519" cy="0"/>
          </a:xfrm>
          <a:prstGeom prst="line">
            <a:avLst/>
          </a:prstGeom>
          <a:noFill/>
          <a:ln w="9525">
            <a:solidFill>
              <a:srgbClr val="EEEDFD"/>
            </a:solidFill>
            <a:prstDash val="solid"/>
          </a:ln>
        </p:spPr>
      </p:sp>
      <p:pic>
        <p:nvPicPr>
          <p:cNvPr id="7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133088" y="1298448"/>
            <a:ext cx="164592" cy="164592"/>
          </a:xfrm>
          <a:prstGeom prst="rect">
            <a:avLst/>
          </a:prstGeom>
        </p:spPr>
      </p:pic>
      <p:sp>
        <p:nvSpPr>
          <p:cNvPr id="76" name="Text 45"/>
          <p:cNvSpPr txBox="1"/>
          <p:nvPr/>
        </p:nvSpPr>
        <p:spPr>
          <a:xfrm>
            <a:off x="4425696" y="1280160"/>
            <a:ext cx="374263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скрытый идентификатор (SUCI)</a:t>
            </a:r>
            <a:endParaRPr lang="en-US" sz="1050" dirty="0"/>
          </a:p>
        </p:txBody>
      </p:sp>
      <p:sp>
        <p:nvSpPr>
          <p:cNvPr id="77" name="Shape 46"/>
          <p:cNvSpPr/>
          <p:nvPr/>
        </p:nvSpPr>
        <p:spPr>
          <a:xfrm>
            <a:off x="4133088" y="1479499"/>
            <a:ext cx="3925519" cy="0"/>
          </a:xfrm>
          <a:prstGeom prst="line">
            <a:avLst/>
          </a:prstGeom>
          <a:noFill/>
          <a:ln w="9525">
            <a:solidFill>
              <a:srgbClr val="EEEDFD"/>
            </a:solidFill>
            <a:prstDash val="solid"/>
          </a:ln>
        </p:spPr>
      </p:sp>
      <p:pic>
        <p:nvPicPr>
          <p:cNvPr id="78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133088" y="1499616"/>
            <a:ext cx="164592" cy="164592"/>
          </a:xfrm>
          <a:prstGeom prst="rect">
            <a:avLst/>
          </a:prstGeom>
        </p:spPr>
      </p:pic>
      <p:sp>
        <p:nvSpPr>
          <p:cNvPr id="79" name="Text 47"/>
          <p:cNvSpPr txBox="1"/>
          <p:nvPr/>
        </p:nvSpPr>
        <p:spPr>
          <a:xfrm>
            <a:off x="4425696" y="1481328"/>
            <a:ext cx="374263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домашняя сеть (HPLMN)</a:t>
            </a:r>
            <a:endParaRPr lang="en-US" sz="1050" dirty="0"/>
          </a:p>
        </p:txBody>
      </p:sp>
      <p:sp>
        <p:nvSpPr>
          <p:cNvPr id="80" name="Shape 48"/>
          <p:cNvSpPr/>
          <p:nvPr/>
        </p:nvSpPr>
        <p:spPr>
          <a:xfrm>
            <a:off x="4133088" y="1680667"/>
            <a:ext cx="3925519" cy="0"/>
          </a:xfrm>
          <a:prstGeom prst="line">
            <a:avLst/>
          </a:prstGeom>
          <a:noFill/>
          <a:ln w="9525">
            <a:solidFill>
              <a:srgbClr val="EEEDFD"/>
            </a:solidFill>
            <a:prstDash val="solid"/>
          </a:ln>
        </p:spPr>
      </p:sp>
      <p:pic>
        <p:nvPicPr>
          <p:cNvPr id="81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133088" y="1700784"/>
            <a:ext cx="164592" cy="164592"/>
          </a:xfrm>
          <a:prstGeom prst="rect">
            <a:avLst/>
          </a:prstGeom>
        </p:spPr>
      </p:pic>
      <p:sp>
        <p:nvSpPr>
          <p:cNvPr id="82" name="Text 49"/>
          <p:cNvSpPr txBox="1"/>
          <p:nvPr/>
        </p:nvSpPr>
        <p:spPr>
          <a:xfrm>
            <a:off x="4425696" y="1682496"/>
            <a:ext cx="374263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секретный ключ (K)</a:t>
            </a:r>
            <a:endParaRPr lang="en-US" sz="1050" dirty="0"/>
          </a:p>
        </p:txBody>
      </p:sp>
      <p:sp>
        <p:nvSpPr>
          <p:cNvPr id="83" name="Shape 50"/>
          <p:cNvSpPr/>
          <p:nvPr/>
        </p:nvSpPr>
        <p:spPr>
          <a:xfrm>
            <a:off x="4133088" y="1881835"/>
            <a:ext cx="3925519" cy="0"/>
          </a:xfrm>
          <a:prstGeom prst="line">
            <a:avLst/>
          </a:prstGeom>
          <a:noFill/>
          <a:ln w="9525">
            <a:solidFill>
              <a:srgbClr val="EEEDFD"/>
            </a:solidFill>
            <a:prstDash val="solid"/>
          </a:ln>
        </p:spPr>
      </p:sp>
      <p:pic>
        <p:nvPicPr>
          <p:cNvPr id="8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133088" y="1901952"/>
            <a:ext cx="164592" cy="164592"/>
          </a:xfrm>
          <a:prstGeom prst="rect">
            <a:avLst/>
          </a:prstGeom>
        </p:spPr>
      </p:pic>
      <p:sp>
        <p:nvSpPr>
          <p:cNvPr id="85" name="Text 51"/>
          <p:cNvSpPr txBox="1"/>
          <p:nvPr/>
        </p:nvSpPr>
        <p:spPr>
          <a:xfrm>
            <a:off x="4425696" y="1883664"/>
            <a:ext cx="374263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параметры AKA</a:t>
            </a:r>
            <a:endParaRPr lang="en-US" sz="1050" dirty="0"/>
          </a:p>
        </p:txBody>
      </p:sp>
      <p:sp>
        <p:nvSpPr>
          <p:cNvPr id="86" name="Shape 52"/>
          <p:cNvSpPr/>
          <p:nvPr/>
        </p:nvSpPr>
        <p:spPr>
          <a:xfrm>
            <a:off x="4133088" y="2083003"/>
            <a:ext cx="3925519" cy="0"/>
          </a:xfrm>
          <a:prstGeom prst="line">
            <a:avLst/>
          </a:prstGeom>
          <a:noFill/>
          <a:ln w="9525">
            <a:solidFill>
              <a:srgbClr val="EEEDFD"/>
            </a:solidFill>
            <a:prstDash val="solid"/>
          </a:ln>
        </p:spPr>
      </p:sp>
      <p:pic>
        <p:nvPicPr>
          <p:cNvPr id="8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133088" y="2103120"/>
            <a:ext cx="164592" cy="164592"/>
          </a:xfrm>
          <a:prstGeom prst="rect">
            <a:avLst/>
          </a:prstGeom>
        </p:spPr>
      </p:pic>
      <p:sp>
        <p:nvSpPr>
          <p:cNvPr id="88" name="Text 53"/>
          <p:cNvSpPr txBox="1"/>
          <p:nvPr/>
        </p:nvSpPr>
        <p:spPr>
          <a:xfrm>
            <a:off x="4425696" y="2084832"/>
            <a:ext cx="374263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профиль DNN / APN</a:t>
            </a:r>
            <a:endParaRPr lang="en-US" sz="1050" dirty="0"/>
          </a:p>
        </p:txBody>
      </p:sp>
      <p:sp>
        <p:nvSpPr>
          <p:cNvPr id="89" name="Shape 54"/>
          <p:cNvSpPr/>
          <p:nvPr/>
        </p:nvSpPr>
        <p:spPr>
          <a:xfrm>
            <a:off x="4133088" y="2284171"/>
            <a:ext cx="3925519" cy="0"/>
          </a:xfrm>
          <a:prstGeom prst="line">
            <a:avLst/>
          </a:prstGeom>
          <a:noFill/>
          <a:ln w="9525">
            <a:solidFill>
              <a:srgbClr val="EEEDFD"/>
            </a:solidFill>
            <a:prstDash val="solid"/>
          </a:ln>
        </p:spPr>
      </p:sp>
      <p:pic>
        <p:nvPicPr>
          <p:cNvPr id="9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133088" y="2304288"/>
            <a:ext cx="164592" cy="164592"/>
          </a:xfrm>
          <a:prstGeom prst="rect">
            <a:avLst/>
          </a:prstGeom>
        </p:spPr>
      </p:pic>
      <p:sp>
        <p:nvSpPr>
          <p:cNvPr id="91" name="Text 55"/>
          <p:cNvSpPr txBox="1"/>
          <p:nvPr/>
        </p:nvSpPr>
        <p:spPr>
          <a:xfrm>
            <a:off x="4425696" y="2286000"/>
            <a:ext cx="374263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профиль IMS</a:t>
            </a:r>
            <a:endParaRPr lang="en-US" sz="1050" dirty="0"/>
          </a:p>
        </p:txBody>
      </p:sp>
      <p:sp>
        <p:nvSpPr>
          <p:cNvPr id="92" name="Shape 56"/>
          <p:cNvSpPr/>
          <p:nvPr/>
        </p:nvSpPr>
        <p:spPr>
          <a:xfrm>
            <a:off x="4133088" y="2485339"/>
            <a:ext cx="3925519" cy="0"/>
          </a:xfrm>
          <a:prstGeom prst="line">
            <a:avLst/>
          </a:prstGeom>
          <a:noFill/>
          <a:ln w="9525">
            <a:solidFill>
              <a:srgbClr val="EEEDFD"/>
            </a:solidFill>
            <a:prstDash val="solid"/>
          </a:ln>
        </p:spPr>
      </p:sp>
      <p:pic>
        <p:nvPicPr>
          <p:cNvPr id="9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133088" y="2505456"/>
            <a:ext cx="164592" cy="164592"/>
          </a:xfrm>
          <a:prstGeom prst="rect">
            <a:avLst/>
          </a:prstGeom>
        </p:spPr>
      </p:pic>
      <p:sp>
        <p:nvSpPr>
          <p:cNvPr id="94" name="Text 57"/>
          <p:cNvSpPr txBox="1"/>
          <p:nvPr/>
        </p:nvSpPr>
        <p:spPr>
          <a:xfrm>
            <a:off x="4425696" y="2487168"/>
            <a:ext cx="374263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roaming permissions</a:t>
            </a:r>
            <a:endParaRPr lang="en-US" sz="1050" dirty="0"/>
          </a:p>
        </p:txBody>
      </p:sp>
      <p:sp>
        <p:nvSpPr>
          <p:cNvPr id="95" name="Shape 58"/>
          <p:cNvSpPr/>
          <p:nvPr/>
        </p:nvSpPr>
        <p:spPr>
          <a:xfrm>
            <a:off x="4133088" y="2686507"/>
            <a:ext cx="3925519" cy="0"/>
          </a:xfrm>
          <a:prstGeom prst="line">
            <a:avLst/>
          </a:prstGeom>
          <a:noFill/>
          <a:ln w="9525">
            <a:solidFill>
              <a:srgbClr val="EEEDFD"/>
            </a:solidFill>
            <a:prstDash val="solid"/>
          </a:ln>
        </p:spPr>
      </p:sp>
      <p:pic>
        <p:nvPicPr>
          <p:cNvPr id="96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133088" y="2706624"/>
            <a:ext cx="164592" cy="164592"/>
          </a:xfrm>
          <a:prstGeom prst="rect">
            <a:avLst/>
          </a:prstGeom>
        </p:spPr>
      </p:pic>
      <p:sp>
        <p:nvSpPr>
          <p:cNvPr id="97" name="Text 59"/>
          <p:cNvSpPr txBox="1"/>
          <p:nvPr/>
        </p:nvSpPr>
        <p:spPr>
          <a:xfrm>
            <a:off x="4425696" y="2688336"/>
            <a:ext cx="374263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slice / service permissions</a:t>
            </a:r>
            <a:endParaRPr lang="en-US" sz="1050" dirty="0"/>
          </a:p>
        </p:txBody>
      </p:sp>
      <p:sp>
        <p:nvSpPr>
          <p:cNvPr id="98" name="Shape 60"/>
          <p:cNvSpPr/>
          <p:nvPr/>
        </p:nvSpPr>
        <p:spPr>
          <a:xfrm>
            <a:off x="4133088" y="2887675"/>
            <a:ext cx="3925519" cy="0"/>
          </a:xfrm>
          <a:prstGeom prst="line">
            <a:avLst/>
          </a:prstGeom>
          <a:noFill/>
          <a:ln w="9525">
            <a:solidFill>
              <a:srgbClr val="EEEDFD"/>
            </a:solidFill>
            <a:prstDash val="solid"/>
          </a:ln>
        </p:spPr>
      </p:sp>
      <p:pic>
        <p:nvPicPr>
          <p:cNvPr id="99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133088" y="2907792"/>
            <a:ext cx="164592" cy="164592"/>
          </a:xfrm>
          <a:prstGeom prst="rect">
            <a:avLst/>
          </a:prstGeom>
        </p:spPr>
      </p:pic>
      <p:sp>
        <p:nvSpPr>
          <p:cNvPr id="100" name="Text 61"/>
          <p:cNvSpPr txBox="1"/>
          <p:nvPr/>
        </p:nvSpPr>
        <p:spPr>
          <a:xfrm>
            <a:off x="4425696" y="2889504"/>
            <a:ext cx="374263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USAT / SIM Toolkit behavior</a:t>
            </a:r>
            <a:endParaRPr lang="en-US" sz="1050" dirty="0"/>
          </a:p>
        </p:txBody>
      </p:sp>
      <p:sp>
        <p:nvSpPr>
          <p:cNvPr id="101" name="Shape 62"/>
          <p:cNvSpPr/>
          <p:nvPr/>
        </p:nvSpPr>
        <p:spPr>
          <a:xfrm>
            <a:off x="3675888" y="1737360"/>
            <a:ext cx="164592" cy="0"/>
          </a:xfrm>
          <a:prstGeom prst="line">
            <a:avLst/>
          </a:prstGeom>
          <a:noFill/>
          <a:ln w="28575">
            <a:solidFill>
              <a:srgbClr val="FF812A"/>
            </a:solidFill>
            <a:prstDash val="solid"/>
            <a:tailEnd type="triangle"/>
          </a:ln>
        </p:spPr>
      </p:sp>
      <p:sp>
        <p:nvSpPr>
          <p:cNvPr id="102" name="Shape 63"/>
          <p:cNvSpPr/>
          <p:nvPr/>
        </p:nvSpPr>
        <p:spPr>
          <a:xfrm flipH="1">
            <a:off x="8351215" y="1737360"/>
            <a:ext cx="164592" cy="0"/>
          </a:xfrm>
          <a:prstGeom prst="line">
            <a:avLst/>
          </a:prstGeom>
          <a:noFill/>
          <a:ln w="28575">
            <a:solidFill>
              <a:srgbClr val="FF812A"/>
            </a:solidFill>
            <a:prstDash val="solid"/>
            <a:tailEnd type="triangle"/>
          </a:ln>
        </p:spPr>
      </p:sp>
      <p:sp>
        <p:nvSpPr>
          <p:cNvPr id="103" name="Shape 64"/>
          <p:cNvSpPr/>
          <p:nvPr/>
        </p:nvSpPr>
        <p:spPr>
          <a:xfrm>
            <a:off x="6095848" y="3145536"/>
            <a:ext cx="0" cy="109728"/>
          </a:xfrm>
          <a:prstGeom prst="line">
            <a:avLst/>
          </a:prstGeom>
          <a:noFill/>
          <a:ln w="285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104" name="Shape 65"/>
          <p:cNvSpPr/>
          <p:nvPr/>
        </p:nvSpPr>
        <p:spPr>
          <a:xfrm>
            <a:off x="3858768" y="3246120"/>
            <a:ext cx="4474159" cy="1984248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105" name="Shape 66"/>
          <p:cNvSpPr/>
          <p:nvPr/>
        </p:nvSpPr>
        <p:spPr>
          <a:xfrm>
            <a:off x="3858768" y="3246120"/>
            <a:ext cx="4474159" cy="310896"/>
          </a:xfrm>
          <a:prstGeom prst="roundRect">
            <a:avLst>
              <a:gd name="adj" fmla="val 23529"/>
            </a:avLst>
          </a:prstGeom>
          <a:solidFill>
            <a:srgbClr val="FF812A"/>
          </a:solidFill>
          <a:ln/>
        </p:spPr>
      </p:sp>
      <p:sp>
        <p:nvSpPr>
          <p:cNvPr id="106" name="Text 67"/>
          <p:cNvSpPr txBox="1"/>
          <p:nvPr/>
        </p:nvSpPr>
        <p:spPr>
          <a:xfrm>
            <a:off x="3858768" y="3246120"/>
            <a:ext cx="44741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Диагностика отказов</a:t>
            </a:r>
            <a:endParaRPr lang="en-US" sz="1250" dirty="0"/>
          </a:p>
        </p:txBody>
      </p:sp>
      <p:sp>
        <p:nvSpPr>
          <p:cNvPr id="107" name="Text 68"/>
          <p:cNvSpPr txBox="1"/>
          <p:nvPr/>
        </p:nvSpPr>
        <p:spPr>
          <a:xfrm>
            <a:off x="3968496" y="36118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Типы средств:</a:t>
            </a:r>
            <a:endParaRPr lang="en-US" sz="950" dirty="0"/>
          </a:p>
        </p:txBody>
      </p:sp>
      <p:pic>
        <p:nvPicPr>
          <p:cNvPr id="108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968496" y="3838194"/>
            <a:ext cx="182880" cy="182880"/>
          </a:xfrm>
          <a:prstGeom prst="rect">
            <a:avLst/>
          </a:prstGeom>
        </p:spPr>
      </p:pic>
      <p:sp>
        <p:nvSpPr>
          <p:cNvPr id="109" name="Text 69"/>
          <p:cNvSpPr txBox="1"/>
          <p:nvPr/>
        </p:nvSpPr>
        <p:spPr>
          <a:xfrm>
            <a:off x="4242816" y="3864620"/>
            <a:ext cx="1325880" cy="17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протокольная трасса</a:t>
            </a:r>
            <a:endParaRPr lang="en-US" sz="900" dirty="0"/>
          </a:p>
        </p:txBody>
      </p:sp>
      <p:pic>
        <p:nvPicPr>
          <p:cNvPr id="11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968496" y="4053078"/>
            <a:ext cx="182880" cy="182880"/>
          </a:xfrm>
          <a:prstGeom prst="rect">
            <a:avLst/>
          </a:prstGeom>
        </p:spPr>
      </p:pic>
      <p:sp>
        <p:nvSpPr>
          <p:cNvPr id="111" name="Text 70"/>
          <p:cNvSpPr txBox="1"/>
          <p:nvPr/>
        </p:nvSpPr>
        <p:spPr>
          <a:xfrm>
            <a:off x="4242816" y="4079504"/>
            <a:ext cx="1325880" cy="17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NAS trace</a:t>
            </a:r>
            <a:endParaRPr lang="en-US" sz="900" dirty="0"/>
          </a:p>
        </p:txBody>
      </p:sp>
      <p:pic>
        <p:nvPicPr>
          <p:cNvPr id="112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968496" y="4267962"/>
            <a:ext cx="182880" cy="182880"/>
          </a:xfrm>
          <a:prstGeom prst="rect">
            <a:avLst/>
          </a:prstGeom>
        </p:spPr>
      </p:pic>
      <p:sp>
        <p:nvSpPr>
          <p:cNvPr id="113" name="Text 71"/>
          <p:cNvSpPr txBox="1"/>
          <p:nvPr/>
        </p:nvSpPr>
        <p:spPr>
          <a:xfrm>
            <a:off x="4242816" y="4294388"/>
            <a:ext cx="1325880" cy="17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лог UE</a:t>
            </a:r>
            <a:endParaRPr lang="en-US" sz="900" dirty="0"/>
          </a:p>
        </p:txBody>
      </p:sp>
      <p:pic>
        <p:nvPicPr>
          <p:cNvPr id="114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968496" y="4482846"/>
            <a:ext cx="182880" cy="182880"/>
          </a:xfrm>
          <a:prstGeom prst="rect">
            <a:avLst/>
          </a:prstGeom>
        </p:spPr>
      </p:pic>
      <p:sp>
        <p:nvSpPr>
          <p:cNvPr id="115" name="Text 72"/>
          <p:cNvSpPr txBox="1"/>
          <p:nvPr/>
        </p:nvSpPr>
        <p:spPr>
          <a:xfrm>
            <a:off x="4242816" y="4509272"/>
            <a:ext cx="1325880" cy="17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лог Core / UDM / AUSF</a:t>
            </a:r>
            <a:endParaRPr lang="en-US" sz="900" dirty="0"/>
          </a:p>
        </p:txBody>
      </p:sp>
      <p:pic>
        <p:nvPicPr>
          <p:cNvPr id="116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968496" y="4697730"/>
            <a:ext cx="182880" cy="182880"/>
          </a:xfrm>
          <a:prstGeom prst="rect">
            <a:avLst/>
          </a:prstGeom>
        </p:spPr>
      </p:pic>
      <p:sp>
        <p:nvSpPr>
          <p:cNvPr id="117" name="Text 73"/>
          <p:cNvSpPr txBox="1"/>
          <p:nvPr/>
        </p:nvSpPr>
        <p:spPr>
          <a:xfrm>
            <a:off x="4242816" y="4724156"/>
            <a:ext cx="1325880" cy="17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анализатор APDU</a:t>
            </a:r>
            <a:endParaRPr lang="en-US" sz="900" dirty="0"/>
          </a:p>
        </p:txBody>
      </p:sp>
      <p:pic>
        <p:nvPicPr>
          <p:cNvPr id="118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968496" y="4912614"/>
            <a:ext cx="182880" cy="182880"/>
          </a:xfrm>
          <a:prstGeom prst="rect">
            <a:avLst/>
          </a:prstGeom>
        </p:spPr>
      </p:pic>
      <p:sp>
        <p:nvSpPr>
          <p:cNvPr id="119" name="Text 74"/>
          <p:cNvSpPr txBox="1"/>
          <p:nvPr/>
        </p:nvSpPr>
        <p:spPr>
          <a:xfrm>
            <a:off x="4242816" y="4939040"/>
            <a:ext cx="1325880" cy="17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отчёт test verdict</a:t>
            </a:r>
            <a:endParaRPr lang="en-US" sz="900" dirty="0"/>
          </a:p>
        </p:txBody>
      </p:sp>
      <p:sp>
        <p:nvSpPr>
          <p:cNvPr id="120" name="Shape 75"/>
          <p:cNvSpPr/>
          <p:nvPr/>
        </p:nvSpPr>
        <p:spPr>
          <a:xfrm>
            <a:off x="5614416" y="3657600"/>
            <a:ext cx="0" cy="1481328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sp>
        <p:nvSpPr>
          <p:cNvPr id="121" name="Text 76"/>
          <p:cNvSpPr txBox="1"/>
          <p:nvPr/>
        </p:nvSpPr>
        <p:spPr>
          <a:xfrm>
            <a:off x="5705856" y="3611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ищется:</a:t>
            </a:r>
            <a:endParaRPr lang="en-US" sz="950" dirty="0"/>
          </a:p>
        </p:txBody>
      </p:sp>
      <p:sp>
        <p:nvSpPr>
          <p:cNvPr id="122" name="Shape 77"/>
          <p:cNvSpPr/>
          <p:nvPr/>
        </p:nvSpPr>
        <p:spPr>
          <a:xfrm>
            <a:off x="5715000" y="390403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23" name="Text 78"/>
          <p:cNvSpPr txBox="1"/>
          <p:nvPr/>
        </p:nvSpPr>
        <p:spPr>
          <a:xfrm>
            <a:off x="5843016" y="3869192"/>
            <a:ext cx="1130656" cy="30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authentication failure</a:t>
            </a:r>
            <a:endParaRPr lang="en-US" sz="900" dirty="0"/>
          </a:p>
        </p:txBody>
      </p:sp>
      <p:sp>
        <p:nvSpPr>
          <p:cNvPr id="124" name="Shape 79"/>
          <p:cNvSpPr/>
          <p:nvPr/>
        </p:nvSpPr>
        <p:spPr>
          <a:xfrm>
            <a:off x="5715000" y="4258086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25" name="Text 80"/>
          <p:cNvSpPr txBox="1"/>
          <p:nvPr/>
        </p:nvSpPr>
        <p:spPr>
          <a:xfrm>
            <a:off x="5843016" y="4223248"/>
            <a:ext cx="1130656" cy="30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synchronization failure / SQN</a:t>
            </a:r>
            <a:endParaRPr lang="en-US" sz="900" dirty="0"/>
          </a:p>
        </p:txBody>
      </p:sp>
      <p:sp>
        <p:nvSpPr>
          <p:cNvPr id="126" name="Shape 81"/>
          <p:cNvSpPr/>
          <p:nvPr/>
        </p:nvSpPr>
        <p:spPr>
          <a:xfrm>
            <a:off x="5715000" y="4612142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27" name="Text 82"/>
          <p:cNvSpPr txBox="1"/>
          <p:nvPr/>
        </p:nvSpPr>
        <p:spPr>
          <a:xfrm>
            <a:off x="5843016" y="4577304"/>
            <a:ext cx="1130656" cy="17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mismatch K / OPc</a:t>
            </a:r>
            <a:endParaRPr lang="en-US" sz="900" dirty="0"/>
          </a:p>
        </p:txBody>
      </p:sp>
      <p:sp>
        <p:nvSpPr>
          <p:cNvPr id="128" name="Shape 83"/>
          <p:cNvSpPr/>
          <p:nvPr/>
        </p:nvSpPr>
        <p:spPr>
          <a:xfrm>
            <a:off x="5715000" y="4836170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29" name="Text 84"/>
          <p:cNvSpPr txBox="1"/>
          <p:nvPr/>
        </p:nvSpPr>
        <p:spPr>
          <a:xfrm>
            <a:off x="5843016" y="4801332"/>
            <a:ext cx="1130656" cy="17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forbidden PLMN</a:t>
            </a:r>
            <a:endParaRPr lang="en-US" sz="900" dirty="0"/>
          </a:p>
        </p:txBody>
      </p:sp>
      <p:sp>
        <p:nvSpPr>
          <p:cNvPr id="130" name="Shape 85"/>
          <p:cNvSpPr/>
          <p:nvPr/>
        </p:nvSpPr>
        <p:spPr>
          <a:xfrm>
            <a:off x="5715000" y="5060198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1" name="Text 86"/>
          <p:cNvSpPr txBox="1"/>
          <p:nvPr/>
        </p:nvSpPr>
        <p:spPr>
          <a:xfrm>
            <a:off x="5843016" y="5025360"/>
            <a:ext cx="1130656" cy="17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roaming not allowed</a:t>
            </a:r>
            <a:endParaRPr lang="en-US" sz="900" dirty="0"/>
          </a:p>
        </p:txBody>
      </p:sp>
      <p:sp>
        <p:nvSpPr>
          <p:cNvPr id="132" name="Shape 87"/>
          <p:cNvSpPr/>
          <p:nvPr/>
        </p:nvSpPr>
        <p:spPr>
          <a:xfrm>
            <a:off x="6982816" y="390403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3" name="Text 88"/>
          <p:cNvSpPr txBox="1"/>
          <p:nvPr/>
        </p:nvSpPr>
        <p:spPr>
          <a:xfrm>
            <a:off x="7110832" y="3869192"/>
            <a:ext cx="1130656" cy="17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unknown subscriber</a:t>
            </a:r>
            <a:endParaRPr lang="en-US" sz="900" dirty="0"/>
          </a:p>
        </p:txBody>
      </p:sp>
      <p:sp>
        <p:nvSpPr>
          <p:cNvPr id="134" name="Shape 89"/>
          <p:cNvSpPr/>
          <p:nvPr/>
        </p:nvSpPr>
        <p:spPr>
          <a:xfrm>
            <a:off x="6982816" y="412805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5" name="Text 90"/>
          <p:cNvSpPr txBox="1"/>
          <p:nvPr/>
        </p:nvSpPr>
        <p:spPr>
          <a:xfrm>
            <a:off x="7110832" y="4093220"/>
            <a:ext cx="1130656" cy="30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DNN / APN not allowed</a:t>
            </a:r>
            <a:endParaRPr lang="en-US" sz="900" dirty="0"/>
          </a:p>
        </p:txBody>
      </p:sp>
      <p:sp>
        <p:nvSpPr>
          <p:cNvPr id="136" name="Shape 91"/>
          <p:cNvSpPr/>
          <p:nvPr/>
        </p:nvSpPr>
        <p:spPr>
          <a:xfrm>
            <a:off x="6982816" y="448211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7" name="Text 92"/>
          <p:cNvSpPr txBox="1"/>
          <p:nvPr/>
        </p:nvSpPr>
        <p:spPr>
          <a:xfrm>
            <a:off x="7110832" y="4447276"/>
            <a:ext cx="1130656" cy="17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IMS profile missing</a:t>
            </a:r>
            <a:endParaRPr lang="en-US" sz="900" dirty="0"/>
          </a:p>
        </p:txBody>
      </p:sp>
      <p:sp>
        <p:nvSpPr>
          <p:cNvPr id="138" name="Shape 93"/>
          <p:cNvSpPr/>
          <p:nvPr/>
        </p:nvSpPr>
        <p:spPr>
          <a:xfrm>
            <a:off x="6982816" y="4706142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9" name="Text 94"/>
          <p:cNvSpPr txBox="1"/>
          <p:nvPr/>
        </p:nvSpPr>
        <p:spPr>
          <a:xfrm>
            <a:off x="7110832" y="4671304"/>
            <a:ext cx="1130656" cy="17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eSIM profile inactive</a:t>
            </a:r>
            <a:endParaRPr lang="en-US" sz="900" dirty="0"/>
          </a:p>
        </p:txBody>
      </p:sp>
      <p:sp>
        <p:nvSpPr>
          <p:cNvPr id="140" name="Shape 95"/>
          <p:cNvSpPr/>
          <p:nvPr/>
        </p:nvSpPr>
        <p:spPr>
          <a:xfrm>
            <a:off x="6982816" y="4930170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41" name="Text 96"/>
          <p:cNvSpPr txBox="1"/>
          <p:nvPr/>
        </p:nvSpPr>
        <p:spPr>
          <a:xfrm>
            <a:off x="7110832" y="4895332"/>
            <a:ext cx="1130656" cy="30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wrong service permissions</a:t>
            </a:r>
            <a:endParaRPr lang="en-US" sz="900" dirty="0"/>
          </a:p>
        </p:txBody>
      </p:sp>
      <p:sp>
        <p:nvSpPr>
          <p:cNvPr id="142" name="Shape 97"/>
          <p:cNvSpPr/>
          <p:nvPr/>
        </p:nvSpPr>
        <p:spPr>
          <a:xfrm>
            <a:off x="1965960" y="4590288"/>
            <a:ext cx="0" cy="365760"/>
          </a:xfrm>
          <a:prstGeom prst="line">
            <a:avLst/>
          </a:prstGeom>
          <a:noFill/>
          <a:ln w="28575">
            <a:solidFill>
              <a:srgbClr val="FF812A"/>
            </a:solidFill>
            <a:prstDash val="solid"/>
          </a:ln>
        </p:spPr>
      </p:sp>
      <p:sp>
        <p:nvSpPr>
          <p:cNvPr id="143" name="Shape 98"/>
          <p:cNvSpPr/>
          <p:nvPr/>
        </p:nvSpPr>
        <p:spPr>
          <a:xfrm>
            <a:off x="1965960" y="4956048"/>
            <a:ext cx="1874520" cy="0"/>
          </a:xfrm>
          <a:prstGeom prst="line">
            <a:avLst/>
          </a:prstGeom>
          <a:noFill/>
          <a:ln w="28575">
            <a:solidFill>
              <a:srgbClr val="FF812A"/>
            </a:solidFill>
            <a:prstDash val="solid"/>
            <a:tailEnd type="triangle"/>
          </a:ln>
        </p:spPr>
      </p:sp>
      <p:sp>
        <p:nvSpPr>
          <p:cNvPr id="144" name="Shape 99"/>
          <p:cNvSpPr/>
          <p:nvPr/>
        </p:nvSpPr>
        <p:spPr>
          <a:xfrm>
            <a:off x="10225735" y="4590288"/>
            <a:ext cx="0" cy="365760"/>
          </a:xfrm>
          <a:prstGeom prst="line">
            <a:avLst/>
          </a:prstGeom>
          <a:noFill/>
          <a:ln w="28575">
            <a:solidFill>
              <a:srgbClr val="FF812A"/>
            </a:solidFill>
            <a:prstDash val="solid"/>
          </a:ln>
        </p:spPr>
      </p:sp>
      <p:sp>
        <p:nvSpPr>
          <p:cNvPr id="145" name="Shape 100"/>
          <p:cNvSpPr/>
          <p:nvPr/>
        </p:nvSpPr>
        <p:spPr>
          <a:xfrm flipH="1">
            <a:off x="8351215" y="4956048"/>
            <a:ext cx="1874520" cy="0"/>
          </a:xfrm>
          <a:prstGeom prst="line">
            <a:avLst/>
          </a:prstGeom>
          <a:noFill/>
          <a:ln w="28575">
            <a:solidFill>
              <a:srgbClr val="FF812A"/>
            </a:solidFill>
            <a:prstDash val="solid"/>
            <a:tailEnd type="triangle"/>
          </a:ln>
        </p:spPr>
      </p:sp>
      <p:sp>
        <p:nvSpPr>
          <p:cNvPr id="146" name="Shape 101"/>
          <p:cNvSpPr/>
          <p:nvPr/>
        </p:nvSpPr>
        <p:spPr>
          <a:xfrm>
            <a:off x="274320" y="5358384"/>
            <a:ext cx="11643055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A3AAB8"/>
            </a:solidFill>
            <a:prstDash val="solid"/>
          </a:ln>
        </p:spPr>
      </p:sp>
      <p:sp>
        <p:nvSpPr>
          <p:cNvPr id="147" name="Text 102"/>
          <p:cNvSpPr txBox="1"/>
          <p:nvPr/>
        </p:nvSpPr>
        <p:spPr>
          <a:xfrm>
            <a:off x="274320" y="5404104"/>
            <a:ext cx="116430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чаще маскируется под проблему сети</a:t>
            </a:r>
            <a:endParaRPr lang="en-US" sz="1300" dirty="0"/>
          </a:p>
        </p:txBody>
      </p:sp>
      <p:pic>
        <p:nvPicPr>
          <p:cNvPr id="148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97280" y="5724144"/>
            <a:ext cx="182880" cy="182880"/>
          </a:xfrm>
          <a:prstGeom prst="rect">
            <a:avLst/>
          </a:prstGeom>
        </p:spPr>
      </p:pic>
      <p:sp>
        <p:nvSpPr>
          <p:cNvPr id="149" name="Text 103"/>
          <p:cNvSpPr txBox="1"/>
          <p:nvPr/>
        </p:nvSpPr>
        <p:spPr>
          <a:xfrm>
            <a:off x="1371600" y="5739735"/>
            <a:ext cx="4480560" cy="16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UE не регистрируется</a:t>
            </a:r>
            <a:endParaRPr lang="en-US" sz="1050" dirty="0"/>
          </a:p>
        </p:txBody>
      </p:sp>
      <p:pic>
        <p:nvPicPr>
          <p:cNvPr id="150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97280" y="5907024"/>
            <a:ext cx="182880" cy="182880"/>
          </a:xfrm>
          <a:prstGeom prst="rect">
            <a:avLst/>
          </a:prstGeom>
        </p:spPr>
      </p:pic>
      <p:sp>
        <p:nvSpPr>
          <p:cNvPr id="151" name="Text 104"/>
          <p:cNvSpPr txBox="1"/>
          <p:nvPr/>
        </p:nvSpPr>
        <p:spPr>
          <a:xfrm>
            <a:off x="1371600" y="5922615"/>
            <a:ext cx="4480560" cy="16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аутентификация не проходит</a:t>
            </a:r>
            <a:endParaRPr lang="en-US" sz="1050" dirty="0"/>
          </a:p>
        </p:txBody>
      </p:sp>
      <p:pic>
        <p:nvPicPr>
          <p:cNvPr id="152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97280" y="6089904"/>
            <a:ext cx="182880" cy="182880"/>
          </a:xfrm>
          <a:prstGeom prst="rect">
            <a:avLst/>
          </a:prstGeom>
        </p:spPr>
      </p:pic>
      <p:sp>
        <p:nvSpPr>
          <p:cNvPr id="153" name="Text 105"/>
          <p:cNvSpPr txBox="1"/>
          <p:nvPr/>
        </p:nvSpPr>
        <p:spPr>
          <a:xfrm>
            <a:off x="1371600" y="6105495"/>
            <a:ext cx="4480560" cy="16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PDU Session отклоняется</a:t>
            </a:r>
            <a:endParaRPr lang="en-US" sz="1050" dirty="0"/>
          </a:p>
        </p:txBody>
      </p:sp>
      <p:pic>
        <p:nvPicPr>
          <p:cNvPr id="154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97280" y="6272784"/>
            <a:ext cx="182880" cy="182880"/>
          </a:xfrm>
          <a:prstGeom prst="rect">
            <a:avLst/>
          </a:prstGeom>
        </p:spPr>
      </p:pic>
      <p:sp>
        <p:nvSpPr>
          <p:cNvPr id="155" name="Text 106"/>
          <p:cNvSpPr txBox="1"/>
          <p:nvPr/>
        </p:nvSpPr>
        <p:spPr>
          <a:xfrm>
            <a:off x="1371600" y="6288375"/>
            <a:ext cx="4480560" cy="16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роуминг не работает</a:t>
            </a:r>
            <a:endParaRPr lang="en-US" sz="1050" dirty="0"/>
          </a:p>
        </p:txBody>
      </p:sp>
      <p:sp>
        <p:nvSpPr>
          <p:cNvPr id="156" name="Shape 107"/>
          <p:cNvSpPr/>
          <p:nvPr/>
        </p:nvSpPr>
        <p:spPr>
          <a:xfrm>
            <a:off x="5730088" y="5769864"/>
            <a:ext cx="0" cy="630936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</a:ln>
        </p:spPr>
      </p:sp>
      <p:pic>
        <p:nvPicPr>
          <p:cNvPr id="157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958688" y="5724144"/>
            <a:ext cx="182880" cy="182880"/>
          </a:xfrm>
          <a:prstGeom prst="rect">
            <a:avLst/>
          </a:prstGeom>
        </p:spPr>
      </p:pic>
      <p:sp>
        <p:nvSpPr>
          <p:cNvPr id="158" name="Text 108"/>
          <p:cNvSpPr txBox="1"/>
          <p:nvPr/>
        </p:nvSpPr>
        <p:spPr>
          <a:xfrm>
            <a:off x="6233008" y="5739735"/>
            <a:ext cx="5455768" cy="16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IMS / VoLTE / VoNR не регистрируется</a:t>
            </a:r>
            <a:endParaRPr lang="en-US" sz="1050" dirty="0"/>
          </a:p>
        </p:txBody>
      </p:sp>
      <p:pic>
        <p:nvPicPr>
          <p:cNvPr id="159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958688" y="5907024"/>
            <a:ext cx="182880" cy="182880"/>
          </a:xfrm>
          <a:prstGeom prst="rect">
            <a:avLst/>
          </a:prstGeom>
        </p:spPr>
      </p:pic>
      <p:sp>
        <p:nvSpPr>
          <p:cNvPr id="160" name="Text 109"/>
          <p:cNvSpPr txBox="1"/>
          <p:nvPr/>
        </p:nvSpPr>
        <p:spPr>
          <a:xfrm>
            <a:off x="6233008" y="5922615"/>
            <a:ext cx="5455768" cy="16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DNN / APN недоступен</a:t>
            </a:r>
            <a:endParaRPr lang="en-US" sz="1050" dirty="0"/>
          </a:p>
        </p:txBody>
      </p:sp>
      <p:pic>
        <p:nvPicPr>
          <p:cNvPr id="161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958688" y="6089904"/>
            <a:ext cx="182880" cy="182880"/>
          </a:xfrm>
          <a:prstGeom prst="rect">
            <a:avLst/>
          </a:prstGeom>
        </p:spPr>
      </p:pic>
      <p:sp>
        <p:nvSpPr>
          <p:cNvPr id="162" name="Text 110"/>
          <p:cNvSpPr txBox="1"/>
          <p:nvPr/>
        </p:nvSpPr>
        <p:spPr>
          <a:xfrm>
            <a:off x="6233008" y="6105495"/>
            <a:ext cx="5455768" cy="16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сервис запрещён профилем подписки</a:t>
            </a:r>
            <a:endParaRPr lang="en-US" sz="1050" dirty="0"/>
          </a:p>
        </p:txBody>
      </p:sp>
      <p:pic>
        <p:nvPicPr>
          <p:cNvPr id="163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958688" y="6272784"/>
            <a:ext cx="182880" cy="182880"/>
          </a:xfrm>
          <a:prstGeom prst="rect">
            <a:avLst/>
          </a:prstGeom>
        </p:spPr>
      </p:pic>
      <p:sp>
        <p:nvSpPr>
          <p:cNvPr id="164" name="Text 111"/>
          <p:cNvSpPr txBox="1"/>
          <p:nvPr/>
        </p:nvSpPr>
        <p:spPr>
          <a:xfrm>
            <a:off x="6233008" y="6288375"/>
            <a:ext cx="5455768" cy="167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ошибка выглядит как Core issue, но причина в SIM / USIM / eSIM profile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430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RF-тестирование UE: передатчик, приёмник и радиочувствительность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03504"/>
            <a:ext cx="256032" cy="256032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74320" y="603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03504"/>
            <a:ext cx="21403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Проводной RF-базис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34742" y="731520"/>
            <a:ext cx="1261872" cy="0"/>
          </a:xfrm>
          <a:prstGeom prst="line">
            <a:avLst/>
          </a:prstGeom>
          <a:noFill/>
          <a:ln w="19050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69766" y="603504"/>
            <a:ext cx="256032" cy="256032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069766" y="603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398950" y="603504"/>
            <a:ext cx="21403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Эмуляция радиоканала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0188" y="731520"/>
            <a:ext cx="137160" cy="0"/>
          </a:xfrm>
          <a:prstGeom prst="line">
            <a:avLst/>
          </a:prstGeom>
          <a:noFill/>
          <a:ln w="19050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740500" y="603504"/>
            <a:ext cx="256032" cy="256032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40500" y="603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069684" y="603504"/>
            <a:ext cx="21403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Проверка антенны и OTA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00921" y="731520"/>
            <a:ext cx="137160" cy="0"/>
          </a:xfrm>
          <a:prstGeom prst="line">
            <a:avLst/>
          </a:prstGeom>
          <a:noFill/>
          <a:ln w="19050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411233" y="603504"/>
            <a:ext cx="256032" cy="256032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11233" y="603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740417" y="603504"/>
            <a:ext cx="21403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WaveJudge: анализ причин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45054" y="914400"/>
            <a:ext cx="960120" cy="3639312"/>
          </a:xfrm>
          <a:prstGeom prst="roundRect">
            <a:avLst>
              <a:gd name="adj" fmla="val 9524"/>
            </a:avLst>
          </a:prstGeom>
          <a:solidFill>
            <a:srgbClr val="534EE6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0794" y="1234440"/>
            <a:ext cx="548640" cy="5486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2945054" y="18470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UE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3018206" y="2194560"/>
            <a:ext cx="813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тестируемое устройство (DUT)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063926" y="2959913"/>
            <a:ext cx="59436" cy="594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191942" y="2914239"/>
            <a:ext cx="667512" cy="23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TX-тракт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063926" y="3270809"/>
            <a:ext cx="59436" cy="594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191942" y="3225135"/>
            <a:ext cx="667512" cy="231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RX-тракт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063926" y="3581705"/>
            <a:ext cx="59436" cy="594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191942" y="3536031"/>
            <a:ext cx="667512" cy="534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РЧ фронт-энд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063926" y="4195999"/>
            <a:ext cx="59436" cy="594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191942" y="4150324"/>
            <a:ext cx="667512" cy="382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антенная система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74320" y="914400"/>
            <a:ext cx="2506142" cy="3639312"/>
          </a:xfrm>
          <a:prstGeom prst="roundRect">
            <a:avLst>
              <a:gd name="adj" fmla="val 2919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65760" y="941832"/>
            <a:ext cx="2341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1. Проводной RF-базис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65760" y="13350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0E5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389888"/>
            <a:ext cx="256032" cy="25603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86384" y="1298448"/>
            <a:ext cx="1920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Типы устройств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795528" y="151973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923544" y="1488506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колбокс / тестовая RF-платформа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795528" y="165689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923544" y="1625666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векторный генератор сигналов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795528" y="179405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923544" y="1762826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векторный анализатор сигналов / спектра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795528" y="205401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923544" y="2022790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аттенюаторы, ответвители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795528" y="219117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923544" y="2159950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RF-коммутатор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795528" y="232833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923544" y="2297110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калиброванный кабельный тракт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365760" y="2454524"/>
            <a:ext cx="234155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527676"/>
            <a:ext cx="292608" cy="292608"/>
          </a:xfrm>
          <a:prstGeom prst="rect">
            <a:avLst/>
          </a:prstGeom>
        </p:spPr>
      </p:pic>
      <p:sp>
        <p:nvSpPr>
          <p:cNvPr id="49" name="Text 44"/>
          <p:cNvSpPr txBox="1"/>
          <p:nvPr/>
        </p:nvSpPr>
        <p:spPr>
          <a:xfrm>
            <a:off x="786384" y="2491100"/>
            <a:ext cx="1920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Зачем нужен этот контур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795528" y="271238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923544" y="2681158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изолировать собственный TX/RX-тракт UE</a:t>
            </a:r>
            <a:endParaRPr lang="en-US" sz="850" dirty="0"/>
          </a:p>
        </p:txBody>
      </p:sp>
      <p:sp>
        <p:nvSpPr>
          <p:cNvPr id="52" name="Shape 47"/>
          <p:cNvSpPr/>
          <p:nvPr/>
        </p:nvSpPr>
        <p:spPr>
          <a:xfrm>
            <a:off x="795528" y="297234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923544" y="2941122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измерить RF-параметры без влияния антенны</a:t>
            </a:r>
            <a:endParaRPr lang="en-US" sz="850" dirty="0"/>
          </a:p>
        </p:txBody>
      </p:sp>
      <p:sp>
        <p:nvSpPr>
          <p:cNvPr id="54" name="Shape 49"/>
          <p:cNvSpPr/>
          <p:nvPr/>
        </p:nvSpPr>
        <p:spPr>
          <a:xfrm>
            <a:off x="795528" y="323231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923544" y="3201086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получить эталонную проводную картину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365760" y="3481304"/>
            <a:ext cx="234155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554456"/>
            <a:ext cx="292608" cy="292608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786384" y="3517880"/>
            <a:ext cx="1920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проверяется</a:t>
            </a:r>
            <a:endParaRPr lang="en-US" sz="950" dirty="0"/>
          </a:p>
        </p:txBody>
      </p:sp>
      <p:sp>
        <p:nvSpPr>
          <p:cNvPr id="59" name="Shape 53"/>
          <p:cNvSpPr/>
          <p:nvPr/>
        </p:nvSpPr>
        <p:spPr>
          <a:xfrm>
            <a:off x="795528" y="373916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60" name="Text 54"/>
          <p:cNvSpPr txBox="1"/>
          <p:nvPr/>
        </p:nvSpPr>
        <p:spPr>
          <a:xfrm>
            <a:off x="923544" y="3707938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мощность TX, EVM, ACLR</a:t>
            </a:r>
            <a:endParaRPr lang="en-US" sz="850" dirty="0"/>
          </a:p>
        </p:txBody>
      </p:sp>
      <p:sp>
        <p:nvSpPr>
          <p:cNvPr id="61" name="Shape 55"/>
          <p:cNvSpPr/>
          <p:nvPr/>
        </p:nvSpPr>
        <p:spPr>
          <a:xfrm>
            <a:off x="795528" y="387632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62" name="Text 56"/>
          <p:cNvSpPr txBox="1"/>
          <p:nvPr/>
        </p:nvSpPr>
        <p:spPr>
          <a:xfrm>
            <a:off x="923544" y="3845098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спектральная маска, частотная ошибка</a:t>
            </a:r>
            <a:endParaRPr lang="en-US" sz="850" dirty="0"/>
          </a:p>
        </p:txBody>
      </p:sp>
      <p:sp>
        <p:nvSpPr>
          <p:cNvPr id="63" name="Shape 57"/>
          <p:cNvSpPr/>
          <p:nvPr/>
        </p:nvSpPr>
        <p:spPr>
          <a:xfrm>
            <a:off x="795528" y="4136288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64" name="Text 58"/>
          <p:cNvSpPr txBox="1"/>
          <p:nvPr/>
        </p:nvSpPr>
        <p:spPr>
          <a:xfrm>
            <a:off x="923544" y="4105062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проводная чувствительность RX</a:t>
            </a:r>
            <a:endParaRPr lang="en-US" sz="850" dirty="0"/>
          </a:p>
        </p:txBody>
      </p:sp>
      <p:sp>
        <p:nvSpPr>
          <p:cNvPr id="65" name="Shape 59"/>
          <p:cNvSpPr/>
          <p:nvPr/>
        </p:nvSpPr>
        <p:spPr>
          <a:xfrm>
            <a:off x="795528" y="4273448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66" name="Text 60"/>
          <p:cNvSpPr txBox="1"/>
          <p:nvPr/>
        </p:nvSpPr>
        <p:spPr>
          <a:xfrm>
            <a:off x="923544" y="4242222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BLER в идеальном канале</a:t>
            </a:r>
            <a:endParaRPr lang="en-US" sz="850" dirty="0"/>
          </a:p>
        </p:txBody>
      </p:sp>
      <p:sp>
        <p:nvSpPr>
          <p:cNvPr id="67" name="Shape 61"/>
          <p:cNvSpPr/>
          <p:nvPr/>
        </p:nvSpPr>
        <p:spPr>
          <a:xfrm>
            <a:off x="795528" y="4410608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68" name="Text 62"/>
          <p:cNvSpPr txBox="1"/>
          <p:nvPr/>
        </p:nvSpPr>
        <p:spPr>
          <a:xfrm>
            <a:off x="923544" y="4379382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блокирование / избирательность</a:t>
            </a:r>
            <a:endParaRPr lang="en-US" sz="850" dirty="0"/>
          </a:p>
        </p:txBody>
      </p:sp>
      <p:sp>
        <p:nvSpPr>
          <p:cNvPr id="69" name="Shape 63"/>
          <p:cNvSpPr/>
          <p:nvPr/>
        </p:nvSpPr>
        <p:spPr>
          <a:xfrm>
            <a:off x="4069766" y="914400"/>
            <a:ext cx="2506142" cy="3639312"/>
          </a:xfrm>
          <a:prstGeom prst="roundRect">
            <a:avLst>
              <a:gd name="adj" fmla="val 2919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70" name="Text 64"/>
          <p:cNvSpPr txBox="1"/>
          <p:nvPr/>
        </p:nvSpPr>
        <p:spPr>
          <a:xfrm>
            <a:off x="4161206" y="941832"/>
            <a:ext cx="2341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2. Эмуляция радиоканала</a:t>
            </a:r>
            <a:endParaRPr lang="en-US" sz="1050" dirty="0"/>
          </a:p>
        </p:txBody>
      </p:sp>
      <p:sp>
        <p:nvSpPr>
          <p:cNvPr id="71" name="Shape 65"/>
          <p:cNvSpPr/>
          <p:nvPr/>
        </p:nvSpPr>
        <p:spPr>
          <a:xfrm>
            <a:off x="4161206" y="13350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0E5"/>
          </a:solidFill>
          <a:ln/>
        </p:spPr>
      </p:sp>
      <p:pic>
        <p:nvPicPr>
          <p:cNvPr id="7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6070" y="1389888"/>
            <a:ext cx="256032" cy="256032"/>
          </a:xfrm>
          <a:prstGeom prst="rect">
            <a:avLst/>
          </a:prstGeom>
        </p:spPr>
      </p:pic>
      <p:sp>
        <p:nvSpPr>
          <p:cNvPr id="73" name="Text 66"/>
          <p:cNvSpPr txBox="1"/>
          <p:nvPr/>
        </p:nvSpPr>
        <p:spPr>
          <a:xfrm>
            <a:off x="4581830" y="1298448"/>
            <a:ext cx="1920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Типы устройств</a:t>
            </a:r>
            <a:endParaRPr lang="en-US" sz="950" dirty="0"/>
          </a:p>
        </p:txBody>
      </p:sp>
      <p:sp>
        <p:nvSpPr>
          <p:cNvPr id="74" name="Shape 67"/>
          <p:cNvSpPr/>
          <p:nvPr/>
        </p:nvSpPr>
        <p:spPr>
          <a:xfrm>
            <a:off x="4590974" y="151973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5" name="Text 68"/>
          <p:cNvSpPr txBox="1"/>
          <p:nvPr/>
        </p:nvSpPr>
        <p:spPr>
          <a:xfrm>
            <a:off x="4718990" y="1488506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радиоканала</a:t>
            </a:r>
            <a:endParaRPr lang="en-US" sz="850" dirty="0"/>
          </a:p>
        </p:txBody>
      </p:sp>
      <p:sp>
        <p:nvSpPr>
          <p:cNvPr id="76" name="Shape 69"/>
          <p:cNvSpPr/>
          <p:nvPr/>
        </p:nvSpPr>
        <p:spPr>
          <a:xfrm>
            <a:off x="4590974" y="165689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7" name="Text 70"/>
          <p:cNvSpPr txBox="1"/>
          <p:nvPr/>
        </p:nvSpPr>
        <p:spPr>
          <a:xfrm>
            <a:off x="4718990" y="1625666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MIMO-эмулятор канала</a:t>
            </a:r>
            <a:endParaRPr lang="en-US" sz="850" dirty="0"/>
          </a:p>
        </p:txBody>
      </p:sp>
      <p:sp>
        <p:nvSpPr>
          <p:cNvPr id="78" name="Shape 71"/>
          <p:cNvSpPr/>
          <p:nvPr/>
        </p:nvSpPr>
        <p:spPr>
          <a:xfrm>
            <a:off x="4590974" y="179405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9" name="Text 72"/>
          <p:cNvSpPr txBox="1"/>
          <p:nvPr/>
        </p:nvSpPr>
        <p:spPr>
          <a:xfrm>
            <a:off x="4718990" y="1762826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источник шума / помех</a:t>
            </a:r>
            <a:endParaRPr lang="en-US" sz="850" dirty="0"/>
          </a:p>
        </p:txBody>
      </p:sp>
      <p:sp>
        <p:nvSpPr>
          <p:cNvPr id="80" name="Shape 73"/>
          <p:cNvSpPr/>
          <p:nvPr/>
        </p:nvSpPr>
        <p:spPr>
          <a:xfrm>
            <a:off x="4590974" y="193121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1" name="Text 74"/>
          <p:cNvSpPr txBox="1"/>
          <p:nvPr/>
        </p:nvSpPr>
        <p:spPr>
          <a:xfrm>
            <a:off x="4718990" y="1899986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колбокс / тестовая RF-платформа</a:t>
            </a:r>
            <a:endParaRPr lang="en-US" sz="850" dirty="0"/>
          </a:p>
        </p:txBody>
      </p:sp>
      <p:sp>
        <p:nvSpPr>
          <p:cNvPr id="82" name="Shape 75"/>
          <p:cNvSpPr/>
          <p:nvPr/>
        </p:nvSpPr>
        <p:spPr>
          <a:xfrm>
            <a:off x="4161206" y="2057400"/>
            <a:ext cx="234155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pic>
        <p:nvPicPr>
          <p:cNvPr id="8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7782" y="2130552"/>
            <a:ext cx="292608" cy="292608"/>
          </a:xfrm>
          <a:prstGeom prst="rect">
            <a:avLst/>
          </a:prstGeom>
        </p:spPr>
      </p:pic>
      <p:sp>
        <p:nvSpPr>
          <p:cNvPr id="84" name="Text 76"/>
          <p:cNvSpPr txBox="1"/>
          <p:nvPr/>
        </p:nvSpPr>
        <p:spPr>
          <a:xfrm>
            <a:off x="4581830" y="2093976"/>
            <a:ext cx="1920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Зачем нужен этот контур</a:t>
            </a:r>
            <a:endParaRPr lang="en-US" sz="950" dirty="0"/>
          </a:p>
        </p:txBody>
      </p:sp>
      <p:sp>
        <p:nvSpPr>
          <p:cNvPr id="85" name="Shape 77"/>
          <p:cNvSpPr/>
          <p:nvPr/>
        </p:nvSpPr>
        <p:spPr>
          <a:xfrm>
            <a:off x="4590974" y="231526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6" name="Text 78"/>
          <p:cNvSpPr txBox="1"/>
          <p:nvPr/>
        </p:nvSpPr>
        <p:spPr>
          <a:xfrm>
            <a:off x="4718990" y="2284034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проверить UE в воспроизводимом радиоканале</a:t>
            </a:r>
            <a:endParaRPr lang="en-US" sz="850" dirty="0"/>
          </a:p>
        </p:txBody>
      </p:sp>
      <p:sp>
        <p:nvSpPr>
          <p:cNvPr id="87" name="Shape 79"/>
          <p:cNvSpPr/>
          <p:nvPr/>
        </p:nvSpPr>
        <p:spPr>
          <a:xfrm>
            <a:off x="4590974" y="257522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8" name="Text 80"/>
          <p:cNvSpPr txBox="1"/>
          <p:nvPr/>
        </p:nvSpPr>
        <p:spPr>
          <a:xfrm>
            <a:off x="4718990" y="2543998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моделировать замирания, Doppler, многолучевость</a:t>
            </a:r>
            <a:endParaRPr lang="en-US" sz="850" dirty="0"/>
          </a:p>
        </p:txBody>
      </p:sp>
      <p:sp>
        <p:nvSpPr>
          <p:cNvPr id="89" name="Shape 81"/>
          <p:cNvSpPr/>
          <p:nvPr/>
        </p:nvSpPr>
        <p:spPr>
          <a:xfrm>
            <a:off x="4590974" y="283518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0" name="Text 82"/>
          <p:cNvSpPr txBox="1"/>
          <p:nvPr/>
        </p:nvSpPr>
        <p:spPr>
          <a:xfrm>
            <a:off x="4718990" y="2803962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повторять граничные условия деградации</a:t>
            </a:r>
            <a:endParaRPr lang="en-US" sz="850" dirty="0"/>
          </a:p>
        </p:txBody>
      </p:sp>
      <p:sp>
        <p:nvSpPr>
          <p:cNvPr id="91" name="Shape 83"/>
          <p:cNvSpPr/>
          <p:nvPr/>
        </p:nvSpPr>
        <p:spPr>
          <a:xfrm>
            <a:off x="4161206" y="3084180"/>
            <a:ext cx="234155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pic>
        <p:nvPicPr>
          <p:cNvPr id="9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7782" y="3157332"/>
            <a:ext cx="292608" cy="292608"/>
          </a:xfrm>
          <a:prstGeom prst="rect">
            <a:avLst/>
          </a:prstGeom>
        </p:spPr>
      </p:pic>
      <p:sp>
        <p:nvSpPr>
          <p:cNvPr id="93" name="Text 84"/>
          <p:cNvSpPr txBox="1"/>
          <p:nvPr/>
        </p:nvSpPr>
        <p:spPr>
          <a:xfrm>
            <a:off x="4581830" y="3120756"/>
            <a:ext cx="1920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проверяется</a:t>
            </a:r>
            <a:endParaRPr lang="en-US" sz="950" dirty="0"/>
          </a:p>
        </p:txBody>
      </p:sp>
      <p:sp>
        <p:nvSpPr>
          <p:cNvPr id="94" name="Shape 85"/>
          <p:cNvSpPr/>
          <p:nvPr/>
        </p:nvSpPr>
        <p:spPr>
          <a:xfrm>
            <a:off x="4590974" y="334204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5" name="Text 86"/>
          <p:cNvSpPr txBox="1"/>
          <p:nvPr/>
        </p:nvSpPr>
        <p:spPr>
          <a:xfrm>
            <a:off x="4718990" y="3310814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чувствительность RX при замираниях</a:t>
            </a:r>
            <a:endParaRPr lang="en-US" sz="850" dirty="0"/>
          </a:p>
        </p:txBody>
      </p:sp>
      <p:sp>
        <p:nvSpPr>
          <p:cNvPr id="96" name="Shape 87"/>
          <p:cNvSpPr/>
          <p:nvPr/>
        </p:nvSpPr>
        <p:spPr>
          <a:xfrm>
            <a:off x="4590974" y="360200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7" name="Text 88"/>
          <p:cNvSpPr txBox="1"/>
          <p:nvPr/>
        </p:nvSpPr>
        <p:spPr>
          <a:xfrm>
            <a:off x="4718990" y="3570778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BLER в моделях канала TDL / CDL</a:t>
            </a:r>
            <a:endParaRPr lang="en-US" sz="850" dirty="0"/>
          </a:p>
        </p:txBody>
      </p:sp>
      <p:sp>
        <p:nvSpPr>
          <p:cNvPr id="98" name="Shape 89"/>
          <p:cNvSpPr/>
          <p:nvPr/>
        </p:nvSpPr>
        <p:spPr>
          <a:xfrm>
            <a:off x="4590974" y="373916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9" name="Text 90"/>
          <p:cNvSpPr txBox="1"/>
          <p:nvPr/>
        </p:nvSpPr>
        <p:spPr>
          <a:xfrm>
            <a:off x="4718990" y="3707938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робастность MIMO, влияние Doppler</a:t>
            </a:r>
            <a:endParaRPr lang="en-US" sz="850" dirty="0"/>
          </a:p>
        </p:txBody>
      </p:sp>
      <p:sp>
        <p:nvSpPr>
          <p:cNvPr id="100" name="Shape 91"/>
          <p:cNvSpPr/>
          <p:nvPr/>
        </p:nvSpPr>
        <p:spPr>
          <a:xfrm>
            <a:off x="4590974" y="3999128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01" name="Text 92"/>
          <p:cNvSpPr txBox="1"/>
          <p:nvPr/>
        </p:nvSpPr>
        <p:spPr>
          <a:xfrm>
            <a:off x="4718990" y="3967902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устойчивость к многолучевости</a:t>
            </a:r>
            <a:endParaRPr lang="en-US" sz="850" dirty="0"/>
          </a:p>
        </p:txBody>
      </p:sp>
      <p:sp>
        <p:nvSpPr>
          <p:cNvPr id="102" name="Shape 93"/>
          <p:cNvSpPr/>
          <p:nvPr/>
        </p:nvSpPr>
        <p:spPr>
          <a:xfrm>
            <a:off x="4590974" y="4136288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03" name="Text 94"/>
          <p:cNvSpPr txBox="1"/>
          <p:nvPr/>
        </p:nvSpPr>
        <p:spPr>
          <a:xfrm>
            <a:off x="4718990" y="4105062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стабильность у порога чувствительности</a:t>
            </a:r>
            <a:endParaRPr lang="en-US" sz="850" dirty="0"/>
          </a:p>
        </p:txBody>
      </p:sp>
      <p:sp>
        <p:nvSpPr>
          <p:cNvPr id="104" name="Shape 95"/>
          <p:cNvSpPr/>
          <p:nvPr/>
        </p:nvSpPr>
        <p:spPr>
          <a:xfrm>
            <a:off x="6740500" y="914400"/>
            <a:ext cx="2506142" cy="3639312"/>
          </a:xfrm>
          <a:prstGeom prst="roundRect">
            <a:avLst>
              <a:gd name="adj" fmla="val 2919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105" name="Text 96"/>
          <p:cNvSpPr txBox="1"/>
          <p:nvPr/>
        </p:nvSpPr>
        <p:spPr>
          <a:xfrm>
            <a:off x="6831940" y="941832"/>
            <a:ext cx="2341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3. Проверка антенны и OTA</a:t>
            </a:r>
            <a:endParaRPr lang="en-US" sz="1050" dirty="0"/>
          </a:p>
        </p:txBody>
      </p:sp>
      <p:sp>
        <p:nvSpPr>
          <p:cNvPr id="106" name="Shape 97"/>
          <p:cNvSpPr/>
          <p:nvPr/>
        </p:nvSpPr>
        <p:spPr>
          <a:xfrm>
            <a:off x="6831940" y="13350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0E5"/>
          </a:solidFill>
          <a:ln/>
        </p:spPr>
      </p:sp>
      <p:pic>
        <p:nvPicPr>
          <p:cNvPr id="10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6804" y="1389888"/>
            <a:ext cx="256032" cy="256032"/>
          </a:xfrm>
          <a:prstGeom prst="rect">
            <a:avLst/>
          </a:prstGeom>
        </p:spPr>
      </p:pic>
      <p:sp>
        <p:nvSpPr>
          <p:cNvPr id="108" name="Text 98"/>
          <p:cNvSpPr txBox="1"/>
          <p:nvPr/>
        </p:nvSpPr>
        <p:spPr>
          <a:xfrm>
            <a:off x="7252564" y="1298448"/>
            <a:ext cx="1920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Типы устройств</a:t>
            </a:r>
            <a:endParaRPr lang="en-US" sz="950" dirty="0"/>
          </a:p>
        </p:txBody>
      </p:sp>
      <p:sp>
        <p:nvSpPr>
          <p:cNvPr id="109" name="Shape 99"/>
          <p:cNvSpPr/>
          <p:nvPr/>
        </p:nvSpPr>
        <p:spPr>
          <a:xfrm>
            <a:off x="7261708" y="151973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0" name="Text 100"/>
          <p:cNvSpPr txBox="1"/>
          <p:nvPr/>
        </p:nvSpPr>
        <p:spPr>
          <a:xfrm>
            <a:off x="7389724" y="1488506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экранированный бокс / RF-камера</a:t>
            </a:r>
            <a:endParaRPr lang="en-US" sz="850" dirty="0"/>
          </a:p>
        </p:txBody>
      </p:sp>
      <p:sp>
        <p:nvSpPr>
          <p:cNvPr id="111" name="Shape 101"/>
          <p:cNvSpPr/>
          <p:nvPr/>
        </p:nvSpPr>
        <p:spPr>
          <a:xfrm>
            <a:off x="7261708" y="177969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2" name="Text 102"/>
          <p:cNvSpPr txBox="1"/>
          <p:nvPr/>
        </p:nvSpPr>
        <p:spPr>
          <a:xfrm>
            <a:off x="7389724" y="1748470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безэховая OTA-камера</a:t>
            </a:r>
            <a:endParaRPr lang="en-US" sz="850" dirty="0"/>
          </a:p>
        </p:txBody>
      </p:sp>
      <p:sp>
        <p:nvSpPr>
          <p:cNvPr id="113" name="Shape 103"/>
          <p:cNvSpPr/>
          <p:nvPr/>
        </p:nvSpPr>
        <p:spPr>
          <a:xfrm>
            <a:off x="7261708" y="191685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4" name="Text 104"/>
          <p:cNvSpPr txBox="1"/>
          <p:nvPr/>
        </p:nvSpPr>
        <p:spPr>
          <a:xfrm>
            <a:off x="7389724" y="1885630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CATR-камера</a:t>
            </a:r>
            <a:endParaRPr lang="en-US" sz="850" dirty="0"/>
          </a:p>
        </p:txBody>
      </p:sp>
      <p:sp>
        <p:nvSpPr>
          <p:cNvPr id="115" name="Shape 105"/>
          <p:cNvSpPr/>
          <p:nvPr/>
        </p:nvSpPr>
        <p:spPr>
          <a:xfrm>
            <a:off x="7261708" y="205401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6" name="Text 106"/>
          <p:cNvSpPr txBox="1"/>
          <p:nvPr/>
        </p:nvSpPr>
        <p:spPr>
          <a:xfrm>
            <a:off x="7389724" y="2022790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тестовые антенны, позиционер</a:t>
            </a:r>
            <a:endParaRPr lang="en-US" sz="850" dirty="0"/>
          </a:p>
        </p:txBody>
      </p:sp>
      <p:sp>
        <p:nvSpPr>
          <p:cNvPr id="117" name="Shape 107"/>
          <p:cNvSpPr/>
          <p:nvPr/>
        </p:nvSpPr>
        <p:spPr>
          <a:xfrm>
            <a:off x="7261708" y="219117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8" name="Text 108"/>
          <p:cNvSpPr txBox="1"/>
          <p:nvPr/>
        </p:nvSpPr>
        <p:spPr>
          <a:xfrm>
            <a:off x="7389724" y="2159950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преобразователи FR2</a:t>
            </a:r>
            <a:endParaRPr lang="en-US" sz="850" dirty="0"/>
          </a:p>
        </p:txBody>
      </p:sp>
      <p:sp>
        <p:nvSpPr>
          <p:cNvPr id="119" name="Shape 109"/>
          <p:cNvSpPr/>
          <p:nvPr/>
        </p:nvSpPr>
        <p:spPr>
          <a:xfrm>
            <a:off x="6831940" y="2317364"/>
            <a:ext cx="234155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pic>
        <p:nvPicPr>
          <p:cNvPr id="1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8516" y="2390516"/>
            <a:ext cx="292608" cy="292608"/>
          </a:xfrm>
          <a:prstGeom prst="rect">
            <a:avLst/>
          </a:prstGeom>
        </p:spPr>
      </p:pic>
      <p:sp>
        <p:nvSpPr>
          <p:cNvPr id="121" name="Text 110"/>
          <p:cNvSpPr txBox="1"/>
          <p:nvPr/>
        </p:nvSpPr>
        <p:spPr>
          <a:xfrm>
            <a:off x="7252564" y="2353940"/>
            <a:ext cx="1920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Зачем нужен этот контур</a:t>
            </a:r>
            <a:endParaRPr lang="en-US" sz="950" dirty="0"/>
          </a:p>
        </p:txBody>
      </p:sp>
      <p:sp>
        <p:nvSpPr>
          <p:cNvPr id="122" name="Shape 111"/>
          <p:cNvSpPr/>
          <p:nvPr/>
        </p:nvSpPr>
        <p:spPr>
          <a:xfrm>
            <a:off x="7261708" y="257522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23" name="Text 112"/>
          <p:cNvSpPr txBox="1"/>
          <p:nvPr/>
        </p:nvSpPr>
        <p:spPr>
          <a:xfrm>
            <a:off x="7389724" y="2543998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оценить UE с реальной антенной системой</a:t>
            </a:r>
            <a:endParaRPr lang="en-US" sz="850" dirty="0"/>
          </a:p>
        </p:txBody>
      </p:sp>
      <p:sp>
        <p:nvSpPr>
          <p:cNvPr id="124" name="Shape 113"/>
          <p:cNvSpPr/>
          <p:nvPr/>
        </p:nvSpPr>
        <p:spPr>
          <a:xfrm>
            <a:off x="7261708" y="283518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25" name="Text 114"/>
          <p:cNvSpPr txBox="1"/>
          <p:nvPr/>
        </p:nvSpPr>
        <p:spPr>
          <a:xfrm>
            <a:off x="7389724" y="2803962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учесть корпус, ориентацию, тюнинг</a:t>
            </a:r>
            <a:endParaRPr lang="en-US" sz="850" dirty="0"/>
          </a:p>
        </p:txBody>
      </p:sp>
      <p:sp>
        <p:nvSpPr>
          <p:cNvPr id="126" name="Shape 115"/>
          <p:cNvSpPr/>
          <p:nvPr/>
        </p:nvSpPr>
        <p:spPr>
          <a:xfrm>
            <a:off x="7261708" y="309515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27" name="Text 116"/>
          <p:cNvSpPr txBox="1"/>
          <p:nvPr/>
        </p:nvSpPr>
        <p:spPr>
          <a:xfrm>
            <a:off x="7389724" y="3063926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FR2 / mmWave: излучение и поведение луча</a:t>
            </a:r>
            <a:endParaRPr lang="en-US" sz="850" dirty="0"/>
          </a:p>
        </p:txBody>
      </p:sp>
      <p:sp>
        <p:nvSpPr>
          <p:cNvPr id="128" name="Shape 117"/>
          <p:cNvSpPr/>
          <p:nvPr/>
        </p:nvSpPr>
        <p:spPr>
          <a:xfrm>
            <a:off x="6831940" y="3344144"/>
            <a:ext cx="234155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pic>
        <p:nvPicPr>
          <p:cNvPr id="1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8516" y="3417296"/>
            <a:ext cx="292608" cy="292608"/>
          </a:xfrm>
          <a:prstGeom prst="rect">
            <a:avLst/>
          </a:prstGeom>
        </p:spPr>
      </p:pic>
      <p:sp>
        <p:nvSpPr>
          <p:cNvPr id="130" name="Text 118"/>
          <p:cNvSpPr txBox="1"/>
          <p:nvPr/>
        </p:nvSpPr>
        <p:spPr>
          <a:xfrm>
            <a:off x="7252564" y="3380720"/>
            <a:ext cx="1920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проверяется</a:t>
            </a:r>
            <a:endParaRPr lang="en-US" sz="950" dirty="0"/>
          </a:p>
        </p:txBody>
      </p:sp>
      <p:sp>
        <p:nvSpPr>
          <p:cNvPr id="131" name="Shape 119"/>
          <p:cNvSpPr/>
          <p:nvPr/>
        </p:nvSpPr>
        <p:spPr>
          <a:xfrm>
            <a:off x="7261708" y="360200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2" name="Text 120"/>
          <p:cNvSpPr txBox="1"/>
          <p:nvPr/>
        </p:nvSpPr>
        <p:spPr>
          <a:xfrm>
            <a:off x="7389724" y="3570778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TRP, TIS</a:t>
            </a:r>
            <a:endParaRPr lang="en-US" sz="850" dirty="0"/>
          </a:p>
        </p:txBody>
      </p:sp>
      <p:sp>
        <p:nvSpPr>
          <p:cNvPr id="133" name="Shape 121"/>
          <p:cNvSpPr/>
          <p:nvPr/>
        </p:nvSpPr>
        <p:spPr>
          <a:xfrm>
            <a:off x="7261708" y="373916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4" name="Text 122"/>
          <p:cNvSpPr txBox="1"/>
          <p:nvPr/>
        </p:nvSpPr>
        <p:spPr>
          <a:xfrm>
            <a:off x="7389724" y="3707938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излучаемая чувствительность RX</a:t>
            </a:r>
            <a:endParaRPr lang="en-US" sz="850" dirty="0"/>
          </a:p>
        </p:txBody>
      </p:sp>
      <p:sp>
        <p:nvSpPr>
          <p:cNvPr id="135" name="Shape 123"/>
          <p:cNvSpPr/>
          <p:nvPr/>
        </p:nvSpPr>
        <p:spPr>
          <a:xfrm>
            <a:off x="7261708" y="387632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6" name="Text 124"/>
          <p:cNvSpPr txBox="1"/>
          <p:nvPr/>
        </p:nvSpPr>
        <p:spPr>
          <a:xfrm>
            <a:off x="7389724" y="3845098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антенная эффективность</a:t>
            </a:r>
            <a:endParaRPr lang="en-US" sz="850" dirty="0"/>
          </a:p>
        </p:txBody>
      </p:sp>
      <p:sp>
        <p:nvSpPr>
          <p:cNvPr id="137" name="Shape 125"/>
          <p:cNvSpPr/>
          <p:nvPr/>
        </p:nvSpPr>
        <p:spPr>
          <a:xfrm>
            <a:off x="7261708" y="401348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8" name="Text 126"/>
          <p:cNvSpPr txBox="1"/>
          <p:nvPr/>
        </p:nvSpPr>
        <p:spPr>
          <a:xfrm>
            <a:off x="7389724" y="3982258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зависимость от ориентации</a:t>
            </a:r>
            <a:endParaRPr lang="en-US" sz="850" dirty="0"/>
          </a:p>
        </p:txBody>
      </p:sp>
      <p:sp>
        <p:nvSpPr>
          <p:cNvPr id="139" name="Shape 127"/>
          <p:cNvSpPr/>
          <p:nvPr/>
        </p:nvSpPr>
        <p:spPr>
          <a:xfrm>
            <a:off x="7261708" y="415064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40" name="Text 128"/>
          <p:cNvSpPr txBox="1"/>
          <p:nvPr/>
        </p:nvSpPr>
        <p:spPr>
          <a:xfrm>
            <a:off x="7389724" y="4119418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характеристики и поведение луча</a:t>
            </a:r>
            <a:endParaRPr lang="en-US" sz="850" dirty="0"/>
          </a:p>
        </p:txBody>
      </p:sp>
      <p:sp>
        <p:nvSpPr>
          <p:cNvPr id="141" name="Shape 129"/>
          <p:cNvSpPr/>
          <p:nvPr/>
        </p:nvSpPr>
        <p:spPr>
          <a:xfrm>
            <a:off x="7261708" y="4410608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42" name="Text 130"/>
          <p:cNvSpPr txBox="1"/>
          <p:nvPr/>
        </p:nvSpPr>
        <p:spPr>
          <a:xfrm>
            <a:off x="7389724" y="4379382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desense от соседних узлов</a:t>
            </a:r>
            <a:endParaRPr lang="en-US" sz="850" dirty="0"/>
          </a:p>
        </p:txBody>
      </p:sp>
      <p:sp>
        <p:nvSpPr>
          <p:cNvPr id="143" name="Shape 131"/>
          <p:cNvSpPr/>
          <p:nvPr/>
        </p:nvSpPr>
        <p:spPr>
          <a:xfrm>
            <a:off x="9411233" y="914400"/>
            <a:ext cx="2506142" cy="3639312"/>
          </a:xfrm>
          <a:prstGeom prst="roundRect">
            <a:avLst>
              <a:gd name="adj" fmla="val 2919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144" name="Text 132"/>
          <p:cNvSpPr txBox="1"/>
          <p:nvPr/>
        </p:nvSpPr>
        <p:spPr>
          <a:xfrm>
            <a:off x="9502673" y="941832"/>
            <a:ext cx="23415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4. WaveJudge: первопричина на уровне PHY</a:t>
            </a:r>
            <a:endParaRPr lang="en-US" sz="1050" dirty="0"/>
          </a:p>
        </p:txBody>
      </p:sp>
      <p:sp>
        <p:nvSpPr>
          <p:cNvPr id="145" name="Shape 133"/>
          <p:cNvSpPr/>
          <p:nvPr/>
        </p:nvSpPr>
        <p:spPr>
          <a:xfrm>
            <a:off x="9502673" y="133502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0E5"/>
          </a:solidFill>
          <a:ln/>
        </p:spPr>
      </p:sp>
      <p:pic>
        <p:nvPicPr>
          <p:cNvPr id="1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57537" y="1389888"/>
            <a:ext cx="256032" cy="256032"/>
          </a:xfrm>
          <a:prstGeom prst="rect">
            <a:avLst/>
          </a:prstGeom>
        </p:spPr>
      </p:pic>
      <p:sp>
        <p:nvSpPr>
          <p:cNvPr id="147" name="Text 134"/>
          <p:cNvSpPr txBox="1"/>
          <p:nvPr/>
        </p:nvSpPr>
        <p:spPr>
          <a:xfrm>
            <a:off x="9923297" y="1298448"/>
            <a:ext cx="1920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Типы инструментов</a:t>
            </a:r>
            <a:endParaRPr lang="en-US" sz="950" dirty="0"/>
          </a:p>
        </p:txBody>
      </p:sp>
      <p:sp>
        <p:nvSpPr>
          <p:cNvPr id="148" name="Shape 135"/>
          <p:cNvSpPr/>
          <p:nvPr/>
        </p:nvSpPr>
        <p:spPr>
          <a:xfrm>
            <a:off x="9932441" y="151973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49" name="Text 136"/>
          <p:cNvSpPr txBox="1"/>
          <p:nvPr/>
        </p:nvSpPr>
        <p:spPr>
          <a:xfrm>
            <a:off x="10060457" y="1488506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анализ IQ-захвата</a:t>
            </a:r>
            <a:endParaRPr lang="en-US" sz="850" dirty="0"/>
          </a:p>
        </p:txBody>
      </p:sp>
      <p:sp>
        <p:nvSpPr>
          <p:cNvPr id="150" name="Shape 137"/>
          <p:cNvSpPr/>
          <p:nvPr/>
        </p:nvSpPr>
        <p:spPr>
          <a:xfrm>
            <a:off x="9932441" y="165689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51" name="Text 138"/>
          <p:cNvSpPr txBox="1"/>
          <p:nvPr/>
        </p:nvSpPr>
        <p:spPr>
          <a:xfrm>
            <a:off x="10060457" y="1625666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анализатор PHY</a:t>
            </a:r>
            <a:endParaRPr lang="en-US" sz="850" dirty="0"/>
          </a:p>
        </p:txBody>
      </p:sp>
      <p:sp>
        <p:nvSpPr>
          <p:cNvPr id="152" name="Shape 139"/>
          <p:cNvSpPr/>
          <p:nvPr/>
        </p:nvSpPr>
        <p:spPr>
          <a:xfrm>
            <a:off x="9932441" y="179405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53" name="Text 140"/>
          <p:cNvSpPr txBox="1"/>
          <p:nvPr/>
        </p:nvSpPr>
        <p:spPr>
          <a:xfrm>
            <a:off x="10060457" y="1762826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корреляция протокола и PHY</a:t>
            </a:r>
            <a:endParaRPr lang="en-US" sz="850" dirty="0"/>
          </a:p>
        </p:txBody>
      </p:sp>
      <p:sp>
        <p:nvSpPr>
          <p:cNvPr id="154" name="Shape 141"/>
          <p:cNvSpPr/>
          <p:nvPr/>
        </p:nvSpPr>
        <p:spPr>
          <a:xfrm>
            <a:off x="9932441" y="193121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55" name="Text 142"/>
          <p:cNvSpPr txBox="1"/>
          <p:nvPr/>
        </p:nvSpPr>
        <p:spPr>
          <a:xfrm>
            <a:off x="10060457" y="1899986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 для постобработки</a:t>
            </a:r>
            <a:endParaRPr lang="en-US" sz="850" dirty="0"/>
          </a:p>
        </p:txBody>
      </p:sp>
      <p:sp>
        <p:nvSpPr>
          <p:cNvPr id="156" name="Shape 143"/>
          <p:cNvSpPr/>
          <p:nvPr/>
        </p:nvSpPr>
        <p:spPr>
          <a:xfrm>
            <a:off x="9502673" y="2057400"/>
            <a:ext cx="234155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pic>
        <p:nvPicPr>
          <p:cNvPr id="15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9249" y="2130552"/>
            <a:ext cx="292608" cy="292608"/>
          </a:xfrm>
          <a:prstGeom prst="rect">
            <a:avLst/>
          </a:prstGeom>
        </p:spPr>
      </p:pic>
      <p:sp>
        <p:nvSpPr>
          <p:cNvPr id="158" name="Text 144"/>
          <p:cNvSpPr txBox="1"/>
          <p:nvPr/>
        </p:nvSpPr>
        <p:spPr>
          <a:xfrm>
            <a:off x="9923297" y="2093976"/>
            <a:ext cx="1920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Зачем нужен WaveJudge</a:t>
            </a:r>
            <a:endParaRPr lang="en-US" sz="950" dirty="0"/>
          </a:p>
        </p:txBody>
      </p:sp>
      <p:sp>
        <p:nvSpPr>
          <p:cNvPr id="159" name="Shape 145"/>
          <p:cNvSpPr/>
          <p:nvPr/>
        </p:nvSpPr>
        <p:spPr>
          <a:xfrm>
            <a:off x="9932441" y="231526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60" name="Text 146"/>
          <p:cNvSpPr txBox="1"/>
          <p:nvPr/>
        </p:nvSpPr>
        <p:spPr>
          <a:xfrm>
            <a:off x="10060457" y="2284034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работает после захвата данных</a:t>
            </a:r>
            <a:endParaRPr lang="en-US" sz="850" dirty="0"/>
          </a:p>
        </p:txBody>
      </p:sp>
      <p:sp>
        <p:nvSpPr>
          <p:cNvPr id="161" name="Shape 147"/>
          <p:cNvSpPr/>
          <p:nvPr/>
        </p:nvSpPr>
        <p:spPr>
          <a:xfrm>
            <a:off x="9932441" y="245242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62" name="Text 148"/>
          <p:cNvSpPr txBox="1"/>
          <p:nvPr/>
        </p:nvSpPr>
        <p:spPr>
          <a:xfrm>
            <a:off x="10060457" y="2421194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связывает PHY-событие с протоколом</a:t>
            </a:r>
            <a:endParaRPr lang="en-US" sz="850" dirty="0"/>
          </a:p>
        </p:txBody>
      </p:sp>
      <p:sp>
        <p:nvSpPr>
          <p:cNvPr id="163" name="Shape 149"/>
          <p:cNvSpPr/>
          <p:nvPr/>
        </p:nvSpPr>
        <p:spPr>
          <a:xfrm>
            <a:off x="9932441" y="271238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64" name="Text 150"/>
          <p:cNvSpPr txBox="1"/>
          <p:nvPr/>
        </p:nvSpPr>
        <p:spPr>
          <a:xfrm>
            <a:off x="10060457" y="2681158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показывает, где возникает деградация</a:t>
            </a:r>
            <a:endParaRPr lang="en-US" sz="850" dirty="0"/>
          </a:p>
        </p:txBody>
      </p:sp>
      <p:sp>
        <p:nvSpPr>
          <p:cNvPr id="165" name="Shape 151"/>
          <p:cNvSpPr/>
          <p:nvPr/>
        </p:nvSpPr>
        <p:spPr>
          <a:xfrm>
            <a:off x="9502673" y="2961376"/>
            <a:ext cx="234155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pic>
        <p:nvPicPr>
          <p:cNvPr id="16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39249" y="3034528"/>
            <a:ext cx="292608" cy="292608"/>
          </a:xfrm>
          <a:prstGeom prst="rect">
            <a:avLst/>
          </a:prstGeom>
        </p:spPr>
      </p:pic>
      <p:sp>
        <p:nvSpPr>
          <p:cNvPr id="167" name="Text 152"/>
          <p:cNvSpPr txBox="1"/>
          <p:nvPr/>
        </p:nvSpPr>
        <p:spPr>
          <a:xfrm>
            <a:off x="9923297" y="2997952"/>
            <a:ext cx="19209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анализируется</a:t>
            </a:r>
            <a:endParaRPr lang="en-US" sz="950" dirty="0"/>
          </a:p>
        </p:txBody>
      </p:sp>
      <p:sp>
        <p:nvSpPr>
          <p:cNvPr id="168" name="Shape 153"/>
          <p:cNvSpPr/>
          <p:nvPr/>
        </p:nvSpPr>
        <p:spPr>
          <a:xfrm>
            <a:off x="9932441" y="321923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69" name="Text 154"/>
          <p:cNvSpPr txBox="1"/>
          <p:nvPr/>
        </p:nvSpPr>
        <p:spPr>
          <a:xfrm>
            <a:off x="10060457" y="3188010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IQ-захват, OFDM-символы</a:t>
            </a:r>
            <a:endParaRPr lang="en-US" sz="850" dirty="0"/>
          </a:p>
        </p:txBody>
      </p:sp>
      <p:sp>
        <p:nvSpPr>
          <p:cNvPr id="170" name="Shape 155"/>
          <p:cNvSpPr/>
          <p:nvPr/>
        </p:nvSpPr>
        <p:spPr>
          <a:xfrm>
            <a:off x="9932441" y="335639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71" name="Text 156"/>
          <p:cNvSpPr txBox="1"/>
          <p:nvPr/>
        </p:nvSpPr>
        <p:spPr>
          <a:xfrm>
            <a:off x="10060457" y="3325170"/>
            <a:ext cx="1783766" cy="252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ресурсная решётка, разложение EVM</a:t>
            </a:r>
            <a:endParaRPr lang="en-US" sz="850" dirty="0"/>
          </a:p>
        </p:txBody>
      </p:sp>
      <p:sp>
        <p:nvSpPr>
          <p:cNvPr id="172" name="Shape 157"/>
          <p:cNvSpPr/>
          <p:nvPr/>
        </p:nvSpPr>
        <p:spPr>
          <a:xfrm>
            <a:off x="9932441" y="361636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73" name="Text 158"/>
          <p:cNvSpPr txBox="1"/>
          <p:nvPr/>
        </p:nvSpPr>
        <p:spPr>
          <a:xfrm>
            <a:off x="10060457" y="3585134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временные события PHY</a:t>
            </a:r>
            <a:endParaRPr lang="en-US" sz="850" dirty="0"/>
          </a:p>
        </p:txBody>
      </p:sp>
      <p:sp>
        <p:nvSpPr>
          <p:cNvPr id="174" name="Shape 159"/>
          <p:cNvSpPr/>
          <p:nvPr/>
        </p:nvSpPr>
        <p:spPr>
          <a:xfrm>
            <a:off x="9932441" y="375352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75" name="Text 160"/>
          <p:cNvSpPr txBox="1"/>
          <p:nvPr/>
        </p:nvSpPr>
        <p:spPr>
          <a:xfrm>
            <a:off x="10060457" y="3722294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протокол рядом с PHY-событиями</a:t>
            </a:r>
            <a:endParaRPr lang="en-US" sz="850" dirty="0"/>
          </a:p>
        </p:txBody>
      </p:sp>
      <p:sp>
        <p:nvSpPr>
          <p:cNvPr id="176" name="Shape 161"/>
          <p:cNvSpPr/>
          <p:nvPr/>
        </p:nvSpPr>
        <p:spPr>
          <a:xfrm>
            <a:off x="9932441" y="389068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77" name="Text 162"/>
          <p:cNvSpPr txBox="1"/>
          <p:nvPr/>
        </p:nvSpPr>
        <p:spPr>
          <a:xfrm>
            <a:off x="10060457" y="3859454"/>
            <a:ext cx="1783766" cy="12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первопричина BLER / ошибок</a:t>
            </a:r>
            <a:endParaRPr lang="en-US" sz="850" dirty="0"/>
          </a:p>
        </p:txBody>
      </p:sp>
      <p:sp>
        <p:nvSpPr>
          <p:cNvPr id="178" name="Shape 163"/>
          <p:cNvSpPr/>
          <p:nvPr/>
        </p:nvSpPr>
        <p:spPr>
          <a:xfrm>
            <a:off x="2798750" y="2734056"/>
            <a:ext cx="128016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79" name="Shape 164"/>
          <p:cNvSpPr/>
          <p:nvPr/>
        </p:nvSpPr>
        <p:spPr>
          <a:xfrm>
            <a:off x="3923462" y="2734056"/>
            <a:ext cx="128016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80" name="Shape 165"/>
          <p:cNvSpPr/>
          <p:nvPr/>
        </p:nvSpPr>
        <p:spPr>
          <a:xfrm>
            <a:off x="6594196" y="2734056"/>
            <a:ext cx="128016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81" name="Shape 166"/>
          <p:cNvSpPr/>
          <p:nvPr/>
        </p:nvSpPr>
        <p:spPr>
          <a:xfrm>
            <a:off x="9264929" y="2734056"/>
            <a:ext cx="128016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82" name="Shape 167"/>
          <p:cNvSpPr/>
          <p:nvPr/>
        </p:nvSpPr>
        <p:spPr>
          <a:xfrm>
            <a:off x="274320" y="4663440"/>
            <a:ext cx="57607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183" name="Text 168"/>
          <p:cNvSpPr txBox="1"/>
          <p:nvPr/>
        </p:nvSpPr>
        <p:spPr>
          <a:xfrm>
            <a:off x="274320" y="46908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Как инженер читает результат</a:t>
            </a:r>
            <a:endParaRPr lang="en-US" sz="1250" dirty="0"/>
          </a:p>
        </p:txBody>
      </p:sp>
      <p:sp>
        <p:nvSpPr>
          <p:cNvPr id="184" name="Shape 169"/>
          <p:cNvSpPr/>
          <p:nvPr/>
        </p:nvSpPr>
        <p:spPr>
          <a:xfrm>
            <a:off x="384048" y="5010912"/>
            <a:ext cx="5541264" cy="210312"/>
          </a:xfrm>
          <a:prstGeom prst="roundRect">
            <a:avLst>
              <a:gd name="adj" fmla="val 17391"/>
            </a:avLst>
          </a:prstGeom>
          <a:solidFill>
            <a:srgbClr val="F9F9FF"/>
          </a:solidFill>
          <a:ln/>
        </p:spPr>
      </p:sp>
      <p:sp>
        <p:nvSpPr>
          <p:cNvPr id="185" name="Shape 170"/>
          <p:cNvSpPr/>
          <p:nvPr/>
        </p:nvSpPr>
        <p:spPr>
          <a:xfrm>
            <a:off x="457200" y="500176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534EE6"/>
          </a:solidFill>
          <a:ln/>
        </p:spPr>
      </p:sp>
      <p:sp>
        <p:nvSpPr>
          <p:cNvPr id="186" name="Text 171"/>
          <p:cNvSpPr txBox="1"/>
          <p:nvPr/>
        </p:nvSpPr>
        <p:spPr>
          <a:xfrm>
            <a:off x="457200" y="5001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1</a:t>
            </a:r>
            <a:endParaRPr lang="en-US" sz="1100" dirty="0"/>
          </a:p>
        </p:txBody>
      </p:sp>
      <p:sp>
        <p:nvSpPr>
          <p:cNvPr id="187" name="Text 172"/>
          <p:cNvSpPr txBox="1"/>
          <p:nvPr/>
        </p:nvSpPr>
        <p:spPr>
          <a:xfrm>
            <a:off x="786384" y="5010912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Если ошибка есть уже в проводной постановке → вероятная зона: TX/RX-тракт, РЧ фронт-энд, базовая обработка, калибровка</a:t>
            </a:r>
            <a:endParaRPr lang="en-US" sz="900" dirty="0"/>
          </a:p>
        </p:txBody>
      </p:sp>
      <p:pic>
        <p:nvPicPr>
          <p:cNvPr id="18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77840" y="4992624"/>
            <a:ext cx="256032" cy="256032"/>
          </a:xfrm>
          <a:prstGeom prst="rect">
            <a:avLst/>
          </a:prstGeom>
        </p:spPr>
      </p:pic>
      <p:sp>
        <p:nvSpPr>
          <p:cNvPr id="189" name="Shape 173"/>
          <p:cNvSpPr/>
          <p:nvPr/>
        </p:nvSpPr>
        <p:spPr>
          <a:xfrm>
            <a:off x="384048" y="5266944"/>
            <a:ext cx="5541264" cy="210312"/>
          </a:xfrm>
          <a:prstGeom prst="roundRect">
            <a:avLst>
              <a:gd name="adj" fmla="val 17391"/>
            </a:avLst>
          </a:prstGeom>
          <a:solidFill>
            <a:srgbClr val="F9F9FF"/>
          </a:solidFill>
          <a:ln/>
        </p:spPr>
      </p:sp>
      <p:sp>
        <p:nvSpPr>
          <p:cNvPr id="190" name="Shape 174"/>
          <p:cNvSpPr/>
          <p:nvPr/>
        </p:nvSpPr>
        <p:spPr>
          <a:xfrm>
            <a:off x="457200" y="525780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534EE6"/>
          </a:solidFill>
          <a:ln/>
        </p:spPr>
      </p:sp>
      <p:sp>
        <p:nvSpPr>
          <p:cNvPr id="191" name="Text 175"/>
          <p:cNvSpPr txBox="1"/>
          <p:nvPr/>
        </p:nvSpPr>
        <p:spPr>
          <a:xfrm>
            <a:off x="457200" y="5257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2</a:t>
            </a:r>
            <a:endParaRPr lang="en-US" sz="1100" dirty="0"/>
          </a:p>
        </p:txBody>
      </p:sp>
      <p:sp>
        <p:nvSpPr>
          <p:cNvPr id="192" name="Text 176"/>
          <p:cNvSpPr txBox="1"/>
          <p:nvPr/>
        </p:nvSpPr>
        <p:spPr>
          <a:xfrm>
            <a:off x="786384" y="5266944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Если ошибка появляется только с эмулятором канала → вероятная зона: эквализация, оценка канала, MIMO, робастность к Doppler / замираниям</a:t>
            </a:r>
            <a:endParaRPr lang="en-US" sz="900" dirty="0"/>
          </a:p>
        </p:txBody>
      </p:sp>
      <p:pic>
        <p:nvPicPr>
          <p:cNvPr id="19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77840" y="5248656"/>
            <a:ext cx="256032" cy="256032"/>
          </a:xfrm>
          <a:prstGeom prst="rect">
            <a:avLst/>
          </a:prstGeom>
        </p:spPr>
      </p:pic>
      <p:sp>
        <p:nvSpPr>
          <p:cNvPr id="194" name="Shape 177"/>
          <p:cNvSpPr/>
          <p:nvPr/>
        </p:nvSpPr>
        <p:spPr>
          <a:xfrm>
            <a:off x="384048" y="5522976"/>
            <a:ext cx="5541264" cy="210312"/>
          </a:xfrm>
          <a:prstGeom prst="roundRect">
            <a:avLst>
              <a:gd name="adj" fmla="val 17391"/>
            </a:avLst>
          </a:prstGeom>
          <a:solidFill>
            <a:srgbClr val="F9F9FF"/>
          </a:solidFill>
          <a:ln/>
        </p:spPr>
      </p:sp>
      <p:sp>
        <p:nvSpPr>
          <p:cNvPr id="195" name="Shape 178"/>
          <p:cNvSpPr/>
          <p:nvPr/>
        </p:nvSpPr>
        <p:spPr>
          <a:xfrm>
            <a:off x="457200" y="551383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534EE6"/>
          </a:solidFill>
          <a:ln/>
        </p:spPr>
      </p:sp>
      <p:sp>
        <p:nvSpPr>
          <p:cNvPr id="196" name="Text 179"/>
          <p:cNvSpPr txBox="1"/>
          <p:nvPr/>
        </p:nvSpPr>
        <p:spPr>
          <a:xfrm>
            <a:off x="457200" y="5513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</a:t>
            </a:r>
            <a:endParaRPr lang="en-US" sz="1100" dirty="0"/>
          </a:p>
        </p:txBody>
      </p:sp>
      <p:sp>
        <p:nvSpPr>
          <p:cNvPr id="197" name="Text 180"/>
          <p:cNvSpPr txBox="1"/>
          <p:nvPr/>
        </p:nvSpPr>
        <p:spPr>
          <a:xfrm>
            <a:off x="786384" y="5522976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Если ошибка появляется только в OTA → вероятная зона: антенна, ориентация, поведение луча, влияние корпуса, снижение чувствительности</a:t>
            </a:r>
            <a:endParaRPr lang="en-US" sz="900" dirty="0"/>
          </a:p>
        </p:txBody>
      </p:sp>
      <p:pic>
        <p:nvPicPr>
          <p:cNvPr id="19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77840" y="5504688"/>
            <a:ext cx="256032" cy="256032"/>
          </a:xfrm>
          <a:prstGeom prst="rect">
            <a:avLst/>
          </a:prstGeom>
        </p:spPr>
      </p:pic>
      <p:sp>
        <p:nvSpPr>
          <p:cNvPr id="199" name="Shape 181"/>
          <p:cNvSpPr/>
          <p:nvPr/>
        </p:nvSpPr>
        <p:spPr>
          <a:xfrm>
            <a:off x="384048" y="5779008"/>
            <a:ext cx="5541264" cy="210312"/>
          </a:xfrm>
          <a:prstGeom prst="roundRect">
            <a:avLst>
              <a:gd name="adj" fmla="val 17391"/>
            </a:avLst>
          </a:prstGeom>
          <a:solidFill>
            <a:srgbClr val="F9F9FF"/>
          </a:solidFill>
          <a:ln/>
        </p:spPr>
      </p:sp>
      <p:sp>
        <p:nvSpPr>
          <p:cNvPr id="200" name="Shape 182"/>
          <p:cNvSpPr/>
          <p:nvPr/>
        </p:nvSpPr>
        <p:spPr>
          <a:xfrm>
            <a:off x="457200" y="576986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534EE6"/>
          </a:solidFill>
          <a:ln/>
        </p:spPr>
      </p:sp>
      <p:sp>
        <p:nvSpPr>
          <p:cNvPr id="201" name="Text 183"/>
          <p:cNvSpPr txBox="1"/>
          <p:nvPr/>
        </p:nvSpPr>
        <p:spPr>
          <a:xfrm>
            <a:off x="457200" y="5769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4</a:t>
            </a:r>
            <a:endParaRPr lang="en-US" sz="1100" dirty="0"/>
          </a:p>
        </p:txBody>
      </p:sp>
      <p:sp>
        <p:nvSpPr>
          <p:cNvPr id="202" name="Text 184"/>
          <p:cNvSpPr txBox="1"/>
          <p:nvPr/>
        </p:nvSpPr>
        <p:spPr>
          <a:xfrm>
            <a:off x="786384" y="5779008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Если результат есть, но причина неясна → WaveJudge: анализ IQ, событий PHY и связи с протокольной трассой</a:t>
            </a:r>
            <a:endParaRPr lang="en-US" sz="900" dirty="0"/>
          </a:p>
        </p:txBody>
      </p:sp>
      <p:pic>
        <p:nvPicPr>
          <p:cNvPr id="20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77840" y="5760720"/>
            <a:ext cx="256032" cy="256032"/>
          </a:xfrm>
          <a:prstGeom prst="rect">
            <a:avLst/>
          </a:prstGeom>
        </p:spPr>
      </p:pic>
      <p:sp>
        <p:nvSpPr>
          <p:cNvPr id="204" name="Shape 185"/>
          <p:cNvSpPr/>
          <p:nvPr/>
        </p:nvSpPr>
        <p:spPr>
          <a:xfrm>
            <a:off x="6153912" y="4663440"/>
            <a:ext cx="5763463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2E9B57"/>
            </a:solidFill>
            <a:prstDash val="solid"/>
          </a:ln>
        </p:spPr>
      </p:sp>
      <p:sp>
        <p:nvSpPr>
          <p:cNvPr id="205" name="Text 186"/>
          <p:cNvSpPr txBox="1"/>
          <p:nvPr/>
        </p:nvSpPr>
        <p:spPr>
          <a:xfrm>
            <a:off x="6153912" y="4690872"/>
            <a:ext cx="57634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E9B5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Критерий полноценного RF-теста</a:t>
            </a:r>
            <a:endParaRPr lang="en-US" sz="1250" dirty="0"/>
          </a:p>
        </p:txBody>
      </p:sp>
      <p:pic>
        <p:nvPicPr>
          <p:cNvPr id="20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6792" y="4983480"/>
            <a:ext cx="164592" cy="164592"/>
          </a:xfrm>
          <a:prstGeom prst="rect">
            <a:avLst/>
          </a:prstGeom>
        </p:spPr>
      </p:pic>
      <p:sp>
        <p:nvSpPr>
          <p:cNvPr id="207" name="Text 187"/>
          <p:cNvSpPr txBox="1"/>
          <p:nvPr/>
        </p:nvSpPr>
        <p:spPr>
          <a:xfrm>
            <a:off x="6611112" y="4992624"/>
            <a:ext cx="47576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измерен TX-тракт</a:t>
            </a:r>
            <a:endParaRPr lang="en-US" sz="950" dirty="0"/>
          </a:p>
        </p:txBody>
      </p:sp>
      <p:pic>
        <p:nvPicPr>
          <p:cNvPr id="20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505895" y="4983480"/>
            <a:ext cx="164592" cy="164592"/>
          </a:xfrm>
          <a:prstGeom prst="rect">
            <a:avLst/>
          </a:prstGeom>
        </p:spPr>
      </p:pic>
      <p:sp>
        <p:nvSpPr>
          <p:cNvPr id="209" name="Shape 188"/>
          <p:cNvSpPr/>
          <p:nvPr/>
        </p:nvSpPr>
        <p:spPr>
          <a:xfrm>
            <a:off x="6336792" y="5138928"/>
            <a:ext cx="5397703" cy="0"/>
          </a:xfrm>
          <a:prstGeom prst="line">
            <a:avLst/>
          </a:prstGeom>
          <a:noFill/>
          <a:ln w="6350">
            <a:solidFill>
              <a:srgbClr val="D9EFE1"/>
            </a:solidFill>
            <a:prstDash val="solid"/>
          </a:ln>
        </p:spPr>
      </p:sp>
      <p:pic>
        <p:nvPicPr>
          <p:cNvPr id="21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36792" y="5129784"/>
            <a:ext cx="164592" cy="164592"/>
          </a:xfrm>
          <a:prstGeom prst="rect">
            <a:avLst/>
          </a:prstGeom>
        </p:spPr>
      </p:pic>
      <p:sp>
        <p:nvSpPr>
          <p:cNvPr id="211" name="Text 189"/>
          <p:cNvSpPr txBox="1"/>
          <p:nvPr/>
        </p:nvSpPr>
        <p:spPr>
          <a:xfrm>
            <a:off x="6611112" y="5138928"/>
            <a:ext cx="47576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измерен RX-тракт</a:t>
            </a:r>
            <a:endParaRPr lang="en-US" sz="950" dirty="0"/>
          </a:p>
        </p:txBody>
      </p:sp>
      <p:pic>
        <p:nvPicPr>
          <p:cNvPr id="21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505895" y="5129784"/>
            <a:ext cx="164592" cy="164592"/>
          </a:xfrm>
          <a:prstGeom prst="rect">
            <a:avLst/>
          </a:prstGeom>
        </p:spPr>
      </p:pic>
      <p:sp>
        <p:nvSpPr>
          <p:cNvPr id="213" name="Shape 190"/>
          <p:cNvSpPr/>
          <p:nvPr/>
        </p:nvSpPr>
        <p:spPr>
          <a:xfrm>
            <a:off x="6336792" y="5285232"/>
            <a:ext cx="5397703" cy="0"/>
          </a:xfrm>
          <a:prstGeom prst="line">
            <a:avLst/>
          </a:prstGeom>
          <a:noFill/>
          <a:ln w="6350">
            <a:solidFill>
              <a:srgbClr val="D9EFE1"/>
            </a:solidFill>
            <a:prstDash val="solid"/>
          </a:ln>
        </p:spPr>
      </p:sp>
      <p:pic>
        <p:nvPicPr>
          <p:cNvPr id="21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36792" y="5276088"/>
            <a:ext cx="164592" cy="164592"/>
          </a:xfrm>
          <a:prstGeom prst="rect">
            <a:avLst/>
          </a:prstGeom>
        </p:spPr>
      </p:pic>
      <p:sp>
        <p:nvSpPr>
          <p:cNvPr id="215" name="Text 191"/>
          <p:cNvSpPr txBox="1"/>
          <p:nvPr/>
        </p:nvSpPr>
        <p:spPr>
          <a:xfrm>
            <a:off x="6611112" y="5285232"/>
            <a:ext cx="47576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проверена чувствительность</a:t>
            </a:r>
            <a:endParaRPr lang="en-US" sz="950" dirty="0"/>
          </a:p>
        </p:txBody>
      </p:sp>
      <p:pic>
        <p:nvPicPr>
          <p:cNvPr id="21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505895" y="5276088"/>
            <a:ext cx="164592" cy="164592"/>
          </a:xfrm>
          <a:prstGeom prst="rect">
            <a:avLst/>
          </a:prstGeom>
        </p:spPr>
      </p:pic>
      <p:sp>
        <p:nvSpPr>
          <p:cNvPr id="217" name="Shape 192"/>
          <p:cNvSpPr/>
          <p:nvPr/>
        </p:nvSpPr>
        <p:spPr>
          <a:xfrm>
            <a:off x="6336792" y="5431536"/>
            <a:ext cx="5397703" cy="0"/>
          </a:xfrm>
          <a:prstGeom prst="line">
            <a:avLst/>
          </a:prstGeom>
          <a:noFill/>
          <a:ln w="6350">
            <a:solidFill>
              <a:srgbClr val="D9EFE1"/>
            </a:solidFill>
            <a:prstDash val="solid"/>
          </a:ln>
        </p:spPr>
      </p:sp>
      <p:pic>
        <p:nvPicPr>
          <p:cNvPr id="21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36792" y="5422392"/>
            <a:ext cx="164592" cy="164592"/>
          </a:xfrm>
          <a:prstGeom prst="rect">
            <a:avLst/>
          </a:prstGeom>
        </p:spPr>
      </p:pic>
      <p:sp>
        <p:nvSpPr>
          <p:cNvPr id="219" name="Text 193"/>
          <p:cNvSpPr txBox="1"/>
          <p:nvPr/>
        </p:nvSpPr>
        <p:spPr>
          <a:xfrm>
            <a:off x="6611112" y="5431536"/>
            <a:ext cx="47576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проверена устойчивость в реалистичном канале</a:t>
            </a:r>
            <a:endParaRPr lang="en-US" sz="950" dirty="0"/>
          </a:p>
        </p:txBody>
      </p:sp>
      <p:pic>
        <p:nvPicPr>
          <p:cNvPr id="22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505895" y="5422392"/>
            <a:ext cx="164592" cy="164592"/>
          </a:xfrm>
          <a:prstGeom prst="rect">
            <a:avLst/>
          </a:prstGeom>
        </p:spPr>
      </p:pic>
      <p:sp>
        <p:nvSpPr>
          <p:cNvPr id="221" name="Shape 194"/>
          <p:cNvSpPr/>
          <p:nvPr/>
        </p:nvSpPr>
        <p:spPr>
          <a:xfrm>
            <a:off x="6336792" y="5577840"/>
            <a:ext cx="5397703" cy="0"/>
          </a:xfrm>
          <a:prstGeom prst="line">
            <a:avLst/>
          </a:prstGeom>
          <a:noFill/>
          <a:ln w="6350">
            <a:solidFill>
              <a:srgbClr val="D9EFE1"/>
            </a:solidFill>
            <a:prstDash val="solid"/>
          </a:ln>
        </p:spPr>
      </p:sp>
      <p:pic>
        <p:nvPicPr>
          <p:cNvPr id="22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36792" y="5568696"/>
            <a:ext cx="164592" cy="164592"/>
          </a:xfrm>
          <a:prstGeom prst="rect">
            <a:avLst/>
          </a:prstGeom>
        </p:spPr>
      </p:pic>
      <p:sp>
        <p:nvSpPr>
          <p:cNvPr id="223" name="Text 195"/>
          <p:cNvSpPr txBox="1"/>
          <p:nvPr/>
        </p:nvSpPr>
        <p:spPr>
          <a:xfrm>
            <a:off x="6611112" y="5577840"/>
            <a:ext cx="47576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проверена антенная / OTA-часть</a:t>
            </a:r>
            <a:endParaRPr lang="en-US" sz="950" dirty="0"/>
          </a:p>
        </p:txBody>
      </p:sp>
      <p:pic>
        <p:nvPicPr>
          <p:cNvPr id="224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505895" y="5568696"/>
            <a:ext cx="164592" cy="164592"/>
          </a:xfrm>
          <a:prstGeom prst="rect">
            <a:avLst/>
          </a:prstGeom>
        </p:spPr>
      </p:pic>
      <p:sp>
        <p:nvSpPr>
          <p:cNvPr id="225" name="Shape 196"/>
          <p:cNvSpPr/>
          <p:nvPr/>
        </p:nvSpPr>
        <p:spPr>
          <a:xfrm>
            <a:off x="6336792" y="5724144"/>
            <a:ext cx="5397703" cy="0"/>
          </a:xfrm>
          <a:prstGeom prst="line">
            <a:avLst/>
          </a:prstGeom>
          <a:noFill/>
          <a:ln w="6350">
            <a:solidFill>
              <a:srgbClr val="D9EFE1"/>
            </a:solidFill>
            <a:prstDash val="solid"/>
          </a:ln>
        </p:spPr>
      </p:sp>
      <p:pic>
        <p:nvPicPr>
          <p:cNvPr id="22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36792" y="5715000"/>
            <a:ext cx="164592" cy="164592"/>
          </a:xfrm>
          <a:prstGeom prst="rect">
            <a:avLst/>
          </a:prstGeom>
        </p:spPr>
      </p:pic>
      <p:sp>
        <p:nvSpPr>
          <p:cNvPr id="227" name="Text 197"/>
          <p:cNvSpPr txBox="1"/>
          <p:nvPr/>
        </p:nvSpPr>
        <p:spPr>
          <a:xfrm>
            <a:off x="6611112" y="5724144"/>
            <a:ext cx="47576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собраны данные IQ и трассировки</a:t>
            </a:r>
            <a:endParaRPr lang="en-US" sz="950" dirty="0"/>
          </a:p>
        </p:txBody>
      </p:sp>
      <p:pic>
        <p:nvPicPr>
          <p:cNvPr id="228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505895" y="5715000"/>
            <a:ext cx="164592" cy="164592"/>
          </a:xfrm>
          <a:prstGeom prst="rect">
            <a:avLst/>
          </a:prstGeom>
        </p:spPr>
      </p:pic>
      <p:sp>
        <p:nvSpPr>
          <p:cNvPr id="229" name="Shape 198"/>
          <p:cNvSpPr/>
          <p:nvPr/>
        </p:nvSpPr>
        <p:spPr>
          <a:xfrm>
            <a:off x="6336792" y="5870448"/>
            <a:ext cx="5397703" cy="0"/>
          </a:xfrm>
          <a:prstGeom prst="line">
            <a:avLst/>
          </a:prstGeom>
          <a:noFill/>
          <a:ln w="6350">
            <a:solidFill>
              <a:srgbClr val="D9EFE1"/>
            </a:solidFill>
            <a:prstDash val="solid"/>
          </a:ln>
        </p:spPr>
      </p:sp>
      <p:pic>
        <p:nvPicPr>
          <p:cNvPr id="230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36792" y="5861304"/>
            <a:ext cx="164592" cy="164592"/>
          </a:xfrm>
          <a:prstGeom prst="rect">
            <a:avLst/>
          </a:prstGeom>
        </p:spPr>
      </p:pic>
      <p:sp>
        <p:nvSpPr>
          <p:cNvPr id="231" name="Text 199"/>
          <p:cNvSpPr txBox="1"/>
          <p:nvPr/>
        </p:nvSpPr>
        <p:spPr>
          <a:xfrm>
            <a:off x="6611112" y="5870448"/>
            <a:ext cx="47576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локализована причина деградации</a:t>
            </a:r>
            <a:endParaRPr lang="en-US" sz="950" dirty="0"/>
          </a:p>
        </p:txBody>
      </p:sp>
      <p:pic>
        <p:nvPicPr>
          <p:cNvPr id="2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505895" y="5861304"/>
            <a:ext cx="164592" cy="164592"/>
          </a:xfrm>
          <a:prstGeom prst="rect">
            <a:avLst/>
          </a:prstGeom>
        </p:spPr>
      </p:pic>
      <p:sp>
        <p:nvSpPr>
          <p:cNvPr id="233" name="Shape 200"/>
          <p:cNvSpPr/>
          <p:nvPr/>
        </p:nvSpPr>
        <p:spPr>
          <a:xfrm>
            <a:off x="274320" y="6163056"/>
            <a:ext cx="11643055" cy="548640"/>
          </a:xfrm>
          <a:prstGeom prst="roundRect">
            <a:avLst>
              <a:gd name="adj" fmla="val 16667"/>
            </a:avLst>
          </a:prstGeom>
          <a:solidFill>
            <a:srgbClr val="534EE6"/>
          </a:solidFill>
          <a:ln/>
        </p:spPr>
      </p:sp>
      <p:pic>
        <p:nvPicPr>
          <p:cNvPr id="23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8640" y="6254496"/>
            <a:ext cx="365760" cy="365760"/>
          </a:xfrm>
          <a:prstGeom prst="rect">
            <a:avLst/>
          </a:prstGeom>
        </p:spPr>
      </p:pic>
      <p:pic>
        <p:nvPicPr>
          <p:cNvPr id="23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277295" y="6254496"/>
            <a:ext cx="365760" cy="365760"/>
          </a:xfrm>
          <a:prstGeom prst="rect">
            <a:avLst/>
          </a:prstGeom>
        </p:spPr>
      </p:pic>
      <p:sp>
        <p:nvSpPr>
          <p:cNvPr id="236" name="Text 201"/>
          <p:cNvSpPr txBox="1"/>
          <p:nvPr/>
        </p:nvSpPr>
        <p:spPr>
          <a:xfrm>
            <a:off x="1188720" y="6181344"/>
            <a:ext cx="9814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Полноценное RF-тестирование UE — это не один прибор, а стенд из проводных измерений, эмуляции радиоканала, OTA-проверки и WaveJudge-анализа для локализации причины деградации.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430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Тестирование протоколов UE: NAS, RRC и процедуры сессии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97680" y="658368"/>
            <a:ext cx="3596335" cy="1024128"/>
          </a:xfrm>
          <a:prstGeom prst="roundRect">
            <a:avLst>
              <a:gd name="adj" fmla="val 8929"/>
            </a:avLst>
          </a:prstGeom>
          <a:solidFill>
            <a:srgbClr val="534EE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841248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94960" y="768096"/>
            <a:ext cx="23161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1207008"/>
            <a:ext cx="2316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тестируемое устройство (DUT)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050792" y="1170432"/>
            <a:ext cx="219456" cy="0"/>
          </a:xfrm>
          <a:prstGeom prst="line">
            <a:avLst/>
          </a:prstGeom>
          <a:noFill/>
          <a:ln w="25400">
            <a:solidFill>
              <a:srgbClr val="534EE6"/>
            </a:solidFill>
            <a:prstDash val="solid"/>
            <a:headEnd type="triangl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7921447" y="1170432"/>
            <a:ext cx="219456" cy="0"/>
          </a:xfrm>
          <a:prstGeom prst="line">
            <a:avLst/>
          </a:prstGeom>
          <a:noFill/>
          <a:ln w="25400">
            <a:solidFill>
              <a:srgbClr val="534EE6"/>
            </a:solidFill>
            <a:prstDash val="solid"/>
            <a:headEnd type="triangl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572000" y="1828800"/>
            <a:ext cx="3047695" cy="338328"/>
          </a:xfrm>
          <a:prstGeom prst="roundRect">
            <a:avLst>
              <a:gd name="adj" fmla="val 16216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01952"/>
            <a:ext cx="192024" cy="1920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29200" y="1828800"/>
            <a:ext cx="24990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1. Установка RRC-соединения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5848" y="1700784"/>
            <a:ext cx="0" cy="109728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572000" y="2286000"/>
            <a:ext cx="3047695" cy="338328"/>
          </a:xfrm>
          <a:prstGeom prst="roundRect">
            <a:avLst>
              <a:gd name="adj" fmla="val 16216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359152"/>
            <a:ext cx="192024" cy="19202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29200" y="2286000"/>
            <a:ext cx="24990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2. Регистрация NAS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095848" y="2167128"/>
            <a:ext cx="0" cy="109728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4572000" y="2743200"/>
            <a:ext cx="3047695" cy="338328"/>
          </a:xfrm>
          <a:prstGeom prst="roundRect">
            <a:avLst>
              <a:gd name="adj" fmla="val 16216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816352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029200" y="2743200"/>
            <a:ext cx="24990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3. Аутентификация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095848" y="2624328"/>
            <a:ext cx="0" cy="109728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4572000" y="3200400"/>
            <a:ext cx="3047695" cy="338328"/>
          </a:xfrm>
          <a:prstGeom prst="roundRect">
            <a:avLst>
              <a:gd name="adj" fmla="val 16216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273552"/>
            <a:ext cx="192024" cy="19202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029200" y="3200400"/>
            <a:ext cx="24990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4. Режим защиты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095848" y="3081528"/>
            <a:ext cx="0" cy="109728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4572000" y="3657600"/>
            <a:ext cx="3047695" cy="338328"/>
          </a:xfrm>
          <a:prstGeom prst="roundRect">
            <a:avLst>
              <a:gd name="adj" fmla="val 16216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730752"/>
            <a:ext cx="192024" cy="19202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029200" y="3657600"/>
            <a:ext cx="24990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5. Создание PDU-сессии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095848" y="3538728"/>
            <a:ext cx="0" cy="109728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29" name="Shape 21"/>
          <p:cNvSpPr/>
          <p:nvPr/>
        </p:nvSpPr>
        <p:spPr>
          <a:xfrm>
            <a:off x="4572000" y="4114800"/>
            <a:ext cx="3047695" cy="338328"/>
          </a:xfrm>
          <a:prstGeom prst="roundRect">
            <a:avLst>
              <a:gd name="adj" fmla="val 16216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187952"/>
            <a:ext cx="192024" cy="19202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029200" y="4114800"/>
            <a:ext cx="249905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6. Сессия активна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095848" y="3995928"/>
            <a:ext cx="0" cy="109728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33" name="Shape 24"/>
          <p:cNvSpPr/>
          <p:nvPr/>
        </p:nvSpPr>
        <p:spPr>
          <a:xfrm>
            <a:off x="274320" y="658368"/>
            <a:ext cx="3749040" cy="2651760"/>
          </a:xfrm>
          <a:prstGeom prst="roundRect">
            <a:avLst>
              <a:gd name="adj" fmla="val 2759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" y="768096"/>
            <a:ext cx="329184" cy="329184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68680" y="713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Эмуляция RAN и радиодоступа</a:t>
            </a:r>
            <a:endParaRPr lang="en-US" sz="12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1248156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77240" y="1263747"/>
            <a:ext cx="3108960" cy="190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колбокс</a:t>
            </a:r>
            <a:endParaRPr lang="en-US" sz="10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" y="1476756"/>
            <a:ext cx="182880" cy="18288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777240" y="1492347"/>
            <a:ext cx="3108960" cy="190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базовой станции</a:t>
            </a:r>
            <a:endParaRPr lang="en-US" sz="105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" y="1705356"/>
            <a:ext cx="182880" cy="182880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777240" y="1720947"/>
            <a:ext cx="3108960" cy="190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протокольная тестовая платформа</a:t>
            </a:r>
            <a:endParaRPr lang="en-US" sz="105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" y="1933956"/>
            <a:ext cx="182880" cy="182880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777240" y="1949547"/>
            <a:ext cx="3108960" cy="190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система сбора протокольной трассировки</a:t>
            </a:r>
            <a:endParaRPr lang="en-US" sz="1050" dirty="0"/>
          </a:p>
        </p:txBody>
      </p:sp>
      <p:sp>
        <p:nvSpPr>
          <p:cNvPr id="44" name="Shape 30"/>
          <p:cNvSpPr/>
          <p:nvPr/>
        </p:nvSpPr>
        <p:spPr>
          <a:xfrm>
            <a:off x="502920" y="2194560"/>
            <a:ext cx="329184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sp>
        <p:nvSpPr>
          <p:cNvPr id="45" name="Shape 31"/>
          <p:cNvSpPr/>
          <p:nvPr/>
        </p:nvSpPr>
        <p:spPr>
          <a:xfrm>
            <a:off x="512064" y="232440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46" name="Text 32"/>
          <p:cNvSpPr txBox="1"/>
          <p:nvPr/>
        </p:nvSpPr>
        <p:spPr>
          <a:xfrm>
            <a:off x="640080" y="2282342"/>
            <a:ext cx="324612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установка RRC-соединения</a:t>
            </a:r>
            <a:endParaRPr lang="en-US" sz="1000" dirty="0"/>
          </a:p>
        </p:txBody>
      </p:sp>
      <p:sp>
        <p:nvSpPr>
          <p:cNvPr id="47" name="Shape 33"/>
          <p:cNvSpPr/>
          <p:nvPr/>
        </p:nvSpPr>
        <p:spPr>
          <a:xfrm>
            <a:off x="512064" y="251642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48" name="Text 34"/>
          <p:cNvSpPr txBox="1"/>
          <p:nvPr/>
        </p:nvSpPr>
        <p:spPr>
          <a:xfrm>
            <a:off x="640080" y="2474366"/>
            <a:ext cx="324612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перенастройка RRC</a:t>
            </a:r>
            <a:endParaRPr lang="en-US" sz="1000" dirty="0"/>
          </a:p>
        </p:txBody>
      </p:sp>
      <p:sp>
        <p:nvSpPr>
          <p:cNvPr id="49" name="Shape 35"/>
          <p:cNvSpPr/>
          <p:nvPr/>
        </p:nvSpPr>
        <p:spPr>
          <a:xfrm>
            <a:off x="512064" y="270845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0" name="Text 36"/>
          <p:cNvSpPr txBox="1"/>
          <p:nvPr/>
        </p:nvSpPr>
        <p:spPr>
          <a:xfrm>
            <a:off x="640080" y="2666390"/>
            <a:ext cx="324612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настройка радиоканала передачи</a:t>
            </a:r>
            <a:endParaRPr lang="en-US" sz="1000" dirty="0"/>
          </a:p>
        </p:txBody>
      </p:sp>
      <p:sp>
        <p:nvSpPr>
          <p:cNvPr id="51" name="Shape 37"/>
          <p:cNvSpPr/>
          <p:nvPr/>
        </p:nvSpPr>
        <p:spPr>
          <a:xfrm>
            <a:off x="512064" y="290047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2" name="Text 38"/>
          <p:cNvSpPr txBox="1"/>
          <p:nvPr/>
        </p:nvSpPr>
        <p:spPr>
          <a:xfrm>
            <a:off x="640080" y="2858414"/>
            <a:ext cx="324612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управление измерениями</a:t>
            </a:r>
            <a:endParaRPr lang="en-US" sz="1000" dirty="0"/>
          </a:p>
        </p:txBody>
      </p:sp>
      <p:sp>
        <p:nvSpPr>
          <p:cNvPr id="53" name="Shape 39"/>
          <p:cNvSpPr/>
          <p:nvPr/>
        </p:nvSpPr>
        <p:spPr>
          <a:xfrm>
            <a:off x="512064" y="309250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4" name="Text 40"/>
          <p:cNvSpPr txBox="1"/>
          <p:nvPr/>
        </p:nvSpPr>
        <p:spPr>
          <a:xfrm>
            <a:off x="640080" y="3050438"/>
            <a:ext cx="324612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сигнализация мобильности</a:t>
            </a:r>
            <a:endParaRPr lang="en-US" sz="1000" dirty="0"/>
          </a:p>
        </p:txBody>
      </p:sp>
      <p:sp>
        <p:nvSpPr>
          <p:cNvPr id="55" name="Shape 41"/>
          <p:cNvSpPr/>
          <p:nvPr/>
        </p:nvSpPr>
        <p:spPr>
          <a:xfrm>
            <a:off x="8168335" y="658368"/>
            <a:ext cx="3749040" cy="2651760"/>
          </a:xfrm>
          <a:prstGeom prst="roundRect">
            <a:avLst>
              <a:gd name="adj" fmla="val 2759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32927" y="768096"/>
            <a:ext cx="329184" cy="329184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8762695" y="713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Эмуляция ядра сети и среды NAS / управления сессией</a:t>
            </a:r>
            <a:endParaRPr lang="en-US" sz="1250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96935" y="1248156"/>
            <a:ext cx="182880" cy="182880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8671255" y="1263747"/>
            <a:ext cx="3108960" cy="190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ядра сети</a:t>
            </a:r>
            <a:endParaRPr lang="en-US" sz="1050" dirty="0"/>
          </a:p>
        </p:txBody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96935" y="1476756"/>
            <a:ext cx="182880" cy="182880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8671255" y="1492347"/>
            <a:ext cx="3108960" cy="190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симулятор сигнализации NAS</a:t>
            </a:r>
            <a:endParaRPr lang="en-US" sz="1050" dirty="0"/>
          </a:p>
        </p:txBody>
      </p:sp>
      <p:pic>
        <p:nvPicPr>
          <p:cNvPr id="6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96935" y="1705356"/>
            <a:ext cx="182880" cy="182880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8671255" y="1720947"/>
            <a:ext cx="3108960" cy="190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платформа тестирования управления сессией</a:t>
            </a:r>
            <a:endParaRPr lang="en-US" sz="1050" dirty="0"/>
          </a:p>
        </p:txBody>
      </p:sp>
      <p:pic>
        <p:nvPicPr>
          <p:cNvPr id="6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96935" y="1933956"/>
            <a:ext cx="182880" cy="182880"/>
          </a:xfrm>
          <a:prstGeom prst="rect">
            <a:avLst/>
          </a:prstGeom>
        </p:spPr>
      </p:pic>
      <p:sp>
        <p:nvSpPr>
          <p:cNvPr id="65" name="Text 46"/>
          <p:cNvSpPr txBox="1"/>
          <p:nvPr/>
        </p:nvSpPr>
        <p:spPr>
          <a:xfrm>
            <a:off x="8671255" y="1949547"/>
            <a:ext cx="3108960" cy="190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система анализа сигнализации</a:t>
            </a:r>
            <a:endParaRPr lang="en-US" sz="1050" dirty="0"/>
          </a:p>
        </p:txBody>
      </p:sp>
      <p:sp>
        <p:nvSpPr>
          <p:cNvPr id="66" name="Shape 47"/>
          <p:cNvSpPr/>
          <p:nvPr/>
        </p:nvSpPr>
        <p:spPr>
          <a:xfrm>
            <a:off x="8396935" y="2194560"/>
            <a:ext cx="329184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sp>
        <p:nvSpPr>
          <p:cNvPr id="67" name="Shape 48"/>
          <p:cNvSpPr/>
          <p:nvPr/>
        </p:nvSpPr>
        <p:spPr>
          <a:xfrm>
            <a:off x="8406079" y="232440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68" name="Text 49"/>
          <p:cNvSpPr txBox="1"/>
          <p:nvPr/>
        </p:nvSpPr>
        <p:spPr>
          <a:xfrm>
            <a:off x="8534095" y="2282342"/>
            <a:ext cx="324612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регистрация</a:t>
            </a:r>
            <a:endParaRPr lang="en-US" sz="1000" dirty="0"/>
          </a:p>
        </p:txBody>
      </p:sp>
      <p:sp>
        <p:nvSpPr>
          <p:cNvPr id="69" name="Shape 50"/>
          <p:cNvSpPr/>
          <p:nvPr/>
        </p:nvSpPr>
        <p:spPr>
          <a:xfrm>
            <a:off x="8406079" y="251642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0" name="Text 51"/>
          <p:cNvSpPr txBox="1"/>
          <p:nvPr/>
        </p:nvSpPr>
        <p:spPr>
          <a:xfrm>
            <a:off x="8534095" y="2474366"/>
            <a:ext cx="324612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аутентификация</a:t>
            </a:r>
            <a:endParaRPr lang="en-US" sz="1000" dirty="0"/>
          </a:p>
        </p:txBody>
      </p:sp>
      <p:sp>
        <p:nvSpPr>
          <p:cNvPr id="71" name="Shape 52"/>
          <p:cNvSpPr/>
          <p:nvPr/>
        </p:nvSpPr>
        <p:spPr>
          <a:xfrm>
            <a:off x="8406079" y="270845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2" name="Text 53"/>
          <p:cNvSpPr txBox="1"/>
          <p:nvPr/>
        </p:nvSpPr>
        <p:spPr>
          <a:xfrm>
            <a:off x="8534095" y="2666390"/>
            <a:ext cx="324612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режим защиты</a:t>
            </a:r>
            <a:endParaRPr lang="en-US" sz="1000" dirty="0"/>
          </a:p>
        </p:txBody>
      </p:sp>
      <p:sp>
        <p:nvSpPr>
          <p:cNvPr id="73" name="Shape 54"/>
          <p:cNvSpPr/>
          <p:nvPr/>
        </p:nvSpPr>
        <p:spPr>
          <a:xfrm>
            <a:off x="8406079" y="290047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4" name="Text 55"/>
          <p:cNvSpPr txBox="1"/>
          <p:nvPr/>
        </p:nvSpPr>
        <p:spPr>
          <a:xfrm>
            <a:off x="8534095" y="2858414"/>
            <a:ext cx="324612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создание PDU-сессии</a:t>
            </a:r>
            <a:endParaRPr lang="en-US" sz="1000" dirty="0"/>
          </a:p>
        </p:txBody>
      </p:sp>
      <p:sp>
        <p:nvSpPr>
          <p:cNvPr id="75" name="Shape 56"/>
          <p:cNvSpPr/>
          <p:nvPr/>
        </p:nvSpPr>
        <p:spPr>
          <a:xfrm>
            <a:off x="8406079" y="309250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6" name="Text 57"/>
          <p:cNvSpPr txBox="1"/>
          <p:nvPr/>
        </p:nvSpPr>
        <p:spPr>
          <a:xfrm>
            <a:off x="8534095" y="3050438"/>
            <a:ext cx="3246120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QoS / DNN / контекст сессии</a:t>
            </a:r>
            <a:endParaRPr lang="en-US" sz="1000" dirty="0"/>
          </a:p>
        </p:txBody>
      </p:sp>
      <p:sp>
        <p:nvSpPr>
          <p:cNvPr id="77" name="Shape 58"/>
          <p:cNvSpPr/>
          <p:nvPr/>
        </p:nvSpPr>
        <p:spPr>
          <a:xfrm>
            <a:off x="274320" y="3419856"/>
            <a:ext cx="3749040" cy="1517904"/>
          </a:xfrm>
          <a:prstGeom prst="roundRect">
            <a:avLst>
              <a:gd name="adj" fmla="val 4819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pic>
        <p:nvPicPr>
          <p:cNvPr id="7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8912" y="3511296"/>
            <a:ext cx="274320" cy="274320"/>
          </a:xfrm>
          <a:prstGeom prst="rect">
            <a:avLst/>
          </a:prstGeom>
        </p:spPr>
      </p:pic>
      <p:sp>
        <p:nvSpPr>
          <p:cNvPr id="79" name="Text 59"/>
          <p:cNvSpPr txBox="1"/>
          <p:nvPr/>
        </p:nvSpPr>
        <p:spPr>
          <a:xfrm>
            <a:off x="822960" y="34655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проверяется в RRC</a:t>
            </a:r>
            <a:endParaRPr lang="en-US" sz="1250" dirty="0"/>
          </a:p>
        </p:txBody>
      </p:sp>
      <p:sp>
        <p:nvSpPr>
          <p:cNvPr id="80" name="Shape 60"/>
          <p:cNvSpPr/>
          <p:nvPr/>
        </p:nvSpPr>
        <p:spPr>
          <a:xfrm>
            <a:off x="512064" y="393374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1" name="Text 61"/>
          <p:cNvSpPr txBox="1"/>
          <p:nvPr/>
        </p:nvSpPr>
        <p:spPr>
          <a:xfrm>
            <a:off x="640080" y="3891686"/>
            <a:ext cx="324612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порядок сообщений</a:t>
            </a:r>
            <a:endParaRPr lang="en-US" sz="1000" dirty="0"/>
          </a:p>
        </p:txBody>
      </p:sp>
      <p:sp>
        <p:nvSpPr>
          <p:cNvPr id="82" name="Shape 62"/>
          <p:cNvSpPr/>
          <p:nvPr/>
        </p:nvSpPr>
        <p:spPr>
          <a:xfrm>
            <a:off x="512064" y="410748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3" name="Text 63"/>
          <p:cNvSpPr txBox="1"/>
          <p:nvPr/>
        </p:nvSpPr>
        <p:spPr>
          <a:xfrm>
            <a:off x="640080" y="4065422"/>
            <a:ext cx="324612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таймеры</a:t>
            </a:r>
            <a:endParaRPr lang="en-US" sz="1000" dirty="0"/>
          </a:p>
        </p:txBody>
      </p:sp>
      <p:sp>
        <p:nvSpPr>
          <p:cNvPr id="84" name="Shape 64"/>
          <p:cNvSpPr/>
          <p:nvPr/>
        </p:nvSpPr>
        <p:spPr>
          <a:xfrm>
            <a:off x="512064" y="428122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5" name="Text 65"/>
          <p:cNvSpPr txBox="1"/>
          <p:nvPr/>
        </p:nvSpPr>
        <p:spPr>
          <a:xfrm>
            <a:off x="640080" y="4239158"/>
            <a:ext cx="324612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повторные передачи</a:t>
            </a:r>
            <a:endParaRPr lang="en-US" sz="1000" dirty="0"/>
          </a:p>
        </p:txBody>
      </p:sp>
      <p:sp>
        <p:nvSpPr>
          <p:cNvPr id="86" name="Shape 66"/>
          <p:cNvSpPr/>
          <p:nvPr/>
        </p:nvSpPr>
        <p:spPr>
          <a:xfrm>
            <a:off x="512064" y="445495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7" name="Text 67"/>
          <p:cNvSpPr txBox="1"/>
          <p:nvPr/>
        </p:nvSpPr>
        <p:spPr>
          <a:xfrm>
            <a:off x="640080" y="4412894"/>
            <a:ext cx="324612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переходы состояний</a:t>
            </a:r>
            <a:endParaRPr lang="en-US" sz="1000" dirty="0"/>
          </a:p>
        </p:txBody>
      </p:sp>
      <p:sp>
        <p:nvSpPr>
          <p:cNvPr id="88" name="Shape 68"/>
          <p:cNvSpPr/>
          <p:nvPr/>
        </p:nvSpPr>
        <p:spPr>
          <a:xfrm>
            <a:off x="512064" y="462869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9" name="Text 69"/>
          <p:cNvSpPr txBox="1"/>
          <p:nvPr/>
        </p:nvSpPr>
        <p:spPr>
          <a:xfrm>
            <a:off x="640080" y="4586630"/>
            <a:ext cx="324612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обработка отказов и отклонений</a:t>
            </a:r>
            <a:endParaRPr lang="en-US" sz="1000" dirty="0"/>
          </a:p>
        </p:txBody>
      </p:sp>
      <p:sp>
        <p:nvSpPr>
          <p:cNvPr id="90" name="Shape 70"/>
          <p:cNvSpPr/>
          <p:nvPr/>
        </p:nvSpPr>
        <p:spPr>
          <a:xfrm>
            <a:off x="8168335" y="3419856"/>
            <a:ext cx="3749040" cy="1517904"/>
          </a:xfrm>
          <a:prstGeom prst="roundRect">
            <a:avLst>
              <a:gd name="adj" fmla="val 4819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pic>
        <p:nvPicPr>
          <p:cNvPr id="9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32927" y="3511296"/>
            <a:ext cx="274320" cy="274320"/>
          </a:xfrm>
          <a:prstGeom prst="rect">
            <a:avLst/>
          </a:prstGeom>
        </p:spPr>
      </p:pic>
      <p:sp>
        <p:nvSpPr>
          <p:cNvPr id="92" name="Text 71"/>
          <p:cNvSpPr txBox="1"/>
          <p:nvPr/>
        </p:nvSpPr>
        <p:spPr>
          <a:xfrm>
            <a:off x="8716975" y="34655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проверяется в NAS и процедурах сессии</a:t>
            </a:r>
            <a:endParaRPr lang="en-US" sz="1250" dirty="0"/>
          </a:p>
        </p:txBody>
      </p:sp>
      <p:sp>
        <p:nvSpPr>
          <p:cNvPr id="93" name="Shape 72"/>
          <p:cNvSpPr/>
          <p:nvPr/>
        </p:nvSpPr>
        <p:spPr>
          <a:xfrm>
            <a:off x="8406079" y="393374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4" name="Text 73"/>
          <p:cNvSpPr txBox="1"/>
          <p:nvPr/>
        </p:nvSpPr>
        <p:spPr>
          <a:xfrm>
            <a:off x="8534095" y="3891686"/>
            <a:ext cx="324612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ход регистрации</a:t>
            </a:r>
            <a:endParaRPr lang="en-US" sz="1000" dirty="0"/>
          </a:p>
        </p:txBody>
      </p:sp>
      <p:sp>
        <p:nvSpPr>
          <p:cNvPr id="95" name="Shape 74"/>
          <p:cNvSpPr/>
          <p:nvPr/>
        </p:nvSpPr>
        <p:spPr>
          <a:xfrm>
            <a:off x="8406079" y="410748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6" name="Text 75"/>
          <p:cNvSpPr txBox="1"/>
          <p:nvPr/>
        </p:nvSpPr>
        <p:spPr>
          <a:xfrm>
            <a:off x="8534095" y="4065422"/>
            <a:ext cx="324612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ответ на аутентификацию</a:t>
            </a:r>
            <a:endParaRPr lang="en-US" sz="1000" dirty="0"/>
          </a:p>
        </p:txBody>
      </p:sp>
      <p:sp>
        <p:nvSpPr>
          <p:cNvPr id="97" name="Shape 76"/>
          <p:cNvSpPr/>
          <p:nvPr/>
        </p:nvSpPr>
        <p:spPr>
          <a:xfrm>
            <a:off x="8406079" y="428122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8" name="Text 77"/>
          <p:cNvSpPr txBox="1"/>
          <p:nvPr/>
        </p:nvSpPr>
        <p:spPr>
          <a:xfrm>
            <a:off x="8534095" y="4239158"/>
            <a:ext cx="324612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активация защиты</a:t>
            </a:r>
            <a:endParaRPr lang="en-US" sz="1000" dirty="0"/>
          </a:p>
        </p:txBody>
      </p:sp>
      <p:sp>
        <p:nvSpPr>
          <p:cNvPr id="99" name="Shape 78"/>
          <p:cNvSpPr/>
          <p:nvPr/>
        </p:nvSpPr>
        <p:spPr>
          <a:xfrm>
            <a:off x="8406079" y="445495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00" name="Text 79"/>
          <p:cNvSpPr txBox="1"/>
          <p:nvPr/>
        </p:nvSpPr>
        <p:spPr>
          <a:xfrm>
            <a:off x="8534095" y="4412894"/>
            <a:ext cx="324612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создание сессии</a:t>
            </a:r>
            <a:endParaRPr lang="en-US" sz="1000" dirty="0"/>
          </a:p>
        </p:txBody>
      </p:sp>
      <p:sp>
        <p:nvSpPr>
          <p:cNvPr id="101" name="Shape 80"/>
          <p:cNvSpPr/>
          <p:nvPr/>
        </p:nvSpPr>
        <p:spPr>
          <a:xfrm>
            <a:off x="8406079" y="462869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02" name="Text 81"/>
          <p:cNvSpPr txBox="1"/>
          <p:nvPr/>
        </p:nvSpPr>
        <p:spPr>
          <a:xfrm>
            <a:off x="8534095" y="4586630"/>
            <a:ext cx="324612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причины отклонения</a:t>
            </a:r>
            <a:endParaRPr lang="en-US" sz="1000" dirty="0"/>
          </a:p>
        </p:txBody>
      </p:sp>
      <p:sp>
        <p:nvSpPr>
          <p:cNvPr id="103" name="Shape 82"/>
          <p:cNvSpPr/>
          <p:nvPr/>
        </p:nvSpPr>
        <p:spPr>
          <a:xfrm>
            <a:off x="8406079" y="480242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04" name="Text 83"/>
          <p:cNvSpPr txBox="1"/>
          <p:nvPr/>
        </p:nvSpPr>
        <p:spPr>
          <a:xfrm>
            <a:off x="8534095" y="4760366"/>
            <a:ext cx="324612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согласованность контекста</a:t>
            </a:r>
            <a:endParaRPr lang="en-US" sz="1000" dirty="0"/>
          </a:p>
        </p:txBody>
      </p:sp>
      <p:sp>
        <p:nvSpPr>
          <p:cNvPr id="105" name="Shape 84"/>
          <p:cNvSpPr/>
          <p:nvPr/>
        </p:nvSpPr>
        <p:spPr>
          <a:xfrm>
            <a:off x="274320" y="5047488"/>
            <a:ext cx="11643055" cy="1005840"/>
          </a:xfrm>
          <a:prstGeom prst="roundRect">
            <a:avLst>
              <a:gd name="adj" fmla="val 7273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pic>
        <p:nvPicPr>
          <p:cNvPr id="10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8640" y="5321808"/>
            <a:ext cx="502920" cy="502920"/>
          </a:xfrm>
          <a:prstGeom prst="rect">
            <a:avLst/>
          </a:prstGeom>
        </p:spPr>
      </p:pic>
      <p:sp>
        <p:nvSpPr>
          <p:cNvPr id="107" name="Text 85"/>
          <p:cNvSpPr txBox="1"/>
          <p:nvPr/>
        </p:nvSpPr>
        <p:spPr>
          <a:xfrm>
            <a:off x="1188720" y="5120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Критерий успеха</a:t>
            </a:r>
            <a:endParaRPr lang="en-US" sz="1300" dirty="0"/>
          </a:p>
        </p:txBody>
      </p:sp>
      <p:sp>
        <p:nvSpPr>
          <p:cNvPr id="108" name="Shape 86"/>
          <p:cNvSpPr/>
          <p:nvPr/>
        </p:nvSpPr>
        <p:spPr>
          <a:xfrm>
            <a:off x="1197864" y="548822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09" name="Text 87"/>
          <p:cNvSpPr txBox="1"/>
          <p:nvPr/>
        </p:nvSpPr>
        <p:spPr>
          <a:xfrm>
            <a:off x="1325880" y="5442555"/>
            <a:ext cx="4983480" cy="18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UE проходит корректную машину состояний</a:t>
            </a:r>
            <a:endParaRPr lang="en-US" sz="1050" dirty="0"/>
          </a:p>
        </p:txBody>
      </p:sp>
      <p:sp>
        <p:nvSpPr>
          <p:cNvPr id="110" name="Shape 88"/>
          <p:cNvSpPr/>
          <p:nvPr/>
        </p:nvSpPr>
        <p:spPr>
          <a:xfrm>
            <a:off x="1197864" y="569854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1" name="Text 89"/>
          <p:cNvSpPr txBox="1"/>
          <p:nvPr/>
        </p:nvSpPr>
        <p:spPr>
          <a:xfrm>
            <a:off x="1325880" y="5652867"/>
            <a:ext cx="4983480" cy="18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RRC- и NAS-сообщения идут в правильной последовательности</a:t>
            </a:r>
            <a:endParaRPr lang="en-US" sz="1050" dirty="0"/>
          </a:p>
        </p:txBody>
      </p:sp>
      <p:sp>
        <p:nvSpPr>
          <p:cNvPr id="112" name="Shape 90"/>
          <p:cNvSpPr/>
          <p:nvPr/>
        </p:nvSpPr>
        <p:spPr>
          <a:xfrm>
            <a:off x="1197864" y="590885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3" name="Text 91"/>
          <p:cNvSpPr txBox="1"/>
          <p:nvPr/>
        </p:nvSpPr>
        <p:spPr>
          <a:xfrm>
            <a:off x="1325880" y="5863179"/>
            <a:ext cx="4983480" cy="18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таймеры отрабатывают согласно сценарию</a:t>
            </a:r>
            <a:endParaRPr lang="en-US" sz="1050" dirty="0"/>
          </a:p>
        </p:txBody>
      </p:sp>
      <p:sp>
        <p:nvSpPr>
          <p:cNvPr id="114" name="Shape 92"/>
          <p:cNvSpPr/>
          <p:nvPr/>
        </p:nvSpPr>
        <p:spPr>
          <a:xfrm>
            <a:off x="6537960" y="5184648"/>
            <a:ext cx="0" cy="73152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sp>
        <p:nvSpPr>
          <p:cNvPr id="115" name="Shape 93"/>
          <p:cNvSpPr/>
          <p:nvPr/>
        </p:nvSpPr>
        <p:spPr>
          <a:xfrm>
            <a:off x="6775704" y="548822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6" name="Text 94"/>
          <p:cNvSpPr txBox="1"/>
          <p:nvPr/>
        </p:nvSpPr>
        <p:spPr>
          <a:xfrm>
            <a:off x="6903720" y="5442555"/>
            <a:ext cx="4800600" cy="18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ошибки локализуются по протокольной трассировке</a:t>
            </a:r>
            <a:endParaRPr lang="en-US" sz="1050" dirty="0"/>
          </a:p>
        </p:txBody>
      </p:sp>
      <p:sp>
        <p:nvSpPr>
          <p:cNvPr id="117" name="Shape 95"/>
          <p:cNvSpPr/>
          <p:nvPr/>
        </p:nvSpPr>
        <p:spPr>
          <a:xfrm>
            <a:off x="6775704" y="569854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8" name="Text 96"/>
          <p:cNvSpPr txBox="1"/>
          <p:nvPr/>
        </p:nvSpPr>
        <p:spPr>
          <a:xfrm>
            <a:off x="6903720" y="5652867"/>
            <a:ext cx="4800600" cy="18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PDU-сессия создаётся корректно</a:t>
            </a:r>
            <a:endParaRPr lang="en-US" sz="1050" dirty="0"/>
          </a:p>
        </p:txBody>
      </p:sp>
      <p:sp>
        <p:nvSpPr>
          <p:cNvPr id="119" name="Shape 97"/>
          <p:cNvSpPr/>
          <p:nvPr/>
        </p:nvSpPr>
        <p:spPr>
          <a:xfrm>
            <a:off x="274320" y="6163056"/>
            <a:ext cx="11643055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534EE6"/>
            </a:solidFill>
            <a:prstDash val="solid"/>
          </a:ln>
        </p:spPr>
      </p:sp>
      <p:sp>
        <p:nvSpPr>
          <p:cNvPr id="120" name="Text 98"/>
          <p:cNvSpPr txBox="1"/>
          <p:nvPr/>
        </p:nvSpPr>
        <p:spPr>
          <a:xfrm>
            <a:off x="1188720" y="6181344"/>
            <a:ext cx="9814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Тестирование протоколов UE проверяет корректность машины состояний и последовательности сигнализации между UE, RAN и ядром сети, а не просто факт успешного подключения.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430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RRM и mobility testing UE: measurements, reselection и handover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3789578" cy="2798064"/>
          </a:xfrm>
          <a:prstGeom prst="roundRect">
            <a:avLst>
              <a:gd name="adj" fmla="val 2614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498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1248" y="731520"/>
            <a:ext cx="30854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Эмуляция соседних сот и уровней сигнала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66344" y="117226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137422"/>
            <a:ext cx="1551889" cy="28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многосотовый эмулятор сети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01113" y="117226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29129" y="1137422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callbox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" y="147602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1441186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базовой станции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201113" y="147602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329129" y="1441186"/>
            <a:ext cx="1551889" cy="28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RF-коммутация / управление аттенюацией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1768815"/>
            <a:ext cx="3469538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457200" y="1796247"/>
            <a:ext cx="3469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задаёт контур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" y="2054108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" y="2019270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обслуживающая сота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201113" y="2054108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329129" y="2019270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ранжирование сот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66344" y="222784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4360" y="2193006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соседние соты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201113" y="222784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329129" y="2193006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приоритет cell reselection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6344" y="2401580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94360" y="2366742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уровни RSRP / RSRQ / SINR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201113" y="2401580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329129" y="2366742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пороги и гистерезис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2555199"/>
            <a:ext cx="3469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проверяется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6344" y="2813060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94360" y="2778222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cell selection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201113" y="2813060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2329129" y="2778222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запуск измерений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66344" y="2986796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94360" y="2951958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cell reselection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201113" y="2986796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329129" y="2951958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mobility в Idle / Inactive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66344" y="3160532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94360" y="3125694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поведение camping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201058" y="658368"/>
            <a:ext cx="3789578" cy="2798064"/>
          </a:xfrm>
          <a:prstGeom prst="roundRect">
            <a:avLst>
              <a:gd name="adj" fmla="val 2614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38" y="749808"/>
            <a:ext cx="292608" cy="292608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4767986" y="731520"/>
            <a:ext cx="30854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Эмуляция радиоканала и движения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4393082" y="117226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4521098" y="1137422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радиоканала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6127852" y="117226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6255868" y="1137422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fading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4393082" y="134599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4521098" y="1311158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MIMO channel emulator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6127852" y="134599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6255868" y="1311158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источник помех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4383938" y="1508760"/>
            <a:ext cx="3469538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sp>
        <p:nvSpPr>
          <p:cNvPr id="51" name="Text 47"/>
          <p:cNvSpPr txBox="1"/>
          <p:nvPr/>
        </p:nvSpPr>
        <p:spPr>
          <a:xfrm>
            <a:off x="4383938" y="1536192"/>
            <a:ext cx="3469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задаёт контур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4393082" y="179405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4521098" y="1759214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профиль fading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6127852" y="179405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5" name="Text 51"/>
          <p:cNvSpPr txBox="1"/>
          <p:nvPr/>
        </p:nvSpPr>
        <p:spPr>
          <a:xfrm>
            <a:off x="6255868" y="1759214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multipath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4393082" y="196778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4521098" y="1932950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Doppler</a:t>
            </a:r>
            <a:endParaRPr lang="en-US" sz="900" dirty="0"/>
          </a:p>
        </p:txBody>
      </p:sp>
      <p:sp>
        <p:nvSpPr>
          <p:cNvPr id="58" name="Shape 54"/>
          <p:cNvSpPr/>
          <p:nvPr/>
        </p:nvSpPr>
        <p:spPr>
          <a:xfrm>
            <a:off x="6127852" y="196778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6255868" y="1932950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interference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4393082" y="214152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4521098" y="2106686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delay spread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6127852" y="214152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6255868" y="2106686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условия на границе соты</a:t>
            </a:r>
            <a:endParaRPr lang="en-US" sz="900" dirty="0"/>
          </a:p>
        </p:txBody>
      </p:sp>
      <p:sp>
        <p:nvSpPr>
          <p:cNvPr id="64" name="Shape 60"/>
          <p:cNvSpPr/>
          <p:nvPr/>
        </p:nvSpPr>
        <p:spPr>
          <a:xfrm>
            <a:off x="4393082" y="231526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4521098" y="2280422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изменение path loss</a:t>
            </a:r>
            <a:endParaRPr lang="en-US" sz="900" dirty="0"/>
          </a:p>
        </p:txBody>
      </p:sp>
      <p:sp>
        <p:nvSpPr>
          <p:cNvPr id="66" name="Text 62"/>
          <p:cNvSpPr txBox="1"/>
          <p:nvPr/>
        </p:nvSpPr>
        <p:spPr>
          <a:xfrm>
            <a:off x="4383938" y="2468880"/>
            <a:ext cx="3469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проверяется</a:t>
            </a:r>
            <a:endParaRPr lang="en-US" sz="1000" dirty="0"/>
          </a:p>
        </p:txBody>
      </p:sp>
      <p:sp>
        <p:nvSpPr>
          <p:cNvPr id="67" name="Shape 63"/>
          <p:cNvSpPr/>
          <p:nvPr/>
        </p:nvSpPr>
        <p:spPr>
          <a:xfrm>
            <a:off x="4393082" y="272674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4521098" y="2691902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стабильность измерений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6127852" y="272674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0" name="Text 66"/>
          <p:cNvSpPr txBox="1"/>
          <p:nvPr/>
        </p:nvSpPr>
        <p:spPr>
          <a:xfrm>
            <a:off x="6255868" y="2691902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устойчивость радиолинка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4393082" y="290047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2" name="Text 68"/>
          <p:cNvSpPr txBox="1"/>
          <p:nvPr/>
        </p:nvSpPr>
        <p:spPr>
          <a:xfrm>
            <a:off x="4521098" y="2865638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поведение порога RLF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6127852" y="290047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4" name="Text 70"/>
          <p:cNvSpPr txBox="1"/>
          <p:nvPr/>
        </p:nvSpPr>
        <p:spPr>
          <a:xfrm>
            <a:off x="6255868" y="2865638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handover при fading</a:t>
            </a:r>
            <a:endParaRPr lang="en-US" sz="900" dirty="0"/>
          </a:p>
        </p:txBody>
      </p:sp>
      <p:sp>
        <p:nvSpPr>
          <p:cNvPr id="75" name="Shape 71"/>
          <p:cNvSpPr/>
          <p:nvPr/>
        </p:nvSpPr>
        <p:spPr>
          <a:xfrm>
            <a:off x="4393082" y="307421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6" name="Text 72"/>
          <p:cNvSpPr txBox="1"/>
          <p:nvPr/>
        </p:nvSpPr>
        <p:spPr>
          <a:xfrm>
            <a:off x="4521098" y="3039374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BLER на границе mobility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8127797" y="658368"/>
            <a:ext cx="3789578" cy="2798064"/>
          </a:xfrm>
          <a:prstGeom prst="roundRect">
            <a:avLst>
              <a:gd name="adj" fmla="val 2614"/>
            </a:avLst>
          </a:prstGeom>
          <a:solidFill>
            <a:srgbClr val="FFFBF7"/>
          </a:solidFill>
          <a:ln w="15875">
            <a:solidFill>
              <a:srgbClr val="FF812A"/>
            </a:solidFill>
            <a:prstDash val="solid"/>
          </a:ln>
        </p:spPr>
      </p:sp>
      <p:pic>
        <p:nvPicPr>
          <p:cNvPr id="7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677" y="749808"/>
            <a:ext cx="292608" cy="292608"/>
          </a:xfrm>
          <a:prstGeom prst="rect">
            <a:avLst/>
          </a:prstGeom>
        </p:spPr>
      </p:pic>
      <p:sp>
        <p:nvSpPr>
          <p:cNvPr id="79" name="Text 74"/>
          <p:cNvSpPr txBox="1"/>
          <p:nvPr/>
        </p:nvSpPr>
        <p:spPr>
          <a:xfrm>
            <a:off x="8694725" y="731520"/>
            <a:ext cx="30854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Эмуляция mobility-процедур RAN / Core</a:t>
            </a:r>
            <a:endParaRPr lang="en-US" sz="1200" dirty="0"/>
          </a:p>
        </p:txBody>
      </p:sp>
      <p:sp>
        <p:nvSpPr>
          <p:cNvPr id="80" name="Shape 75"/>
          <p:cNvSpPr/>
          <p:nvPr/>
        </p:nvSpPr>
        <p:spPr>
          <a:xfrm>
            <a:off x="8319821" y="117226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1" name="Text 76"/>
          <p:cNvSpPr txBox="1"/>
          <p:nvPr/>
        </p:nvSpPr>
        <p:spPr>
          <a:xfrm>
            <a:off x="8447837" y="1137422"/>
            <a:ext cx="1551889" cy="28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протокольная тест-платформа</a:t>
            </a:r>
            <a:endParaRPr lang="en-US" sz="900" dirty="0"/>
          </a:p>
        </p:txBody>
      </p:sp>
      <p:sp>
        <p:nvSpPr>
          <p:cNvPr id="82" name="Shape 77"/>
          <p:cNvSpPr/>
          <p:nvPr/>
        </p:nvSpPr>
        <p:spPr>
          <a:xfrm>
            <a:off x="10054590" y="117226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3" name="Text 78"/>
          <p:cNvSpPr txBox="1"/>
          <p:nvPr/>
        </p:nvSpPr>
        <p:spPr>
          <a:xfrm>
            <a:off x="10182606" y="1137422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RAN</a:t>
            </a:r>
            <a:endParaRPr lang="en-US" sz="900" dirty="0"/>
          </a:p>
        </p:txBody>
      </p:sp>
      <p:sp>
        <p:nvSpPr>
          <p:cNvPr id="84" name="Shape 79"/>
          <p:cNvSpPr/>
          <p:nvPr/>
        </p:nvSpPr>
        <p:spPr>
          <a:xfrm>
            <a:off x="8319821" y="147602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5" name="Text 80"/>
          <p:cNvSpPr txBox="1"/>
          <p:nvPr/>
        </p:nvSpPr>
        <p:spPr>
          <a:xfrm>
            <a:off x="8447837" y="1441186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Core</a:t>
            </a:r>
            <a:endParaRPr lang="en-US" sz="900" dirty="0"/>
          </a:p>
        </p:txBody>
      </p:sp>
      <p:sp>
        <p:nvSpPr>
          <p:cNvPr id="86" name="Shape 81"/>
          <p:cNvSpPr/>
          <p:nvPr/>
        </p:nvSpPr>
        <p:spPr>
          <a:xfrm>
            <a:off x="10054590" y="1476024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7" name="Text 82"/>
          <p:cNvSpPr txBox="1"/>
          <p:nvPr/>
        </p:nvSpPr>
        <p:spPr>
          <a:xfrm>
            <a:off x="10182606" y="1441186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protocol trace analyzer</a:t>
            </a:r>
            <a:endParaRPr lang="en-US" sz="900" dirty="0"/>
          </a:p>
        </p:txBody>
      </p:sp>
      <p:sp>
        <p:nvSpPr>
          <p:cNvPr id="88" name="Shape 83"/>
          <p:cNvSpPr/>
          <p:nvPr/>
        </p:nvSpPr>
        <p:spPr>
          <a:xfrm>
            <a:off x="8310677" y="1638788"/>
            <a:ext cx="3469538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sp>
        <p:nvSpPr>
          <p:cNvPr id="89" name="Text 84"/>
          <p:cNvSpPr txBox="1"/>
          <p:nvPr/>
        </p:nvSpPr>
        <p:spPr>
          <a:xfrm>
            <a:off x="8310677" y="1666220"/>
            <a:ext cx="3469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задаёт контур</a:t>
            </a:r>
            <a:endParaRPr lang="en-US" sz="1000" dirty="0"/>
          </a:p>
        </p:txBody>
      </p:sp>
      <p:sp>
        <p:nvSpPr>
          <p:cNvPr id="90" name="Shape 85"/>
          <p:cNvSpPr/>
          <p:nvPr/>
        </p:nvSpPr>
        <p:spPr>
          <a:xfrm>
            <a:off x="8319821" y="1924080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1" name="Text 86"/>
          <p:cNvSpPr txBox="1"/>
          <p:nvPr/>
        </p:nvSpPr>
        <p:spPr>
          <a:xfrm>
            <a:off x="8447837" y="1889242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конфигурация измерений</a:t>
            </a:r>
            <a:endParaRPr lang="en-US" sz="900" dirty="0"/>
          </a:p>
        </p:txBody>
      </p:sp>
      <p:sp>
        <p:nvSpPr>
          <p:cNvPr id="92" name="Shape 87"/>
          <p:cNvSpPr/>
          <p:nvPr/>
        </p:nvSpPr>
        <p:spPr>
          <a:xfrm>
            <a:off x="10054590" y="1924080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3" name="Text 88"/>
          <p:cNvSpPr txBox="1"/>
          <p:nvPr/>
        </p:nvSpPr>
        <p:spPr>
          <a:xfrm>
            <a:off x="10182606" y="1889242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параметры целевой соты</a:t>
            </a:r>
            <a:endParaRPr lang="en-US" sz="900" dirty="0"/>
          </a:p>
        </p:txBody>
      </p:sp>
      <p:sp>
        <p:nvSpPr>
          <p:cNvPr id="94" name="Shape 89"/>
          <p:cNvSpPr/>
          <p:nvPr/>
        </p:nvSpPr>
        <p:spPr>
          <a:xfrm>
            <a:off x="8319821" y="2097816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5" name="Text 90"/>
          <p:cNvSpPr txBox="1"/>
          <p:nvPr/>
        </p:nvSpPr>
        <p:spPr>
          <a:xfrm>
            <a:off x="8447837" y="2062978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event A3 / A5 / B1 / B2</a:t>
            </a:r>
            <a:endParaRPr lang="en-US" sz="900" dirty="0"/>
          </a:p>
        </p:txBody>
      </p:sp>
      <p:sp>
        <p:nvSpPr>
          <p:cNvPr id="96" name="Shape 91"/>
          <p:cNvSpPr/>
          <p:nvPr/>
        </p:nvSpPr>
        <p:spPr>
          <a:xfrm>
            <a:off x="10054590" y="2097816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7" name="Text 92"/>
          <p:cNvSpPr txBox="1"/>
          <p:nvPr/>
        </p:nvSpPr>
        <p:spPr>
          <a:xfrm>
            <a:off x="10182606" y="2062978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RRC Reconfiguration</a:t>
            </a:r>
            <a:endParaRPr lang="en-US" sz="900" dirty="0"/>
          </a:p>
        </p:txBody>
      </p:sp>
      <p:sp>
        <p:nvSpPr>
          <p:cNvPr id="98" name="Shape 93"/>
          <p:cNvSpPr/>
          <p:nvPr/>
        </p:nvSpPr>
        <p:spPr>
          <a:xfrm>
            <a:off x="8319821" y="2271552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9" name="Text 94"/>
          <p:cNvSpPr txBox="1"/>
          <p:nvPr/>
        </p:nvSpPr>
        <p:spPr>
          <a:xfrm>
            <a:off x="8447837" y="2236714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команда handover</a:t>
            </a:r>
            <a:endParaRPr lang="en-US" sz="900" dirty="0"/>
          </a:p>
        </p:txBody>
      </p:sp>
      <p:sp>
        <p:nvSpPr>
          <p:cNvPr id="100" name="Shape 95"/>
          <p:cNvSpPr/>
          <p:nvPr/>
        </p:nvSpPr>
        <p:spPr>
          <a:xfrm>
            <a:off x="10054590" y="2271552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01" name="Text 96"/>
          <p:cNvSpPr txBox="1"/>
          <p:nvPr/>
        </p:nvSpPr>
        <p:spPr>
          <a:xfrm>
            <a:off x="10182606" y="2236714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логика переноса контекста</a:t>
            </a:r>
            <a:endParaRPr lang="en-US" sz="900" dirty="0"/>
          </a:p>
        </p:txBody>
      </p:sp>
      <p:sp>
        <p:nvSpPr>
          <p:cNvPr id="102" name="Text 97"/>
          <p:cNvSpPr txBox="1"/>
          <p:nvPr/>
        </p:nvSpPr>
        <p:spPr>
          <a:xfrm>
            <a:off x="8310677" y="2425172"/>
            <a:ext cx="34695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проверяется</a:t>
            </a:r>
            <a:endParaRPr lang="en-US" sz="1000" dirty="0"/>
          </a:p>
        </p:txBody>
      </p:sp>
      <p:sp>
        <p:nvSpPr>
          <p:cNvPr id="103" name="Shape 98"/>
          <p:cNvSpPr/>
          <p:nvPr/>
        </p:nvSpPr>
        <p:spPr>
          <a:xfrm>
            <a:off x="8319821" y="2683032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04" name="Text 99"/>
          <p:cNvSpPr txBox="1"/>
          <p:nvPr/>
        </p:nvSpPr>
        <p:spPr>
          <a:xfrm>
            <a:off x="8447837" y="2648194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отчёт об измерениях</a:t>
            </a:r>
            <a:endParaRPr lang="en-US" sz="900" dirty="0"/>
          </a:p>
        </p:txBody>
      </p:sp>
      <p:sp>
        <p:nvSpPr>
          <p:cNvPr id="105" name="Shape 100"/>
          <p:cNvSpPr/>
          <p:nvPr/>
        </p:nvSpPr>
        <p:spPr>
          <a:xfrm>
            <a:off x="10054590" y="2683032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06" name="Text 101"/>
          <p:cNvSpPr txBox="1"/>
          <p:nvPr/>
        </p:nvSpPr>
        <p:spPr>
          <a:xfrm>
            <a:off x="10182606" y="2648194"/>
            <a:ext cx="1551889" cy="28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RRC Reconfiguration Complete</a:t>
            </a:r>
            <a:endParaRPr lang="en-US" sz="900" dirty="0"/>
          </a:p>
        </p:txBody>
      </p:sp>
      <p:sp>
        <p:nvSpPr>
          <p:cNvPr id="107" name="Shape 102"/>
          <p:cNvSpPr/>
          <p:nvPr/>
        </p:nvSpPr>
        <p:spPr>
          <a:xfrm>
            <a:off x="8319821" y="2986796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08" name="Text 103"/>
          <p:cNvSpPr txBox="1"/>
          <p:nvPr/>
        </p:nvSpPr>
        <p:spPr>
          <a:xfrm>
            <a:off x="8447837" y="2951958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подготовка handover</a:t>
            </a:r>
            <a:endParaRPr lang="en-US" sz="900" dirty="0"/>
          </a:p>
        </p:txBody>
      </p:sp>
      <p:sp>
        <p:nvSpPr>
          <p:cNvPr id="109" name="Shape 104"/>
          <p:cNvSpPr/>
          <p:nvPr/>
        </p:nvSpPr>
        <p:spPr>
          <a:xfrm>
            <a:off x="10054590" y="2986796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0" name="Text 105"/>
          <p:cNvSpPr txBox="1"/>
          <p:nvPr/>
        </p:nvSpPr>
        <p:spPr>
          <a:xfrm>
            <a:off x="10182606" y="2951958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время прерывания сервиса</a:t>
            </a:r>
            <a:endParaRPr lang="en-US" sz="900" dirty="0"/>
          </a:p>
        </p:txBody>
      </p:sp>
      <p:sp>
        <p:nvSpPr>
          <p:cNvPr id="111" name="Shape 106"/>
          <p:cNvSpPr/>
          <p:nvPr/>
        </p:nvSpPr>
        <p:spPr>
          <a:xfrm>
            <a:off x="8319821" y="3160532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2" name="Text 107"/>
          <p:cNvSpPr txBox="1"/>
          <p:nvPr/>
        </p:nvSpPr>
        <p:spPr>
          <a:xfrm>
            <a:off x="8447837" y="3125694"/>
            <a:ext cx="1551889" cy="151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выполнение handover</a:t>
            </a:r>
            <a:endParaRPr lang="en-US" sz="900" dirty="0"/>
          </a:p>
        </p:txBody>
      </p:sp>
      <p:sp>
        <p:nvSpPr>
          <p:cNvPr id="113" name="Shape 108"/>
          <p:cNvSpPr/>
          <p:nvPr/>
        </p:nvSpPr>
        <p:spPr>
          <a:xfrm>
            <a:off x="10054590" y="3160532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4" name="Text 109"/>
          <p:cNvSpPr txBox="1"/>
          <p:nvPr/>
        </p:nvSpPr>
        <p:spPr>
          <a:xfrm>
            <a:off x="10182606" y="3125694"/>
            <a:ext cx="1551889" cy="281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восстановление после отказа</a:t>
            </a:r>
            <a:endParaRPr lang="en-US" sz="900" dirty="0"/>
          </a:p>
        </p:txBody>
      </p:sp>
      <p:sp>
        <p:nvSpPr>
          <p:cNvPr id="115" name="Shape 110"/>
          <p:cNvSpPr/>
          <p:nvPr/>
        </p:nvSpPr>
        <p:spPr>
          <a:xfrm>
            <a:off x="4632808" y="356616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534EE6"/>
          </a:solidFill>
          <a:ln/>
        </p:spPr>
      </p:sp>
      <p:sp>
        <p:nvSpPr>
          <p:cNvPr id="116" name="Text 111"/>
          <p:cNvSpPr txBox="1"/>
          <p:nvPr/>
        </p:nvSpPr>
        <p:spPr>
          <a:xfrm>
            <a:off x="4632808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UE  </a:t>
            </a:r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тестируемое устройство (DUT)</a:t>
            </a:r>
            <a:endParaRPr lang="en-US" sz="1500" dirty="0"/>
          </a:p>
        </p:txBody>
      </p:sp>
      <p:sp>
        <p:nvSpPr>
          <p:cNvPr id="117" name="Shape 112"/>
          <p:cNvSpPr/>
          <p:nvPr/>
        </p:nvSpPr>
        <p:spPr>
          <a:xfrm>
            <a:off x="2169109" y="3474720"/>
            <a:ext cx="0" cy="274320"/>
          </a:xfrm>
          <a:prstGeom prst="line">
            <a:avLst/>
          </a:prstGeom>
          <a:noFill/>
          <a:ln w="15875">
            <a:solidFill>
              <a:srgbClr val="FF812A"/>
            </a:solidFill>
            <a:prstDash val="solid"/>
            <a:headEnd type="triangle"/>
          </a:ln>
        </p:spPr>
      </p:sp>
      <p:sp>
        <p:nvSpPr>
          <p:cNvPr id="118" name="Shape 113"/>
          <p:cNvSpPr/>
          <p:nvPr/>
        </p:nvSpPr>
        <p:spPr>
          <a:xfrm>
            <a:off x="2169109" y="3749040"/>
            <a:ext cx="2436266" cy="0"/>
          </a:xfrm>
          <a:prstGeom prst="line">
            <a:avLst/>
          </a:prstGeom>
          <a:noFill/>
          <a:ln w="15875">
            <a:solidFill>
              <a:srgbClr val="FF812A"/>
            </a:solidFill>
            <a:prstDash val="solid"/>
            <a:tailEnd type="triangle"/>
          </a:ln>
        </p:spPr>
      </p:sp>
      <p:sp>
        <p:nvSpPr>
          <p:cNvPr id="119" name="Shape 114"/>
          <p:cNvSpPr/>
          <p:nvPr/>
        </p:nvSpPr>
        <p:spPr>
          <a:xfrm>
            <a:off x="10022586" y="3474720"/>
            <a:ext cx="0" cy="274320"/>
          </a:xfrm>
          <a:prstGeom prst="line">
            <a:avLst/>
          </a:prstGeom>
          <a:noFill/>
          <a:ln w="15875">
            <a:solidFill>
              <a:srgbClr val="FF812A"/>
            </a:solidFill>
            <a:prstDash val="solid"/>
            <a:headEnd type="triangle"/>
          </a:ln>
        </p:spPr>
      </p:sp>
      <p:sp>
        <p:nvSpPr>
          <p:cNvPr id="120" name="Shape 115"/>
          <p:cNvSpPr/>
          <p:nvPr/>
        </p:nvSpPr>
        <p:spPr>
          <a:xfrm flipH="1">
            <a:off x="7586320" y="3749040"/>
            <a:ext cx="2436266" cy="0"/>
          </a:xfrm>
          <a:prstGeom prst="line">
            <a:avLst/>
          </a:prstGeom>
          <a:noFill/>
          <a:ln w="15875">
            <a:solidFill>
              <a:srgbClr val="FF812A"/>
            </a:solidFill>
            <a:prstDash val="solid"/>
            <a:tailEnd type="triangle"/>
          </a:ln>
        </p:spPr>
      </p:sp>
      <p:sp>
        <p:nvSpPr>
          <p:cNvPr id="121" name="Shape 116"/>
          <p:cNvSpPr/>
          <p:nvPr/>
        </p:nvSpPr>
        <p:spPr>
          <a:xfrm>
            <a:off x="6095848" y="3474720"/>
            <a:ext cx="0" cy="73152"/>
          </a:xfrm>
          <a:prstGeom prst="line">
            <a:avLst/>
          </a:prstGeom>
          <a:noFill/>
          <a:ln w="15875">
            <a:solidFill>
              <a:srgbClr val="FF812A"/>
            </a:solidFill>
            <a:prstDash val="solid"/>
            <a:headEnd type="triangle"/>
            <a:tailEnd type="triangle"/>
          </a:ln>
        </p:spPr>
      </p:sp>
      <p:sp>
        <p:nvSpPr>
          <p:cNvPr id="122" name="Shape 117"/>
          <p:cNvSpPr/>
          <p:nvPr/>
        </p:nvSpPr>
        <p:spPr>
          <a:xfrm>
            <a:off x="274320" y="4023360"/>
            <a:ext cx="1155497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123" name="Text 118"/>
          <p:cNvSpPr txBox="1"/>
          <p:nvPr/>
        </p:nvSpPr>
        <p:spPr>
          <a:xfrm>
            <a:off x="301752" y="4023360"/>
            <a:ext cx="110063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Обслуживающая сота</a:t>
            </a:r>
            <a:endParaRPr lang="en-US" sz="900" dirty="0"/>
          </a:p>
        </p:txBody>
      </p:sp>
      <p:sp>
        <p:nvSpPr>
          <p:cNvPr id="124" name="Shape 119"/>
          <p:cNvSpPr/>
          <p:nvPr/>
        </p:nvSpPr>
        <p:spPr>
          <a:xfrm>
            <a:off x="1438961" y="4279392"/>
            <a:ext cx="137160" cy="0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125" name="Shape 120"/>
          <p:cNvSpPr/>
          <p:nvPr/>
        </p:nvSpPr>
        <p:spPr>
          <a:xfrm>
            <a:off x="1585265" y="4023360"/>
            <a:ext cx="1155497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126" name="Text 121"/>
          <p:cNvSpPr txBox="1"/>
          <p:nvPr/>
        </p:nvSpPr>
        <p:spPr>
          <a:xfrm>
            <a:off x="1612697" y="4023360"/>
            <a:ext cx="110063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Конфигурация измерений</a:t>
            </a:r>
            <a:endParaRPr lang="en-US" sz="900" dirty="0"/>
          </a:p>
        </p:txBody>
      </p:sp>
      <p:sp>
        <p:nvSpPr>
          <p:cNvPr id="127" name="Shape 122"/>
          <p:cNvSpPr/>
          <p:nvPr/>
        </p:nvSpPr>
        <p:spPr>
          <a:xfrm>
            <a:off x="2749906" y="4279392"/>
            <a:ext cx="137160" cy="0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128" name="Shape 123"/>
          <p:cNvSpPr/>
          <p:nvPr/>
        </p:nvSpPr>
        <p:spPr>
          <a:xfrm>
            <a:off x="2896210" y="4023360"/>
            <a:ext cx="1155497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129" name="Text 124"/>
          <p:cNvSpPr txBox="1"/>
          <p:nvPr/>
        </p:nvSpPr>
        <p:spPr>
          <a:xfrm>
            <a:off x="2923642" y="4023360"/>
            <a:ext cx="110063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Измерения соседних сот</a:t>
            </a:r>
            <a:endParaRPr lang="en-US" sz="900" dirty="0"/>
          </a:p>
        </p:txBody>
      </p:sp>
      <p:sp>
        <p:nvSpPr>
          <p:cNvPr id="130" name="Shape 125"/>
          <p:cNvSpPr/>
          <p:nvPr/>
        </p:nvSpPr>
        <p:spPr>
          <a:xfrm>
            <a:off x="4060850" y="4279392"/>
            <a:ext cx="137160" cy="0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131" name="Shape 126"/>
          <p:cNvSpPr/>
          <p:nvPr/>
        </p:nvSpPr>
        <p:spPr>
          <a:xfrm>
            <a:off x="4207154" y="4023360"/>
            <a:ext cx="1155497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132" name="Text 127"/>
          <p:cNvSpPr txBox="1"/>
          <p:nvPr/>
        </p:nvSpPr>
        <p:spPr>
          <a:xfrm>
            <a:off x="4234586" y="4023360"/>
            <a:ext cx="110063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Отчёт об измерениях</a:t>
            </a:r>
            <a:endParaRPr lang="en-US" sz="900" dirty="0"/>
          </a:p>
        </p:txBody>
      </p:sp>
      <p:sp>
        <p:nvSpPr>
          <p:cNvPr id="133" name="Shape 128"/>
          <p:cNvSpPr/>
          <p:nvPr/>
        </p:nvSpPr>
        <p:spPr>
          <a:xfrm>
            <a:off x="5371795" y="4279392"/>
            <a:ext cx="137160" cy="0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134" name="Shape 129"/>
          <p:cNvSpPr/>
          <p:nvPr/>
        </p:nvSpPr>
        <p:spPr>
          <a:xfrm>
            <a:off x="5518099" y="4023360"/>
            <a:ext cx="1155497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135" name="Text 130"/>
          <p:cNvSpPr txBox="1"/>
          <p:nvPr/>
        </p:nvSpPr>
        <p:spPr>
          <a:xfrm>
            <a:off x="5545531" y="4023360"/>
            <a:ext cx="110063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Решение о handover</a:t>
            </a:r>
            <a:endParaRPr lang="en-US" sz="900" dirty="0"/>
          </a:p>
        </p:txBody>
      </p:sp>
      <p:sp>
        <p:nvSpPr>
          <p:cNvPr id="136" name="Shape 131"/>
          <p:cNvSpPr/>
          <p:nvPr/>
        </p:nvSpPr>
        <p:spPr>
          <a:xfrm>
            <a:off x="6682740" y="4279392"/>
            <a:ext cx="137160" cy="0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137" name="Shape 132"/>
          <p:cNvSpPr/>
          <p:nvPr/>
        </p:nvSpPr>
        <p:spPr>
          <a:xfrm>
            <a:off x="6829044" y="4023360"/>
            <a:ext cx="1155497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138" name="Text 133"/>
          <p:cNvSpPr txBox="1"/>
          <p:nvPr/>
        </p:nvSpPr>
        <p:spPr>
          <a:xfrm>
            <a:off x="6856476" y="4023360"/>
            <a:ext cx="110063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RRC Reconfiguration / Handover Command</a:t>
            </a:r>
            <a:endParaRPr lang="en-US" sz="900" dirty="0"/>
          </a:p>
        </p:txBody>
      </p:sp>
      <p:sp>
        <p:nvSpPr>
          <p:cNvPr id="139" name="Shape 134"/>
          <p:cNvSpPr/>
          <p:nvPr/>
        </p:nvSpPr>
        <p:spPr>
          <a:xfrm>
            <a:off x="7993685" y="4279392"/>
            <a:ext cx="137160" cy="0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140" name="Shape 135"/>
          <p:cNvSpPr/>
          <p:nvPr/>
        </p:nvSpPr>
        <p:spPr>
          <a:xfrm>
            <a:off x="8139989" y="4023360"/>
            <a:ext cx="1155497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141" name="Text 136"/>
          <p:cNvSpPr txBox="1"/>
          <p:nvPr/>
        </p:nvSpPr>
        <p:spPr>
          <a:xfrm>
            <a:off x="8167421" y="4023360"/>
            <a:ext cx="110063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Random Access к целевой соте</a:t>
            </a:r>
            <a:endParaRPr lang="en-US" sz="900" dirty="0"/>
          </a:p>
        </p:txBody>
      </p:sp>
      <p:sp>
        <p:nvSpPr>
          <p:cNvPr id="142" name="Shape 137"/>
          <p:cNvSpPr/>
          <p:nvPr/>
        </p:nvSpPr>
        <p:spPr>
          <a:xfrm>
            <a:off x="9304630" y="4279392"/>
            <a:ext cx="137160" cy="0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143" name="Shape 138"/>
          <p:cNvSpPr/>
          <p:nvPr/>
        </p:nvSpPr>
        <p:spPr>
          <a:xfrm>
            <a:off x="9450934" y="4023360"/>
            <a:ext cx="1155497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144" name="Text 139"/>
          <p:cNvSpPr txBox="1"/>
          <p:nvPr/>
        </p:nvSpPr>
        <p:spPr>
          <a:xfrm>
            <a:off x="9478366" y="4023360"/>
            <a:ext cx="110063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RRC Reconfiguration Complete</a:t>
            </a:r>
            <a:endParaRPr lang="en-US" sz="900" dirty="0"/>
          </a:p>
        </p:txBody>
      </p:sp>
      <p:sp>
        <p:nvSpPr>
          <p:cNvPr id="145" name="Shape 140"/>
          <p:cNvSpPr/>
          <p:nvPr/>
        </p:nvSpPr>
        <p:spPr>
          <a:xfrm>
            <a:off x="10615574" y="4279392"/>
            <a:ext cx="137160" cy="0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146" name="Shape 141"/>
          <p:cNvSpPr/>
          <p:nvPr/>
        </p:nvSpPr>
        <p:spPr>
          <a:xfrm>
            <a:off x="10761878" y="4023360"/>
            <a:ext cx="1155497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147" name="Text 142"/>
          <p:cNvSpPr txBox="1"/>
          <p:nvPr/>
        </p:nvSpPr>
        <p:spPr>
          <a:xfrm>
            <a:off x="10789310" y="4023360"/>
            <a:ext cx="110063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Непрерывность сервиса</a:t>
            </a:r>
            <a:endParaRPr lang="en-US" sz="900" dirty="0"/>
          </a:p>
        </p:txBody>
      </p:sp>
      <p:sp>
        <p:nvSpPr>
          <p:cNvPr id="148" name="Shape 143"/>
          <p:cNvSpPr/>
          <p:nvPr/>
        </p:nvSpPr>
        <p:spPr>
          <a:xfrm>
            <a:off x="274320" y="4626864"/>
            <a:ext cx="3703320" cy="1426464"/>
          </a:xfrm>
          <a:prstGeom prst="roundRect">
            <a:avLst>
              <a:gd name="adj" fmla="val 5128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pic>
        <p:nvPicPr>
          <p:cNvPr id="1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700016"/>
            <a:ext cx="256032" cy="256032"/>
          </a:xfrm>
          <a:prstGeom prst="rect">
            <a:avLst/>
          </a:prstGeom>
        </p:spPr>
      </p:pic>
      <p:sp>
        <p:nvSpPr>
          <p:cNvPr id="150" name="Text 144"/>
          <p:cNvSpPr txBox="1"/>
          <p:nvPr/>
        </p:nvSpPr>
        <p:spPr>
          <a:xfrm>
            <a:off x="777240" y="46817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проверяем в measurements</a:t>
            </a:r>
            <a:endParaRPr lang="en-US" sz="1200" dirty="0"/>
          </a:p>
        </p:txBody>
      </p:sp>
      <p:sp>
        <p:nvSpPr>
          <p:cNvPr id="151" name="Shape 145"/>
          <p:cNvSpPr/>
          <p:nvPr/>
        </p:nvSpPr>
        <p:spPr>
          <a:xfrm>
            <a:off x="448056" y="513161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52" name="Text 146"/>
          <p:cNvSpPr txBox="1"/>
          <p:nvPr/>
        </p:nvSpPr>
        <p:spPr>
          <a:xfrm>
            <a:off x="576072" y="5089550"/>
            <a:ext cx="165140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правильность измерений</a:t>
            </a:r>
            <a:endParaRPr lang="en-US" sz="1000" dirty="0"/>
          </a:p>
        </p:txBody>
      </p:sp>
      <p:sp>
        <p:nvSpPr>
          <p:cNvPr id="153" name="Shape 147"/>
          <p:cNvSpPr/>
          <p:nvPr/>
        </p:nvSpPr>
        <p:spPr>
          <a:xfrm>
            <a:off x="448056" y="536021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54" name="Text 148"/>
          <p:cNvSpPr txBox="1"/>
          <p:nvPr/>
        </p:nvSpPr>
        <p:spPr>
          <a:xfrm>
            <a:off x="576072" y="5318150"/>
            <a:ext cx="165140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фильтрация L1 / L3</a:t>
            </a:r>
            <a:endParaRPr lang="en-US" sz="1000" dirty="0"/>
          </a:p>
        </p:txBody>
      </p:sp>
      <p:sp>
        <p:nvSpPr>
          <p:cNvPr id="155" name="Shape 149"/>
          <p:cNvSpPr/>
          <p:nvPr/>
        </p:nvSpPr>
        <p:spPr>
          <a:xfrm>
            <a:off x="448056" y="558881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56" name="Text 150"/>
          <p:cNvSpPr txBox="1"/>
          <p:nvPr/>
        </p:nvSpPr>
        <p:spPr>
          <a:xfrm>
            <a:off x="576072" y="5546750"/>
            <a:ext cx="1651406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тайминг отчёта об измерениях</a:t>
            </a:r>
            <a:endParaRPr lang="en-US" sz="1000" dirty="0"/>
          </a:p>
        </p:txBody>
      </p:sp>
      <p:sp>
        <p:nvSpPr>
          <p:cNvPr id="157" name="Shape 151"/>
          <p:cNvSpPr/>
          <p:nvPr/>
        </p:nvSpPr>
        <p:spPr>
          <a:xfrm>
            <a:off x="2254910" y="513161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58" name="Text 152"/>
          <p:cNvSpPr txBox="1"/>
          <p:nvPr/>
        </p:nvSpPr>
        <p:spPr>
          <a:xfrm>
            <a:off x="2382926" y="5089550"/>
            <a:ext cx="1457554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запуск event condition</a:t>
            </a:r>
            <a:endParaRPr lang="en-US" sz="1000" dirty="0"/>
          </a:p>
        </p:txBody>
      </p:sp>
      <p:sp>
        <p:nvSpPr>
          <p:cNvPr id="159" name="Shape 153"/>
          <p:cNvSpPr/>
          <p:nvPr/>
        </p:nvSpPr>
        <p:spPr>
          <a:xfrm>
            <a:off x="2254910" y="536021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60" name="Text 154"/>
          <p:cNvSpPr txBox="1"/>
          <p:nvPr/>
        </p:nvSpPr>
        <p:spPr>
          <a:xfrm>
            <a:off x="2382926" y="5318150"/>
            <a:ext cx="1457554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гистерезис</a:t>
            </a:r>
            <a:endParaRPr lang="en-US" sz="1000" dirty="0"/>
          </a:p>
        </p:txBody>
      </p:sp>
      <p:sp>
        <p:nvSpPr>
          <p:cNvPr id="161" name="Shape 155"/>
          <p:cNvSpPr/>
          <p:nvPr/>
        </p:nvSpPr>
        <p:spPr>
          <a:xfrm>
            <a:off x="2254910" y="558881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62" name="Text 156"/>
          <p:cNvSpPr txBox="1"/>
          <p:nvPr/>
        </p:nvSpPr>
        <p:spPr>
          <a:xfrm>
            <a:off x="2382926" y="5546750"/>
            <a:ext cx="1457554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time-to-trigger</a:t>
            </a:r>
            <a:endParaRPr lang="en-US" sz="1000" dirty="0"/>
          </a:p>
        </p:txBody>
      </p:sp>
      <p:sp>
        <p:nvSpPr>
          <p:cNvPr id="163" name="Shape 157"/>
          <p:cNvSpPr/>
          <p:nvPr/>
        </p:nvSpPr>
        <p:spPr>
          <a:xfrm>
            <a:off x="2254910" y="581741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64" name="Text 158"/>
          <p:cNvSpPr txBox="1"/>
          <p:nvPr/>
        </p:nvSpPr>
        <p:spPr>
          <a:xfrm>
            <a:off x="2382926" y="5775350"/>
            <a:ext cx="1457554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reporting quantity</a:t>
            </a:r>
            <a:endParaRPr lang="en-US" sz="1000" dirty="0"/>
          </a:p>
        </p:txBody>
      </p:sp>
      <p:sp>
        <p:nvSpPr>
          <p:cNvPr id="165" name="Shape 159"/>
          <p:cNvSpPr/>
          <p:nvPr/>
        </p:nvSpPr>
        <p:spPr>
          <a:xfrm>
            <a:off x="4114800" y="4626864"/>
            <a:ext cx="3962095" cy="1426464"/>
          </a:xfrm>
          <a:prstGeom prst="roundRect">
            <a:avLst>
              <a:gd name="adj" fmla="val 5128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pic>
        <p:nvPicPr>
          <p:cNvPr id="1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4700016"/>
            <a:ext cx="256032" cy="256032"/>
          </a:xfrm>
          <a:prstGeom prst="rect">
            <a:avLst/>
          </a:prstGeom>
        </p:spPr>
      </p:pic>
      <p:sp>
        <p:nvSpPr>
          <p:cNvPr id="167" name="Text 160"/>
          <p:cNvSpPr txBox="1"/>
          <p:nvPr/>
        </p:nvSpPr>
        <p:spPr>
          <a:xfrm>
            <a:off x="4617720" y="4681728"/>
            <a:ext cx="3322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Критерий успеха</a:t>
            </a:r>
            <a:endParaRPr lang="en-US" sz="1200" dirty="0"/>
          </a:p>
        </p:txBody>
      </p:sp>
      <p:sp>
        <p:nvSpPr>
          <p:cNvPr id="168" name="Shape 161"/>
          <p:cNvSpPr/>
          <p:nvPr/>
        </p:nvSpPr>
        <p:spPr>
          <a:xfrm>
            <a:off x="4306824" y="506303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69" name="Text 162"/>
          <p:cNvSpPr txBox="1"/>
          <p:nvPr/>
        </p:nvSpPr>
        <p:spPr>
          <a:xfrm>
            <a:off x="4434840" y="5024582"/>
            <a:ext cx="3550615" cy="150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UE корректно измеряет обслуживающую и соседние соты</a:t>
            </a:r>
            <a:endParaRPr lang="en-US" sz="950" dirty="0"/>
          </a:p>
        </p:txBody>
      </p:sp>
      <p:sp>
        <p:nvSpPr>
          <p:cNvPr id="170" name="Shape 163"/>
          <p:cNvSpPr/>
          <p:nvPr/>
        </p:nvSpPr>
        <p:spPr>
          <a:xfrm>
            <a:off x="4306824" y="5227625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71" name="Text 164"/>
          <p:cNvSpPr txBox="1"/>
          <p:nvPr/>
        </p:nvSpPr>
        <p:spPr>
          <a:xfrm>
            <a:off x="4434840" y="5189174"/>
            <a:ext cx="3550615" cy="150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отчёт отправляется по заданному event condition</a:t>
            </a:r>
            <a:endParaRPr lang="en-US" sz="950" dirty="0"/>
          </a:p>
        </p:txBody>
      </p:sp>
      <p:sp>
        <p:nvSpPr>
          <p:cNvPr id="172" name="Shape 165"/>
          <p:cNvSpPr/>
          <p:nvPr/>
        </p:nvSpPr>
        <p:spPr>
          <a:xfrm>
            <a:off x="4306824" y="5392217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73" name="Text 166"/>
          <p:cNvSpPr txBox="1"/>
          <p:nvPr/>
        </p:nvSpPr>
        <p:spPr>
          <a:xfrm>
            <a:off x="4434840" y="5353766"/>
            <a:ext cx="3550615" cy="150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cell reselection идёт по логике priority / threshold</a:t>
            </a:r>
            <a:endParaRPr lang="en-US" sz="950" dirty="0"/>
          </a:p>
        </p:txBody>
      </p:sp>
      <p:sp>
        <p:nvSpPr>
          <p:cNvPr id="174" name="Shape 167"/>
          <p:cNvSpPr/>
          <p:nvPr/>
        </p:nvSpPr>
        <p:spPr>
          <a:xfrm>
            <a:off x="4306824" y="5556809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75" name="Text 168"/>
          <p:cNvSpPr txBox="1"/>
          <p:nvPr/>
        </p:nvSpPr>
        <p:spPr>
          <a:xfrm>
            <a:off x="4434840" y="5518358"/>
            <a:ext cx="3550615" cy="150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handover завершается без потери контекста UE</a:t>
            </a:r>
            <a:endParaRPr lang="en-US" sz="950" dirty="0"/>
          </a:p>
        </p:txBody>
      </p:sp>
      <p:sp>
        <p:nvSpPr>
          <p:cNvPr id="176" name="Shape 169"/>
          <p:cNvSpPr/>
          <p:nvPr/>
        </p:nvSpPr>
        <p:spPr>
          <a:xfrm>
            <a:off x="4306824" y="5721401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77" name="Text 170"/>
          <p:cNvSpPr txBox="1"/>
          <p:nvPr/>
        </p:nvSpPr>
        <p:spPr>
          <a:xfrm>
            <a:off x="4434840" y="5682950"/>
            <a:ext cx="3550615" cy="150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RLF и recovery соответствуют сценарию</a:t>
            </a:r>
            <a:endParaRPr lang="en-US" sz="950" dirty="0"/>
          </a:p>
        </p:txBody>
      </p:sp>
      <p:sp>
        <p:nvSpPr>
          <p:cNvPr id="178" name="Shape 171"/>
          <p:cNvSpPr/>
          <p:nvPr/>
        </p:nvSpPr>
        <p:spPr>
          <a:xfrm>
            <a:off x="4306824" y="588599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79" name="Text 172"/>
          <p:cNvSpPr txBox="1"/>
          <p:nvPr/>
        </p:nvSpPr>
        <p:spPr>
          <a:xfrm>
            <a:off x="4434840" y="5847542"/>
            <a:ext cx="3550615" cy="1509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непрерывность сервиса подтверждена</a:t>
            </a:r>
            <a:endParaRPr lang="en-US" sz="950" dirty="0"/>
          </a:p>
        </p:txBody>
      </p:sp>
      <p:sp>
        <p:nvSpPr>
          <p:cNvPr id="180" name="Shape 173"/>
          <p:cNvSpPr/>
          <p:nvPr/>
        </p:nvSpPr>
        <p:spPr>
          <a:xfrm>
            <a:off x="8214055" y="4626864"/>
            <a:ext cx="3703320" cy="1426464"/>
          </a:xfrm>
          <a:prstGeom prst="roundRect">
            <a:avLst>
              <a:gd name="adj" fmla="val 5128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pic>
        <p:nvPicPr>
          <p:cNvPr id="18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647" y="4700016"/>
            <a:ext cx="256032" cy="256032"/>
          </a:xfrm>
          <a:prstGeom prst="rect">
            <a:avLst/>
          </a:prstGeom>
        </p:spPr>
      </p:pic>
      <p:sp>
        <p:nvSpPr>
          <p:cNvPr id="182" name="Text 174"/>
          <p:cNvSpPr txBox="1"/>
          <p:nvPr/>
        </p:nvSpPr>
        <p:spPr>
          <a:xfrm>
            <a:off x="8716975" y="46817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проверяем в mobility outcome</a:t>
            </a:r>
            <a:endParaRPr lang="en-US" sz="1200" dirty="0"/>
          </a:p>
        </p:txBody>
      </p:sp>
      <p:sp>
        <p:nvSpPr>
          <p:cNvPr id="183" name="Shape 175"/>
          <p:cNvSpPr/>
          <p:nvPr/>
        </p:nvSpPr>
        <p:spPr>
          <a:xfrm>
            <a:off x="8387791" y="513161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84" name="Text 176"/>
          <p:cNvSpPr txBox="1"/>
          <p:nvPr/>
        </p:nvSpPr>
        <p:spPr>
          <a:xfrm>
            <a:off x="8515807" y="5089550"/>
            <a:ext cx="165140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правильная целевая сота</a:t>
            </a:r>
            <a:endParaRPr lang="en-US" sz="1000" dirty="0"/>
          </a:p>
        </p:txBody>
      </p:sp>
      <p:sp>
        <p:nvSpPr>
          <p:cNvPr id="185" name="Shape 177"/>
          <p:cNvSpPr/>
          <p:nvPr/>
        </p:nvSpPr>
        <p:spPr>
          <a:xfrm>
            <a:off x="8387791" y="536021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86" name="Text 178"/>
          <p:cNvSpPr txBox="1"/>
          <p:nvPr/>
        </p:nvSpPr>
        <p:spPr>
          <a:xfrm>
            <a:off x="8515807" y="5318150"/>
            <a:ext cx="165140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нет late handover</a:t>
            </a:r>
            <a:endParaRPr lang="en-US" sz="1000" dirty="0"/>
          </a:p>
        </p:txBody>
      </p:sp>
      <p:sp>
        <p:nvSpPr>
          <p:cNvPr id="187" name="Shape 179"/>
          <p:cNvSpPr/>
          <p:nvPr/>
        </p:nvSpPr>
        <p:spPr>
          <a:xfrm>
            <a:off x="8387791" y="558881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88" name="Text 180"/>
          <p:cNvSpPr txBox="1"/>
          <p:nvPr/>
        </p:nvSpPr>
        <p:spPr>
          <a:xfrm>
            <a:off x="8515807" y="5546750"/>
            <a:ext cx="165140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нет early handover</a:t>
            </a:r>
            <a:endParaRPr lang="en-US" sz="1000" dirty="0"/>
          </a:p>
        </p:txBody>
      </p:sp>
      <p:sp>
        <p:nvSpPr>
          <p:cNvPr id="189" name="Shape 181"/>
          <p:cNvSpPr/>
          <p:nvPr/>
        </p:nvSpPr>
        <p:spPr>
          <a:xfrm>
            <a:off x="8387791" y="581741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90" name="Text 182"/>
          <p:cNvSpPr txBox="1"/>
          <p:nvPr/>
        </p:nvSpPr>
        <p:spPr>
          <a:xfrm>
            <a:off x="8515807" y="5775350"/>
            <a:ext cx="165140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нет ping-pong</a:t>
            </a:r>
            <a:endParaRPr lang="en-US" sz="1000" dirty="0"/>
          </a:p>
        </p:txBody>
      </p:sp>
      <p:sp>
        <p:nvSpPr>
          <p:cNvPr id="191" name="Shape 183"/>
          <p:cNvSpPr/>
          <p:nvPr/>
        </p:nvSpPr>
        <p:spPr>
          <a:xfrm>
            <a:off x="10194646" y="513161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92" name="Text 184"/>
          <p:cNvSpPr txBox="1"/>
          <p:nvPr/>
        </p:nvSpPr>
        <p:spPr>
          <a:xfrm>
            <a:off x="10322662" y="5089550"/>
            <a:ext cx="1457554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нет unnecessary RLF</a:t>
            </a:r>
            <a:endParaRPr lang="en-US" sz="1000" dirty="0"/>
          </a:p>
        </p:txBody>
      </p:sp>
      <p:sp>
        <p:nvSpPr>
          <p:cNvPr id="193" name="Shape 185"/>
          <p:cNvSpPr/>
          <p:nvPr/>
        </p:nvSpPr>
        <p:spPr>
          <a:xfrm>
            <a:off x="10194646" y="5360213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94" name="Text 186"/>
          <p:cNvSpPr txBox="1"/>
          <p:nvPr/>
        </p:nvSpPr>
        <p:spPr>
          <a:xfrm>
            <a:off x="10322662" y="5318150"/>
            <a:ext cx="1457554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минимальное прерывание сервиса</a:t>
            </a:r>
            <a:endParaRPr lang="en-US" sz="1000" dirty="0"/>
          </a:p>
        </p:txBody>
      </p:sp>
      <p:sp>
        <p:nvSpPr>
          <p:cNvPr id="195" name="Shape 187"/>
          <p:cNvSpPr/>
          <p:nvPr/>
        </p:nvSpPr>
        <p:spPr>
          <a:xfrm>
            <a:off x="10194646" y="5733288"/>
            <a:ext cx="59436" cy="59436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96" name="Text 188"/>
          <p:cNvSpPr txBox="1"/>
          <p:nvPr/>
        </p:nvSpPr>
        <p:spPr>
          <a:xfrm>
            <a:off x="10322662" y="5691226"/>
            <a:ext cx="1457554" cy="331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сессия сохраняется после mobility</a:t>
            </a:r>
            <a:endParaRPr lang="en-US" sz="1000" dirty="0"/>
          </a:p>
        </p:txBody>
      </p:sp>
      <p:sp>
        <p:nvSpPr>
          <p:cNvPr id="197" name="Shape 189"/>
          <p:cNvSpPr/>
          <p:nvPr/>
        </p:nvSpPr>
        <p:spPr>
          <a:xfrm>
            <a:off x="274320" y="6163056"/>
            <a:ext cx="11643055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534EE6"/>
            </a:solidFill>
            <a:prstDash val="solid"/>
          </a:ln>
        </p:spPr>
      </p:sp>
      <p:pic>
        <p:nvPicPr>
          <p:cNvPr id="19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254496"/>
            <a:ext cx="365760" cy="365760"/>
          </a:xfrm>
          <a:prstGeom prst="rect">
            <a:avLst/>
          </a:prstGeom>
        </p:spPr>
      </p:pic>
      <p:sp>
        <p:nvSpPr>
          <p:cNvPr id="199" name="Text 190"/>
          <p:cNvSpPr txBox="1"/>
          <p:nvPr/>
        </p:nvSpPr>
        <p:spPr>
          <a:xfrm>
            <a:off x="1188720" y="6181344"/>
            <a:ext cx="9814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RRM и mobility testing UE проверяет, как устройство измеряет радиосреду, принимает решения в Idle / Inactive и сохраняет сервис при handover в Connected mode.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430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Performance testing UE: throughput, MIMO, CA и radio conditions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03504"/>
            <a:ext cx="378957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640080"/>
            <a:ext cx="3789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1) Эмуляция сети и сессии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877824"/>
            <a:ext cx="15599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3192" y="110139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21208" y="1070168"/>
            <a:ext cx="1377041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callbox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93192" y="124312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1208" y="1211900"/>
            <a:ext cx="1377041" cy="25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базовой станции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93192" y="150766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1208" y="1476436"/>
            <a:ext cx="1377041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Core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3192" y="164939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1208" y="1618168"/>
            <a:ext cx="1377041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RF тестовая платформа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998833" y="914400"/>
            <a:ext cx="19736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задаёт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07977" y="113797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135993" y="1106744"/>
            <a:ext cx="803933" cy="25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SA / NSA сценарий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94790" y="113797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122806" y="1106744"/>
            <a:ext cx="803933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DL / UL bearer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07977" y="140250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135993" y="1371280"/>
            <a:ext cx="803933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PDU Session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94790" y="140250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122806" y="1371280"/>
            <a:ext cx="803933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IP-связность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07977" y="154423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135993" y="1513012"/>
            <a:ext cx="803933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QoS flow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994790" y="154423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122806" y="1513012"/>
            <a:ext cx="803933" cy="25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поведение scheduler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4048" y="1813804"/>
            <a:ext cx="358841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384048" y="1850380"/>
            <a:ext cx="35884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проверяется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3192" y="207395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21208" y="2042724"/>
            <a:ext cx="1611325" cy="25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устойчивость сессии под нагрузкой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187397" y="207395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315413" y="2042724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непрерывность user plane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3192" y="233848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21208" y="2307260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DL throughput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87397" y="233848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315413" y="2307260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сквозной путь radio → core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93192" y="248021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21208" y="2448992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UL throughput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01058" y="603504"/>
            <a:ext cx="378957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01058" y="640080"/>
            <a:ext cx="3789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2) Конфигурация радиоемкости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310786" y="877824"/>
            <a:ext cx="12369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19930" y="110139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447946" y="1070168"/>
            <a:ext cx="1054084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сети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319930" y="124312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447946" y="1211900"/>
            <a:ext cx="1054084" cy="25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RF тестовая платформа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319930" y="150766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47946" y="1476436"/>
            <a:ext cx="1054084" cy="37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инструмент конфигурации протоколов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5602614" y="914400"/>
            <a:ext cx="22965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задаёт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11758" y="113797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739774" y="1106744"/>
            <a:ext cx="965411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bandwidth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760049" y="113797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888065" y="1106744"/>
            <a:ext cx="965411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CA combination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11758" y="127970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739774" y="1248476"/>
            <a:ext cx="965411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SCS / numerology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760049" y="127970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888065" y="1248476"/>
            <a:ext cx="965411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TDD pattern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611758" y="142143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5739774" y="1390208"/>
            <a:ext cx="965411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MCS range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760049" y="142143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888065" y="1390208"/>
            <a:ext cx="965411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DL / UL allocation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611758" y="156316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5739774" y="1531940"/>
            <a:ext cx="965411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MIMO layers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310786" y="1900032"/>
            <a:ext cx="358841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sp>
        <p:nvSpPr>
          <p:cNvPr id="64" name="Text 62"/>
          <p:cNvSpPr txBox="1"/>
          <p:nvPr/>
        </p:nvSpPr>
        <p:spPr>
          <a:xfrm>
            <a:off x="4310786" y="1936608"/>
            <a:ext cx="35884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проверяется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319930" y="216017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447946" y="2128952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peak throughput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114136" y="216017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242152" y="2128952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активация CA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319930" y="230191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447946" y="2270684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sustained throughput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114136" y="230191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242152" y="2270684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DL / UL asymmetry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319930" y="244364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447946" y="2412416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поведение MIMO rank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114136" y="244364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6242152" y="2412416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пределы UE capability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127797" y="603504"/>
            <a:ext cx="378957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127797" y="640080"/>
            <a:ext cx="3789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3) Эмуляция радиоканала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8237525" y="877824"/>
            <a:ext cx="15599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246669" y="110139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8374685" y="1070168"/>
            <a:ext cx="1377041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эмулятор радиоканала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246669" y="124312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8374685" y="1211900"/>
            <a:ext cx="1377041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MIMO эмулятор канала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246669" y="138485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8374685" y="1353632"/>
            <a:ext cx="1377041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источник шума / помех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8246669" y="152659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8374685" y="1495364"/>
            <a:ext cx="1377041" cy="25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RF аттенюатор / управление ослаблением</a:t>
            </a:r>
            <a:endParaRPr 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9852309" y="914400"/>
            <a:ext cx="19736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задаёт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861453" y="113797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9989469" y="1106744"/>
            <a:ext cx="803933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SINR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0848266" y="113797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976282" y="1106744"/>
            <a:ext cx="803933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delay spread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861453" y="127970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9989469" y="1248476"/>
            <a:ext cx="803933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path loss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10848266" y="127970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10976282" y="1248476"/>
            <a:ext cx="803933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multipath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9861453" y="142143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9989469" y="1390208"/>
            <a:ext cx="803933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fading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10848266" y="142143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10976282" y="1390208"/>
            <a:ext cx="803933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interference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9861453" y="156316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9989469" y="1531940"/>
            <a:ext cx="803933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Doppler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10848266" y="156316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10976282" y="1531940"/>
            <a:ext cx="803933" cy="25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условия края соты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8237525" y="1832732"/>
            <a:ext cx="3588410" cy="0"/>
          </a:xfrm>
          <a:prstGeom prst="line">
            <a:avLst/>
          </a:prstGeom>
          <a:noFill/>
          <a:ln w="9525">
            <a:solidFill>
              <a:srgbClr val="FF812A"/>
            </a:solidFill>
            <a:prstDash val="dash"/>
          </a:ln>
        </p:spPr>
      </p:sp>
      <p:sp>
        <p:nvSpPr>
          <p:cNvPr id="106" name="Text 104"/>
          <p:cNvSpPr txBox="1"/>
          <p:nvPr/>
        </p:nvSpPr>
        <p:spPr>
          <a:xfrm>
            <a:off x="8237525" y="1869308"/>
            <a:ext cx="35884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проверяется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8246669" y="209287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8374685" y="2061652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throughput при fading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10040874" y="209287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10168890" y="2061652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устойчивость rank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8246669" y="223461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8374685" y="2203384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BLER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10040874" y="223461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10168890" y="2203384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устойчивость CA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8246669" y="237634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8374685" y="2345116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HARQ retransmissions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10040874" y="237634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10168890" y="2345116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throughput на краю соты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8246669" y="251807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8374685" y="2486848"/>
            <a:ext cx="161132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link adaptation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5272888" y="2798064"/>
            <a:ext cx="1645920" cy="1325880"/>
          </a:xfrm>
          <a:prstGeom prst="roundRect">
            <a:avLst>
              <a:gd name="adj" fmla="val 6897"/>
            </a:avLst>
          </a:prstGeom>
          <a:solidFill>
            <a:srgbClr val="534EE6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5272888" y="29077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UE</a:t>
            </a:r>
            <a:endParaRPr lang="en-US" sz="2400" dirty="0"/>
          </a:p>
        </p:txBody>
      </p:sp>
      <p:sp>
        <p:nvSpPr>
          <p:cNvPr id="123" name="Text 121"/>
          <p:cNvSpPr txBox="1"/>
          <p:nvPr/>
        </p:nvSpPr>
        <p:spPr>
          <a:xfrm>
            <a:off x="5272888" y="341985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тестируемое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устройство (DUT)</a:t>
            </a:r>
            <a:endParaRPr lang="en-US" sz="1200" dirty="0"/>
          </a:p>
        </p:txBody>
      </p:sp>
      <p:sp>
        <p:nvSpPr>
          <p:cNvPr id="124" name="Shape 122"/>
          <p:cNvSpPr/>
          <p:nvPr/>
        </p:nvSpPr>
        <p:spPr>
          <a:xfrm flipV="1">
            <a:off x="6095848" y="2633472"/>
            <a:ext cx="0" cy="155448"/>
          </a:xfrm>
          <a:prstGeom prst="line">
            <a:avLst/>
          </a:prstGeom>
          <a:noFill/>
          <a:ln w="22225">
            <a:solidFill>
              <a:srgbClr val="534EE6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 flipH="1">
            <a:off x="4587088" y="2907792"/>
            <a:ext cx="658368" cy="0"/>
          </a:xfrm>
          <a:prstGeom prst="line">
            <a:avLst/>
          </a:prstGeom>
          <a:noFill/>
          <a:ln w="22225">
            <a:solidFill>
              <a:srgbClr val="534EE6"/>
            </a:solidFill>
            <a:prstDash val="solid"/>
            <a:headEnd type="triangle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6946240" y="2907792"/>
            <a:ext cx="658368" cy="0"/>
          </a:xfrm>
          <a:prstGeom prst="line">
            <a:avLst/>
          </a:prstGeom>
          <a:noFill/>
          <a:ln w="22225">
            <a:solidFill>
              <a:srgbClr val="534EE6"/>
            </a:solidFill>
            <a:prstDash val="solid"/>
            <a:headEnd type="triangle"/>
            <a:tailEnd type="triangle"/>
          </a:ln>
        </p:spPr>
      </p:sp>
      <p:sp>
        <p:nvSpPr>
          <p:cNvPr id="127" name="Shape 125"/>
          <p:cNvSpPr/>
          <p:nvPr/>
        </p:nvSpPr>
        <p:spPr>
          <a:xfrm flipH="1">
            <a:off x="4980280" y="3986784"/>
            <a:ext cx="265176" cy="182880"/>
          </a:xfrm>
          <a:prstGeom prst="line">
            <a:avLst/>
          </a:prstGeom>
          <a:noFill/>
          <a:ln w="22225">
            <a:solidFill>
              <a:srgbClr val="534EE6"/>
            </a:solidFill>
            <a:prstDash val="solid"/>
            <a:headEnd type="triangle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6946240" y="3986784"/>
            <a:ext cx="265176" cy="182880"/>
          </a:xfrm>
          <a:prstGeom prst="line">
            <a:avLst/>
          </a:prstGeom>
          <a:noFill/>
          <a:ln w="22225">
            <a:solidFill>
              <a:srgbClr val="534EE6"/>
            </a:solidFill>
            <a:prstDash val="solid"/>
            <a:headEnd type="triangle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274320" y="2926080"/>
            <a:ext cx="46785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274320" y="295351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4) Генерация трафика и application endpoint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384048" y="3127248"/>
            <a:ext cx="14226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393192" y="335081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521208" y="3319592"/>
            <a:ext cx="123978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генератор трафика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393192" y="349255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521208" y="3461324"/>
            <a:ext cx="1239785" cy="37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сервер приложения / конечная точка трафика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393192" y="387989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7" name="Text 135"/>
          <p:cNvSpPr txBox="1"/>
          <p:nvPr/>
        </p:nvSpPr>
        <p:spPr>
          <a:xfrm>
            <a:off x="521208" y="3848664"/>
            <a:ext cx="1239785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тестовая система L4–7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393192" y="402162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521208" y="3990396"/>
            <a:ext cx="1239785" cy="25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инструмент TCP / UDP трафика</a:t>
            </a:r>
            <a:endParaRPr lang="en-US" sz="850" dirty="0"/>
          </a:p>
        </p:txBody>
      </p:sp>
      <p:sp>
        <p:nvSpPr>
          <p:cNvPr id="140" name="Text 138"/>
          <p:cNvSpPr txBox="1"/>
          <p:nvPr/>
        </p:nvSpPr>
        <p:spPr>
          <a:xfrm>
            <a:off x="1861577" y="3200400"/>
            <a:ext cx="16648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задаёт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1870721" y="342397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1998737" y="3392744"/>
            <a:ext cx="649530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TCP traffic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2703131" y="342397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2831147" y="3392744"/>
            <a:ext cx="649530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packet size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1870721" y="356570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46" name="Text 144"/>
          <p:cNvSpPr txBox="1"/>
          <p:nvPr/>
        </p:nvSpPr>
        <p:spPr>
          <a:xfrm>
            <a:off x="1998737" y="3534476"/>
            <a:ext cx="649530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UDP traffic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2703131" y="356570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2831147" y="3534476"/>
            <a:ext cx="649530" cy="25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профиль нагрузки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1870721" y="383023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50" name="Text 148"/>
          <p:cNvSpPr txBox="1"/>
          <p:nvPr/>
        </p:nvSpPr>
        <p:spPr>
          <a:xfrm>
            <a:off x="1998737" y="3799012"/>
            <a:ext cx="649530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HTTP profile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2703131" y="383023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2831147" y="3799012"/>
            <a:ext cx="649530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duration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1870721" y="397197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54" name="Text 152"/>
          <p:cNvSpPr txBox="1"/>
          <p:nvPr/>
        </p:nvSpPr>
        <p:spPr>
          <a:xfrm>
            <a:off x="1998737" y="3940744"/>
            <a:ext cx="649530" cy="25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parallel sessions</a:t>
            </a:r>
            <a:endParaRPr lang="en-US" sz="850" dirty="0"/>
          </a:p>
        </p:txBody>
      </p:sp>
      <p:sp>
        <p:nvSpPr>
          <p:cNvPr id="155" name="Text 153"/>
          <p:cNvSpPr txBox="1"/>
          <p:nvPr/>
        </p:nvSpPr>
        <p:spPr>
          <a:xfrm>
            <a:off x="3562973" y="3200400"/>
            <a:ext cx="12984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проверяется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3572117" y="342397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57" name="Text 155"/>
          <p:cNvSpPr txBox="1"/>
          <p:nvPr/>
        </p:nvSpPr>
        <p:spPr>
          <a:xfrm>
            <a:off x="3700133" y="3392744"/>
            <a:ext cx="1115554" cy="25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IP / TCP / UDP throughput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3572117" y="368850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3700133" y="3657280"/>
            <a:ext cx="1115554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application goodput</a:t>
            </a:r>
            <a:endParaRPr lang="en-US" sz="850" dirty="0"/>
          </a:p>
        </p:txBody>
      </p:sp>
      <p:sp>
        <p:nvSpPr>
          <p:cNvPr id="160" name="Shape 158"/>
          <p:cNvSpPr/>
          <p:nvPr/>
        </p:nvSpPr>
        <p:spPr>
          <a:xfrm>
            <a:off x="3572117" y="383023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61" name="Text 159"/>
          <p:cNvSpPr txBox="1"/>
          <p:nvPr/>
        </p:nvSpPr>
        <p:spPr>
          <a:xfrm>
            <a:off x="3700133" y="3799012"/>
            <a:ext cx="1115554" cy="25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QoE-чувствительное поведение</a:t>
            </a:r>
            <a:endParaRPr lang="en-US" sz="850" dirty="0"/>
          </a:p>
        </p:txBody>
      </p:sp>
      <p:sp>
        <p:nvSpPr>
          <p:cNvPr id="162" name="Shape 160"/>
          <p:cNvSpPr/>
          <p:nvPr/>
        </p:nvSpPr>
        <p:spPr>
          <a:xfrm>
            <a:off x="3572117" y="409477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63" name="Text 161"/>
          <p:cNvSpPr txBox="1"/>
          <p:nvPr/>
        </p:nvSpPr>
        <p:spPr>
          <a:xfrm>
            <a:off x="3700133" y="4063548"/>
            <a:ext cx="1115554" cy="25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симметрия UL / DL traffic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7238848" y="2926080"/>
            <a:ext cx="467852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7238848" y="295351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5) Измерение, capture и root cause analysis</a:t>
            </a:r>
            <a:endParaRPr lang="en-US" sz="1200" dirty="0"/>
          </a:p>
        </p:txBody>
      </p:sp>
      <p:sp>
        <p:nvSpPr>
          <p:cNvPr id="166" name="Text 164"/>
          <p:cNvSpPr txBox="1"/>
          <p:nvPr/>
        </p:nvSpPr>
        <p:spPr>
          <a:xfrm>
            <a:off x="7348576" y="3127248"/>
            <a:ext cx="173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7357720" y="335081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68" name="Text 166"/>
          <p:cNvSpPr txBox="1"/>
          <p:nvPr/>
        </p:nvSpPr>
        <p:spPr>
          <a:xfrm>
            <a:off x="7485736" y="3319592"/>
            <a:ext cx="1553200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анализатор protocol trace</a:t>
            </a:r>
            <a:endParaRPr lang="en-US" sz="850" dirty="0"/>
          </a:p>
        </p:txBody>
      </p:sp>
      <p:sp>
        <p:nvSpPr>
          <p:cNvPr id="169" name="Shape 167"/>
          <p:cNvSpPr/>
          <p:nvPr/>
        </p:nvSpPr>
        <p:spPr>
          <a:xfrm>
            <a:off x="7357720" y="349255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70" name="Text 168"/>
          <p:cNvSpPr txBox="1"/>
          <p:nvPr/>
        </p:nvSpPr>
        <p:spPr>
          <a:xfrm>
            <a:off x="7485736" y="3461324"/>
            <a:ext cx="1553200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система packet capture</a:t>
            </a:r>
            <a:endParaRPr lang="en-US" sz="850" dirty="0"/>
          </a:p>
        </p:txBody>
      </p:sp>
      <p:sp>
        <p:nvSpPr>
          <p:cNvPr id="171" name="Shape 169"/>
          <p:cNvSpPr/>
          <p:nvPr/>
        </p:nvSpPr>
        <p:spPr>
          <a:xfrm>
            <a:off x="7357720" y="363428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72" name="Text 170"/>
          <p:cNvSpPr txBox="1"/>
          <p:nvPr/>
        </p:nvSpPr>
        <p:spPr>
          <a:xfrm>
            <a:off x="7485736" y="3603056"/>
            <a:ext cx="1553200" cy="25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анализатор статистики трафика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7357720" y="389881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7485736" y="3867592"/>
            <a:ext cx="1553200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анализатор RF / PHY</a:t>
            </a:r>
            <a:endParaRPr lang="en-US" sz="850" dirty="0"/>
          </a:p>
        </p:txBody>
      </p:sp>
      <p:sp>
        <p:nvSpPr>
          <p:cNvPr id="175" name="Shape 173"/>
          <p:cNvSpPr/>
          <p:nvPr/>
        </p:nvSpPr>
        <p:spPr>
          <a:xfrm>
            <a:off x="7357720" y="404055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76" name="Text 174"/>
          <p:cNvSpPr txBox="1"/>
          <p:nvPr/>
        </p:nvSpPr>
        <p:spPr>
          <a:xfrm>
            <a:off x="7485736" y="4009324"/>
            <a:ext cx="1553200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инструмент анализа IQ / PHY</a:t>
            </a:r>
            <a:endParaRPr lang="en-US" sz="850" dirty="0"/>
          </a:p>
        </p:txBody>
      </p:sp>
      <p:sp>
        <p:nvSpPr>
          <p:cNvPr id="177" name="Text 175"/>
          <p:cNvSpPr txBox="1"/>
          <p:nvPr/>
        </p:nvSpPr>
        <p:spPr>
          <a:xfrm>
            <a:off x="9139519" y="3200400"/>
            <a:ext cx="2686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анализируется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9148663" y="342397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9276679" y="3392744"/>
            <a:ext cx="1160328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CQI</a:t>
            </a:r>
            <a:endParaRPr lang="en-US" sz="850" dirty="0"/>
          </a:p>
        </p:txBody>
      </p:sp>
      <p:sp>
        <p:nvSpPr>
          <p:cNvPr id="180" name="Shape 178"/>
          <p:cNvSpPr/>
          <p:nvPr/>
        </p:nvSpPr>
        <p:spPr>
          <a:xfrm>
            <a:off x="10491871" y="342397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81" name="Text 179"/>
          <p:cNvSpPr txBox="1"/>
          <p:nvPr/>
        </p:nvSpPr>
        <p:spPr>
          <a:xfrm>
            <a:off x="10619887" y="3392744"/>
            <a:ext cx="1160328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RLC throughput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9148663" y="356570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83" name="Text 181"/>
          <p:cNvSpPr txBox="1"/>
          <p:nvPr/>
        </p:nvSpPr>
        <p:spPr>
          <a:xfrm>
            <a:off x="9276679" y="3534476"/>
            <a:ext cx="1160328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RI</a:t>
            </a:r>
            <a:endParaRPr 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10491871" y="3565703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85" name="Text 183"/>
          <p:cNvSpPr txBox="1"/>
          <p:nvPr/>
        </p:nvSpPr>
        <p:spPr>
          <a:xfrm>
            <a:off x="10619887" y="3534476"/>
            <a:ext cx="1160328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PDCP throughput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9148663" y="370743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87" name="Text 185"/>
          <p:cNvSpPr txBox="1"/>
          <p:nvPr/>
        </p:nvSpPr>
        <p:spPr>
          <a:xfrm>
            <a:off x="9276679" y="3676208"/>
            <a:ext cx="1160328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PMI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10491871" y="3707435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89" name="Text 187"/>
          <p:cNvSpPr txBox="1"/>
          <p:nvPr/>
        </p:nvSpPr>
        <p:spPr>
          <a:xfrm>
            <a:off x="10619887" y="3676208"/>
            <a:ext cx="1160328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IP throughput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9148663" y="384916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91" name="Text 189"/>
          <p:cNvSpPr txBox="1"/>
          <p:nvPr/>
        </p:nvSpPr>
        <p:spPr>
          <a:xfrm>
            <a:off x="9276679" y="3817940"/>
            <a:ext cx="1160328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MCS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10491871" y="3849167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10619887" y="3817940"/>
            <a:ext cx="1160328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app goodput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9148663" y="399089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95" name="Text 193"/>
          <p:cNvSpPr txBox="1"/>
          <p:nvPr/>
        </p:nvSpPr>
        <p:spPr>
          <a:xfrm>
            <a:off x="9276679" y="3959672"/>
            <a:ext cx="1160328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BLER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10491871" y="3990899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97" name="Text 195"/>
          <p:cNvSpPr txBox="1"/>
          <p:nvPr/>
        </p:nvSpPr>
        <p:spPr>
          <a:xfrm>
            <a:off x="10619887" y="3959672"/>
            <a:ext cx="1160328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IQ / PHY events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9148663" y="413263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199" name="Text 197"/>
          <p:cNvSpPr txBox="1"/>
          <p:nvPr/>
        </p:nvSpPr>
        <p:spPr>
          <a:xfrm>
            <a:off x="9276679" y="4101404"/>
            <a:ext cx="1160328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HARQ retransm.</a:t>
            </a:r>
            <a:endParaRPr lang="en-US" sz="850" dirty="0"/>
          </a:p>
        </p:txBody>
      </p:sp>
      <p:sp>
        <p:nvSpPr>
          <p:cNvPr id="200" name="Shape 198"/>
          <p:cNvSpPr/>
          <p:nvPr/>
        </p:nvSpPr>
        <p:spPr>
          <a:xfrm>
            <a:off x="10491871" y="4132631"/>
            <a:ext cx="59436" cy="59436"/>
          </a:xfrm>
          <a:prstGeom prst="ellipse">
            <a:avLst/>
          </a:prstGeom>
          <a:solidFill>
            <a:srgbClr val="FF812A"/>
          </a:solidFill>
          <a:ln/>
        </p:spPr>
      </p:sp>
      <p:sp>
        <p:nvSpPr>
          <p:cNvPr id="201" name="Text 199"/>
          <p:cNvSpPr txBox="1"/>
          <p:nvPr/>
        </p:nvSpPr>
        <p:spPr>
          <a:xfrm>
            <a:off x="10619887" y="4101404"/>
            <a:ext cx="1160328" cy="132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CPU / thermal / power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274320" y="4389120"/>
            <a:ext cx="6446520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274320" y="4407408"/>
            <a:ext cx="6446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Как инженер локализует узкое место</a:t>
            </a:r>
            <a:endParaRPr lang="en-US" sz="1200" dirty="0"/>
          </a:p>
        </p:txBody>
      </p:sp>
      <p:sp>
        <p:nvSpPr>
          <p:cNvPr id="204" name="Shape 202"/>
          <p:cNvSpPr/>
          <p:nvPr/>
        </p:nvSpPr>
        <p:spPr>
          <a:xfrm>
            <a:off x="393192" y="4663440"/>
            <a:ext cx="1197864" cy="1335024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9525">
            <a:solidFill>
              <a:srgbClr val="7F7BEC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438912" y="4709160"/>
            <a:ext cx="201168" cy="201168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206" name="Text 204"/>
          <p:cNvSpPr txBox="1"/>
          <p:nvPr/>
        </p:nvSpPr>
        <p:spPr>
          <a:xfrm>
            <a:off x="438912" y="4709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1</a:t>
            </a:r>
            <a:endParaRPr lang="en-US" sz="950" dirty="0"/>
          </a:p>
        </p:txBody>
      </p:sp>
      <p:pic>
        <p:nvPicPr>
          <p:cNvPr id="20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700016"/>
            <a:ext cx="219456" cy="219456"/>
          </a:xfrm>
          <a:prstGeom prst="rect">
            <a:avLst/>
          </a:prstGeom>
        </p:spPr>
      </p:pic>
      <p:pic>
        <p:nvPicPr>
          <p:cNvPr id="20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4700016"/>
            <a:ext cx="219456" cy="219456"/>
          </a:xfrm>
          <a:prstGeom prst="rect">
            <a:avLst/>
          </a:prstGeom>
        </p:spPr>
      </p:pic>
      <p:sp>
        <p:nvSpPr>
          <p:cNvPr id="209" name="Text 205"/>
          <p:cNvSpPr txBox="1"/>
          <p:nvPr/>
        </p:nvSpPr>
        <p:spPr>
          <a:xfrm>
            <a:off x="448056" y="4919472"/>
            <a:ext cx="1088136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Если падает MCS и растёт BLER</a:t>
            </a:r>
            <a:endParaRPr lang="en-US" sz="800" dirty="0"/>
          </a:p>
        </p:txBody>
      </p:sp>
      <p:sp>
        <p:nvSpPr>
          <p:cNvPr id="210" name="Text 206"/>
          <p:cNvSpPr txBox="1"/>
          <p:nvPr/>
        </p:nvSpPr>
        <p:spPr>
          <a:xfrm>
            <a:off x="448056" y="5205496"/>
            <a:ext cx="1088136" cy="75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вероятная зона: radio conditions, SINR, fading, interference, channel estimation</a:t>
            </a:r>
            <a:endParaRPr lang="en-US" sz="800" dirty="0"/>
          </a:p>
        </p:txBody>
      </p:sp>
      <p:sp>
        <p:nvSpPr>
          <p:cNvPr id="211" name="Shape 207"/>
          <p:cNvSpPr/>
          <p:nvPr/>
        </p:nvSpPr>
        <p:spPr>
          <a:xfrm>
            <a:off x="1645920" y="4663440"/>
            <a:ext cx="1197864" cy="1335024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9525">
            <a:solidFill>
              <a:srgbClr val="7F7BEC"/>
            </a:solidFill>
            <a:prstDash val="solid"/>
          </a:ln>
        </p:spPr>
      </p:sp>
      <p:sp>
        <p:nvSpPr>
          <p:cNvPr id="212" name="Shape 208"/>
          <p:cNvSpPr/>
          <p:nvPr/>
        </p:nvSpPr>
        <p:spPr>
          <a:xfrm>
            <a:off x="1691640" y="4709160"/>
            <a:ext cx="201168" cy="201168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213" name="Text 209"/>
          <p:cNvSpPr txBox="1"/>
          <p:nvPr/>
        </p:nvSpPr>
        <p:spPr>
          <a:xfrm>
            <a:off x="1691640" y="4709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2</a:t>
            </a:r>
            <a:endParaRPr lang="en-US" sz="950" dirty="0"/>
          </a:p>
        </p:txBody>
      </p:sp>
      <p:pic>
        <p:nvPicPr>
          <p:cNvPr id="2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4700016"/>
            <a:ext cx="219456" cy="219456"/>
          </a:xfrm>
          <a:prstGeom prst="rect">
            <a:avLst/>
          </a:prstGeom>
        </p:spPr>
      </p:pic>
      <p:sp>
        <p:nvSpPr>
          <p:cNvPr id="215" name="Text 210"/>
          <p:cNvSpPr txBox="1"/>
          <p:nvPr/>
        </p:nvSpPr>
        <p:spPr>
          <a:xfrm>
            <a:off x="1700784" y="4919472"/>
            <a:ext cx="1088136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Если MIMO rank не удерживается</a:t>
            </a:r>
            <a:endParaRPr lang="en-US" sz="800" dirty="0"/>
          </a:p>
        </p:txBody>
      </p:sp>
      <p:sp>
        <p:nvSpPr>
          <p:cNvPr id="216" name="Text 211"/>
          <p:cNvSpPr txBox="1"/>
          <p:nvPr/>
        </p:nvSpPr>
        <p:spPr>
          <a:xfrm>
            <a:off x="1700784" y="5205496"/>
            <a:ext cx="1088136" cy="75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вероятная зона: antenna behavior, spatial correlation, SINR, ограничения приёмника UE</a:t>
            </a:r>
            <a:endParaRPr lang="en-US" sz="800" dirty="0"/>
          </a:p>
        </p:txBody>
      </p:sp>
      <p:sp>
        <p:nvSpPr>
          <p:cNvPr id="217" name="Shape 212"/>
          <p:cNvSpPr/>
          <p:nvPr/>
        </p:nvSpPr>
        <p:spPr>
          <a:xfrm>
            <a:off x="2898648" y="4663440"/>
            <a:ext cx="1197864" cy="1335024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9525">
            <a:solidFill>
              <a:srgbClr val="7F7BEC"/>
            </a:solidFill>
            <a:prstDash val="solid"/>
          </a:ln>
        </p:spPr>
      </p:sp>
      <p:sp>
        <p:nvSpPr>
          <p:cNvPr id="218" name="Shape 213"/>
          <p:cNvSpPr/>
          <p:nvPr/>
        </p:nvSpPr>
        <p:spPr>
          <a:xfrm>
            <a:off x="2944368" y="4709160"/>
            <a:ext cx="201168" cy="201168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219" name="Text 214"/>
          <p:cNvSpPr txBox="1"/>
          <p:nvPr/>
        </p:nvSpPr>
        <p:spPr>
          <a:xfrm>
            <a:off x="2944368" y="4709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</a:t>
            </a:r>
            <a:endParaRPr lang="en-US" sz="950" dirty="0"/>
          </a:p>
        </p:txBody>
      </p:sp>
      <p:pic>
        <p:nvPicPr>
          <p:cNvPr id="2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4700016"/>
            <a:ext cx="219456" cy="219456"/>
          </a:xfrm>
          <a:prstGeom prst="rect">
            <a:avLst/>
          </a:prstGeom>
        </p:spPr>
      </p:pic>
      <p:pic>
        <p:nvPicPr>
          <p:cNvPr id="2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4700016"/>
            <a:ext cx="219456" cy="219456"/>
          </a:xfrm>
          <a:prstGeom prst="rect">
            <a:avLst/>
          </a:prstGeom>
        </p:spPr>
      </p:pic>
      <p:sp>
        <p:nvSpPr>
          <p:cNvPr id="222" name="Text 215"/>
          <p:cNvSpPr txBox="1"/>
          <p:nvPr/>
        </p:nvSpPr>
        <p:spPr>
          <a:xfrm>
            <a:off x="2953512" y="4919472"/>
            <a:ext cx="1088136" cy="49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Если CA активируется, но throughput не растёт</a:t>
            </a:r>
            <a:endParaRPr lang="en-US" sz="800" dirty="0"/>
          </a:p>
        </p:txBody>
      </p:sp>
      <p:sp>
        <p:nvSpPr>
          <p:cNvPr id="223" name="Text 216"/>
          <p:cNvSpPr txBox="1"/>
          <p:nvPr/>
        </p:nvSpPr>
        <p:spPr>
          <a:xfrm>
            <a:off x="2953512" y="5436657"/>
            <a:ext cx="1088136" cy="525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вероятная зона: scheduler, UE capability, band combination, power / thermal limit</a:t>
            </a:r>
            <a:endParaRPr lang="en-US" sz="800" dirty="0"/>
          </a:p>
        </p:txBody>
      </p:sp>
      <p:sp>
        <p:nvSpPr>
          <p:cNvPr id="224" name="Shape 217"/>
          <p:cNvSpPr/>
          <p:nvPr/>
        </p:nvSpPr>
        <p:spPr>
          <a:xfrm>
            <a:off x="4151376" y="4663440"/>
            <a:ext cx="1197864" cy="1335024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9525">
            <a:solidFill>
              <a:srgbClr val="7F7BEC"/>
            </a:solidFill>
            <a:prstDash val="solid"/>
          </a:ln>
        </p:spPr>
      </p:sp>
      <p:sp>
        <p:nvSpPr>
          <p:cNvPr id="225" name="Shape 218"/>
          <p:cNvSpPr/>
          <p:nvPr/>
        </p:nvSpPr>
        <p:spPr>
          <a:xfrm>
            <a:off x="4197096" y="4709160"/>
            <a:ext cx="201168" cy="201168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226" name="Text 219"/>
          <p:cNvSpPr txBox="1"/>
          <p:nvPr/>
        </p:nvSpPr>
        <p:spPr>
          <a:xfrm>
            <a:off x="4197096" y="4709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4</a:t>
            </a:r>
            <a:endParaRPr lang="en-US" sz="950" dirty="0"/>
          </a:p>
        </p:txBody>
      </p:sp>
      <p:pic>
        <p:nvPicPr>
          <p:cNvPr id="2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700016"/>
            <a:ext cx="219456" cy="219456"/>
          </a:xfrm>
          <a:prstGeom prst="rect">
            <a:avLst/>
          </a:prstGeom>
        </p:spPr>
      </p:pic>
      <p:pic>
        <p:nvPicPr>
          <p:cNvPr id="2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4700016"/>
            <a:ext cx="219456" cy="219456"/>
          </a:xfrm>
          <a:prstGeom prst="rect">
            <a:avLst/>
          </a:prstGeom>
        </p:spPr>
      </p:pic>
      <p:sp>
        <p:nvSpPr>
          <p:cNvPr id="229" name="Text 220"/>
          <p:cNvSpPr txBox="1"/>
          <p:nvPr/>
        </p:nvSpPr>
        <p:spPr>
          <a:xfrm>
            <a:off x="4206240" y="4919472"/>
            <a:ext cx="1088136" cy="49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Если PHY/RLC throughput высокий, а goodput низкий</a:t>
            </a:r>
            <a:endParaRPr lang="en-US" sz="800" dirty="0"/>
          </a:p>
        </p:txBody>
      </p:sp>
      <p:sp>
        <p:nvSpPr>
          <p:cNvPr id="230" name="Text 221"/>
          <p:cNvSpPr txBox="1"/>
          <p:nvPr/>
        </p:nvSpPr>
        <p:spPr>
          <a:xfrm>
            <a:off x="4206240" y="5436657"/>
            <a:ext cx="1088136" cy="525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вероятная зона: TCP, packet loss, buffering, application endpoint, CPU limit</a:t>
            </a:r>
            <a:endParaRPr lang="en-US" sz="800" dirty="0"/>
          </a:p>
        </p:txBody>
      </p:sp>
      <p:sp>
        <p:nvSpPr>
          <p:cNvPr id="231" name="Shape 222"/>
          <p:cNvSpPr/>
          <p:nvPr/>
        </p:nvSpPr>
        <p:spPr>
          <a:xfrm>
            <a:off x="5404104" y="4663440"/>
            <a:ext cx="1197864" cy="1335024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9525">
            <a:solidFill>
              <a:srgbClr val="7F7BEC"/>
            </a:solidFill>
            <a:prstDash val="solid"/>
          </a:ln>
        </p:spPr>
      </p:sp>
      <p:sp>
        <p:nvSpPr>
          <p:cNvPr id="232" name="Shape 223"/>
          <p:cNvSpPr/>
          <p:nvPr/>
        </p:nvSpPr>
        <p:spPr>
          <a:xfrm>
            <a:off x="5449824" y="4709160"/>
            <a:ext cx="201168" cy="201168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233" name="Text 224"/>
          <p:cNvSpPr txBox="1"/>
          <p:nvPr/>
        </p:nvSpPr>
        <p:spPr>
          <a:xfrm>
            <a:off x="5449824" y="4709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5</a:t>
            </a:r>
            <a:endParaRPr lang="en-US" sz="950" dirty="0"/>
          </a:p>
        </p:txBody>
      </p:sp>
      <p:pic>
        <p:nvPicPr>
          <p:cNvPr id="2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2472" y="4700016"/>
            <a:ext cx="219456" cy="219456"/>
          </a:xfrm>
          <a:prstGeom prst="rect">
            <a:avLst/>
          </a:prstGeom>
        </p:spPr>
      </p:pic>
      <p:pic>
        <p:nvPicPr>
          <p:cNvPr id="2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0216" y="4700016"/>
            <a:ext cx="219456" cy="219456"/>
          </a:xfrm>
          <a:prstGeom prst="rect">
            <a:avLst/>
          </a:prstGeom>
        </p:spPr>
      </p:pic>
      <p:sp>
        <p:nvSpPr>
          <p:cNvPr id="236" name="Text 225"/>
          <p:cNvSpPr txBox="1"/>
          <p:nvPr/>
        </p:nvSpPr>
        <p:spPr>
          <a:xfrm>
            <a:off x="5458968" y="4919472"/>
            <a:ext cx="1088136" cy="383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Если throughput падает со временем</a:t>
            </a:r>
            <a:endParaRPr lang="en-US" sz="800" dirty="0"/>
          </a:p>
        </p:txBody>
      </p:sp>
      <p:sp>
        <p:nvSpPr>
          <p:cNvPr id="237" name="Text 226"/>
          <p:cNvSpPr txBox="1"/>
          <p:nvPr/>
        </p:nvSpPr>
        <p:spPr>
          <a:xfrm>
            <a:off x="5458968" y="5321076"/>
            <a:ext cx="1088136" cy="640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вероятная зона: thermal throttling, power management, modem limitation</a:t>
            </a:r>
            <a:endParaRPr lang="en-US" sz="800" dirty="0"/>
          </a:p>
        </p:txBody>
      </p:sp>
      <p:sp>
        <p:nvSpPr>
          <p:cNvPr id="238" name="Shape 227"/>
          <p:cNvSpPr/>
          <p:nvPr/>
        </p:nvSpPr>
        <p:spPr>
          <a:xfrm>
            <a:off x="6839712" y="4389120"/>
            <a:ext cx="5077663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239" name="Text 228"/>
          <p:cNvSpPr txBox="1"/>
          <p:nvPr/>
        </p:nvSpPr>
        <p:spPr>
          <a:xfrm>
            <a:off x="6839712" y="4407408"/>
            <a:ext cx="50776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Критерий полноценного performance-теста</a:t>
            </a:r>
            <a:endParaRPr lang="en-US" sz="1200" dirty="0"/>
          </a:p>
        </p:txBody>
      </p:sp>
      <p:pic>
        <p:nvPicPr>
          <p:cNvPr id="2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9440" y="4690872"/>
            <a:ext cx="164592" cy="164592"/>
          </a:xfrm>
          <a:prstGeom prst="rect">
            <a:avLst/>
          </a:prstGeom>
        </p:spPr>
      </p:pic>
      <p:sp>
        <p:nvSpPr>
          <p:cNvPr id="241" name="Text 229"/>
          <p:cNvSpPr txBox="1"/>
          <p:nvPr/>
        </p:nvSpPr>
        <p:spPr>
          <a:xfrm>
            <a:off x="7223760" y="4711766"/>
            <a:ext cx="2816352" cy="15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задана конфигурация сети и radio capacity</a:t>
            </a:r>
            <a:endParaRPr lang="en-US" sz="850" dirty="0"/>
          </a:p>
        </p:txBody>
      </p:sp>
      <p:pic>
        <p:nvPicPr>
          <p:cNvPr id="2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9440" y="4873752"/>
            <a:ext cx="164592" cy="164592"/>
          </a:xfrm>
          <a:prstGeom prst="rect">
            <a:avLst/>
          </a:prstGeom>
        </p:spPr>
      </p:pic>
      <p:sp>
        <p:nvSpPr>
          <p:cNvPr id="243" name="Text 230"/>
          <p:cNvSpPr txBox="1"/>
          <p:nvPr/>
        </p:nvSpPr>
        <p:spPr>
          <a:xfrm>
            <a:off x="7223760" y="4894646"/>
            <a:ext cx="2816352" cy="15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активированы нужные MIMO и CA режимы</a:t>
            </a:r>
            <a:endParaRPr lang="en-US" sz="850" dirty="0"/>
          </a:p>
        </p:txBody>
      </p:sp>
      <p:pic>
        <p:nvPicPr>
          <p:cNvPr id="2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9440" y="5056632"/>
            <a:ext cx="164592" cy="164592"/>
          </a:xfrm>
          <a:prstGeom prst="rect">
            <a:avLst/>
          </a:prstGeom>
        </p:spPr>
      </p:pic>
      <p:sp>
        <p:nvSpPr>
          <p:cNvPr id="245" name="Text 231"/>
          <p:cNvSpPr txBox="1"/>
          <p:nvPr/>
        </p:nvSpPr>
        <p:spPr>
          <a:xfrm>
            <a:off x="7223760" y="5077526"/>
            <a:ext cx="2816352" cy="15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создан контролируемый DL / UL traffic profile</a:t>
            </a:r>
            <a:endParaRPr lang="en-US" sz="850" dirty="0"/>
          </a:p>
        </p:txBody>
      </p:sp>
      <p:pic>
        <p:nvPicPr>
          <p:cNvPr id="2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9440" y="5239512"/>
            <a:ext cx="164592" cy="164592"/>
          </a:xfrm>
          <a:prstGeom prst="rect">
            <a:avLst/>
          </a:prstGeom>
        </p:spPr>
      </p:pic>
      <p:sp>
        <p:nvSpPr>
          <p:cNvPr id="247" name="Text 232"/>
          <p:cNvSpPr txBox="1"/>
          <p:nvPr/>
        </p:nvSpPr>
        <p:spPr>
          <a:xfrm>
            <a:off x="7223760" y="5260406"/>
            <a:ext cx="2816352" cy="15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радиоканал проверен в ideal и fading conditions</a:t>
            </a:r>
            <a:endParaRPr lang="en-US" sz="850" dirty="0"/>
          </a:p>
        </p:txBody>
      </p:sp>
      <p:pic>
        <p:nvPicPr>
          <p:cNvPr id="2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49440" y="5422392"/>
            <a:ext cx="164592" cy="164592"/>
          </a:xfrm>
          <a:prstGeom prst="rect">
            <a:avLst/>
          </a:prstGeom>
        </p:spPr>
      </p:pic>
      <p:sp>
        <p:nvSpPr>
          <p:cNvPr id="249" name="Text 233"/>
          <p:cNvSpPr txBox="1"/>
          <p:nvPr/>
        </p:nvSpPr>
        <p:spPr>
          <a:xfrm>
            <a:off x="7223760" y="5443286"/>
            <a:ext cx="2816352" cy="15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собраны protocol trace, packet capture и PHY / RF</a:t>
            </a:r>
            <a:endParaRPr lang="en-US" sz="850" dirty="0"/>
          </a:p>
        </p:txBody>
      </p:sp>
      <p:pic>
        <p:nvPicPr>
          <p:cNvPr id="25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49440" y="5605272"/>
            <a:ext cx="164592" cy="164592"/>
          </a:xfrm>
          <a:prstGeom prst="rect">
            <a:avLst/>
          </a:prstGeom>
        </p:spPr>
      </p:pic>
      <p:sp>
        <p:nvSpPr>
          <p:cNvPr id="251" name="Text 234"/>
          <p:cNvSpPr txBox="1"/>
          <p:nvPr/>
        </p:nvSpPr>
        <p:spPr>
          <a:xfrm>
            <a:off x="7223760" y="5626166"/>
            <a:ext cx="2816352" cy="15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разница PHY, user throughput и goodput объяснена</a:t>
            </a:r>
            <a:endParaRPr lang="en-US" sz="850" dirty="0"/>
          </a:p>
        </p:txBody>
      </p:sp>
      <p:pic>
        <p:nvPicPr>
          <p:cNvPr id="25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9440" y="5788152"/>
            <a:ext cx="164592" cy="164592"/>
          </a:xfrm>
          <a:prstGeom prst="rect">
            <a:avLst/>
          </a:prstGeom>
        </p:spPr>
      </p:pic>
      <p:sp>
        <p:nvSpPr>
          <p:cNvPr id="253" name="Text 235"/>
          <p:cNvSpPr txBox="1"/>
          <p:nvPr/>
        </p:nvSpPr>
        <p:spPr>
          <a:xfrm>
            <a:off x="7223760" y="5809046"/>
            <a:ext cx="2816352" cy="15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узкое место локализовано по домену</a:t>
            </a:r>
            <a:endParaRPr lang="en-US" sz="850" dirty="0"/>
          </a:p>
        </p:txBody>
      </p:sp>
      <p:sp>
        <p:nvSpPr>
          <p:cNvPr id="254" name="Shape 236"/>
          <p:cNvSpPr/>
          <p:nvPr/>
        </p:nvSpPr>
        <p:spPr>
          <a:xfrm>
            <a:off x="9985248" y="4700016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255" name="Text 237"/>
          <p:cNvSpPr txBox="1"/>
          <p:nvPr/>
        </p:nvSpPr>
        <p:spPr>
          <a:xfrm>
            <a:off x="10012680" y="4700016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Приложение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(goodput)</a:t>
            </a:r>
            <a:endParaRPr lang="en-US" sz="700" dirty="0"/>
          </a:p>
        </p:txBody>
      </p:sp>
      <p:sp>
        <p:nvSpPr>
          <p:cNvPr id="256" name="Shape 238"/>
          <p:cNvSpPr/>
          <p:nvPr/>
        </p:nvSpPr>
        <p:spPr>
          <a:xfrm>
            <a:off x="9985248" y="4992624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257" name="Text 239"/>
          <p:cNvSpPr txBox="1"/>
          <p:nvPr/>
        </p:nvSpPr>
        <p:spPr>
          <a:xfrm>
            <a:off x="10012680" y="499262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Пользовательский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уровень (IP)</a:t>
            </a:r>
            <a:endParaRPr lang="en-US" sz="700" dirty="0"/>
          </a:p>
        </p:txBody>
      </p:sp>
      <p:sp>
        <p:nvSpPr>
          <p:cNvPr id="258" name="Shape 240"/>
          <p:cNvSpPr/>
          <p:nvPr/>
        </p:nvSpPr>
        <p:spPr>
          <a:xfrm>
            <a:off x="9985248" y="5285232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259" name="Text 241"/>
          <p:cNvSpPr txBox="1"/>
          <p:nvPr/>
        </p:nvSpPr>
        <p:spPr>
          <a:xfrm>
            <a:off x="10012680" y="528523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PHY / RLC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throughput</a:t>
            </a:r>
            <a:endParaRPr lang="en-US" sz="700" dirty="0"/>
          </a:p>
        </p:txBody>
      </p:sp>
      <p:sp>
        <p:nvSpPr>
          <p:cNvPr id="260" name="Shape 242"/>
          <p:cNvSpPr/>
          <p:nvPr/>
        </p:nvSpPr>
        <p:spPr>
          <a:xfrm>
            <a:off x="9985248" y="5577840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F9F9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261" name="Text 243"/>
          <p:cNvSpPr txBox="1"/>
          <p:nvPr/>
        </p:nvSpPr>
        <p:spPr>
          <a:xfrm>
            <a:off x="10012680" y="5577840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Радиоканал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534EE6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(условия)</a:t>
            </a:r>
            <a:endParaRPr lang="en-US" sz="700" dirty="0"/>
          </a:p>
        </p:txBody>
      </p:sp>
      <p:sp>
        <p:nvSpPr>
          <p:cNvPr id="262" name="Shape 244"/>
          <p:cNvSpPr/>
          <p:nvPr/>
        </p:nvSpPr>
        <p:spPr>
          <a:xfrm>
            <a:off x="10972800" y="4700016"/>
            <a:ext cx="73152" cy="0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</a:ln>
        </p:spPr>
      </p:sp>
      <p:sp>
        <p:nvSpPr>
          <p:cNvPr id="263" name="Shape 245"/>
          <p:cNvSpPr/>
          <p:nvPr/>
        </p:nvSpPr>
        <p:spPr>
          <a:xfrm>
            <a:off x="11045952" y="4700016"/>
            <a:ext cx="0" cy="1097280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</a:ln>
        </p:spPr>
      </p:sp>
      <p:sp>
        <p:nvSpPr>
          <p:cNvPr id="264" name="Shape 246"/>
          <p:cNvSpPr/>
          <p:nvPr/>
        </p:nvSpPr>
        <p:spPr>
          <a:xfrm>
            <a:off x="10972800" y="5797296"/>
            <a:ext cx="73152" cy="0"/>
          </a:xfrm>
          <a:prstGeom prst="line">
            <a:avLst/>
          </a:prstGeom>
          <a:noFill/>
          <a:ln w="15875">
            <a:solidFill>
              <a:srgbClr val="534EE6"/>
            </a:solidFill>
            <a:prstDash val="solid"/>
          </a:ln>
        </p:spPr>
      </p:sp>
      <p:sp>
        <p:nvSpPr>
          <p:cNvPr id="265" name="Text 247"/>
          <p:cNvSpPr txBox="1"/>
          <p:nvPr/>
        </p:nvSpPr>
        <p:spPr>
          <a:xfrm>
            <a:off x="11082528" y="4681728"/>
            <a:ext cx="7982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Разница между уровнями объяснена</a:t>
            </a:r>
            <a:endParaRPr lang="en-US" sz="850" dirty="0"/>
          </a:p>
        </p:txBody>
      </p:sp>
      <p:pic>
        <p:nvPicPr>
          <p:cNvPr id="26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17072" y="5468112"/>
            <a:ext cx="329184" cy="329184"/>
          </a:xfrm>
          <a:prstGeom prst="rect">
            <a:avLst/>
          </a:prstGeom>
        </p:spPr>
      </p:pic>
      <p:sp>
        <p:nvSpPr>
          <p:cNvPr id="267" name="Shape 248"/>
          <p:cNvSpPr/>
          <p:nvPr/>
        </p:nvSpPr>
        <p:spPr>
          <a:xfrm>
            <a:off x="274320" y="6163056"/>
            <a:ext cx="11643055" cy="548640"/>
          </a:xfrm>
          <a:prstGeom prst="roundRect">
            <a:avLst>
              <a:gd name="adj" fmla="val 16667"/>
            </a:avLst>
          </a:prstGeom>
          <a:solidFill>
            <a:srgbClr val="534EE6"/>
          </a:solidFill>
          <a:ln/>
        </p:spPr>
      </p:sp>
      <p:sp>
        <p:nvSpPr>
          <p:cNvPr id="268" name="Text 249"/>
          <p:cNvSpPr txBox="1"/>
          <p:nvPr/>
        </p:nvSpPr>
        <p:spPr>
          <a:xfrm>
            <a:off x="1188720" y="6181344"/>
            <a:ext cx="9814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Performance testing UE проверяет не только максимальную скорость, а устойчивость throughput и причину ограничения скорости при заданных MIMO, CA, traffic profile и radio conditions.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430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Conformance и regression testing UE: готовность терминала к сети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535528" y="603504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35528" y="603504"/>
            <a:ext cx="5120640" cy="310896"/>
          </a:xfrm>
          <a:prstGeom prst="roundRect">
            <a:avLst>
              <a:gd name="adj" fmla="val 23529"/>
            </a:avLst>
          </a:prstGeom>
          <a:solidFill>
            <a:srgbClr val="FF81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535528" y="6035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Protocol conformance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645256" y="96926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Типы систем: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4400" y="1208837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82416" y="1173998"/>
            <a:ext cx="1956816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protocol conformance test system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4400" y="1364285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82416" y="1329446"/>
            <a:ext cx="1956816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network emulator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4400" y="1519733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82416" y="1484894"/>
            <a:ext cx="1956816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RAN / Core emulator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4400" y="1675181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82416" y="1640342"/>
            <a:ext cx="1956816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protocol trace analyzer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39816" y="1005840"/>
            <a:ext cx="0" cy="896112"/>
          </a:xfrm>
          <a:prstGeom prst="line">
            <a:avLst/>
          </a:prstGeom>
          <a:noFill/>
          <a:ln w="9525">
            <a:solidFill>
              <a:srgbClr val="FF81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31256" y="9692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проверяет: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0400" y="1208837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68416" y="1173998"/>
            <a:ext cx="114300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3GPP TS 38.523-1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66280" y="1208837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94296" y="1173998"/>
            <a:ext cx="114300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session procedures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0400" y="1364285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68416" y="1329446"/>
            <a:ext cx="114300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3GPP TS 36.523-1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66280" y="1364285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94296" y="1329446"/>
            <a:ext cx="114300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timers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0400" y="1519733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068416" y="1484894"/>
            <a:ext cx="114300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NAS procedures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66280" y="1519733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94296" y="1484894"/>
            <a:ext cx="114300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state transitions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0400" y="1675181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68416" y="1640342"/>
            <a:ext cx="114300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RRC procedures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66280" y="1675181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94296" y="1640342"/>
            <a:ext cx="114300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reject handling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1481328"/>
            <a:ext cx="3108960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1481328"/>
            <a:ext cx="3108960" cy="310896"/>
          </a:xfrm>
          <a:prstGeom prst="roundRect">
            <a:avLst>
              <a:gd name="adj" fmla="val 23529"/>
            </a:avLst>
          </a:prstGeom>
          <a:solidFill>
            <a:srgbClr val="FF812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74320" y="14813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RF conformance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384048" y="184708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Типы систем: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93192" y="2086661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21208" y="2051822"/>
            <a:ext cx="1207008" cy="27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RF conformance test system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3192" y="2372136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21208" y="2337298"/>
            <a:ext cx="1207008" cy="27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callbox / RF test platform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3192" y="2657612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21208" y="2622774"/>
            <a:ext cx="1207008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vector signal analyzer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3192" y="2813060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21208" y="2778222"/>
            <a:ext cx="1207008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signal generator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3192" y="2968508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21208" y="2933670"/>
            <a:ext cx="1207008" cy="27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OTA chamber для FR2 и radiated tests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28800" y="1883664"/>
            <a:ext cx="0" cy="1645920"/>
          </a:xfrm>
          <a:prstGeom prst="line">
            <a:avLst/>
          </a:prstGeom>
          <a:noFill/>
          <a:ln w="9525">
            <a:solidFill>
              <a:srgbClr val="FF812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20240" y="184708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проверяет: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929384" y="2086661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057400" y="2051822"/>
            <a:ext cx="1207008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3GPP TS 38.521-1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929384" y="2242109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2057400" y="2207270"/>
            <a:ext cx="1207008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3GPP TS 38.521-2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929384" y="2397557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2057400" y="2362718"/>
            <a:ext cx="1207008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3GPP TS 36.521-1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929384" y="2553005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2057400" y="2518166"/>
            <a:ext cx="1207008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TX power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929384" y="2708453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2057400" y="2673614"/>
            <a:ext cx="1207008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EVM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929384" y="2863901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2057400" y="2829062"/>
            <a:ext cx="1207008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ACLR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929384" y="3019349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2057400" y="2984510"/>
            <a:ext cx="1207008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receiver sensitivity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929384" y="3174797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2057400" y="3139958"/>
            <a:ext cx="1207008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blocking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929384" y="3330245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2057400" y="3295406"/>
            <a:ext cx="1207008" cy="27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demodulation performance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808415" y="1481328"/>
            <a:ext cx="3108960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808415" y="1481328"/>
            <a:ext cx="3108960" cy="310896"/>
          </a:xfrm>
          <a:prstGeom prst="roundRect">
            <a:avLst>
              <a:gd name="adj" fmla="val 23529"/>
            </a:avLst>
          </a:prstGeom>
          <a:solidFill>
            <a:srgbClr val="FF812A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808415" y="14813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RRM conformance</a:t>
            </a:r>
            <a:endParaRPr lang="en-US" sz="1350" dirty="0"/>
          </a:p>
        </p:txBody>
      </p:sp>
      <p:sp>
        <p:nvSpPr>
          <p:cNvPr id="70" name="Text 68"/>
          <p:cNvSpPr txBox="1"/>
          <p:nvPr/>
        </p:nvSpPr>
        <p:spPr>
          <a:xfrm>
            <a:off x="8918143" y="1847088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Типы систем: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927287" y="2086661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9055303" y="2051822"/>
            <a:ext cx="1362456" cy="27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RRM conformance test system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927287" y="2372136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9055303" y="2337298"/>
            <a:ext cx="1362456" cy="27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multi-cell network emulator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927287" y="2657612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9055303" y="2622774"/>
            <a:ext cx="1362456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channel emulator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927287" y="2813060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9055303" y="2778222"/>
            <a:ext cx="1362456" cy="272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RF attenuation / signal level control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0518343" y="1883664"/>
            <a:ext cx="0" cy="1645920"/>
          </a:xfrm>
          <a:prstGeom prst="line">
            <a:avLst/>
          </a:prstGeom>
          <a:noFill/>
          <a:ln w="9525">
            <a:solidFill>
              <a:srgbClr val="FF812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0609783" y="184708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проверяет: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10618927" y="2086661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746943" y="2051822"/>
            <a:ext cx="105156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3GPP TS 38.533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0618927" y="2242109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746943" y="2207270"/>
            <a:ext cx="105156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measurements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0618927" y="2397557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746943" y="2362718"/>
            <a:ext cx="105156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cell selection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18927" y="2553005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10746943" y="2518166"/>
            <a:ext cx="105156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cell reselection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0618927" y="2708453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746943" y="2673614"/>
            <a:ext cx="105156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handover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0618927" y="2863901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0746943" y="2829062"/>
            <a:ext cx="105156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RLF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0618927" y="3019349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0746943" y="2984510"/>
            <a:ext cx="1051560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mobility behavior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724248" y="210312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534EE6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4724248" y="21488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UE</a:t>
            </a:r>
            <a:endParaRPr lang="en-US" sz="2600" dirty="0"/>
          </a:p>
        </p:txBody>
      </p:sp>
      <p:sp>
        <p:nvSpPr>
          <p:cNvPr id="97" name="Text 95"/>
          <p:cNvSpPr txBox="1"/>
          <p:nvPr/>
        </p:nvSpPr>
        <p:spPr>
          <a:xfrm>
            <a:off x="4724248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тестируемое устройство (DUT)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6095848" y="1984248"/>
            <a:ext cx="0" cy="109728"/>
          </a:xfrm>
          <a:prstGeom prst="line">
            <a:avLst/>
          </a:prstGeom>
          <a:noFill/>
          <a:ln w="28575">
            <a:solidFill>
              <a:srgbClr val="FF812A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3401568" y="2491740"/>
            <a:ext cx="1295248" cy="0"/>
          </a:xfrm>
          <a:prstGeom prst="line">
            <a:avLst/>
          </a:prstGeom>
          <a:noFill/>
          <a:ln w="28575">
            <a:solidFill>
              <a:srgbClr val="FF812A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 flipH="1">
            <a:off x="7494880" y="2491740"/>
            <a:ext cx="1295248" cy="0"/>
          </a:xfrm>
          <a:prstGeom prst="line">
            <a:avLst/>
          </a:prstGeom>
          <a:noFill/>
          <a:ln w="28575">
            <a:solidFill>
              <a:srgbClr val="FF812A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 flipV="1">
            <a:off x="6095848" y="2889504"/>
            <a:ext cx="0" cy="118872"/>
          </a:xfrm>
          <a:prstGeom prst="line">
            <a:avLst/>
          </a:prstGeom>
          <a:noFill/>
          <a:ln w="28575">
            <a:solidFill>
              <a:srgbClr val="FF812A"/>
            </a:solidFill>
            <a:prstDash val="solid"/>
            <a:tailEnd type="triangle"/>
          </a:ln>
        </p:spPr>
      </p:sp>
      <p:sp>
        <p:nvSpPr>
          <p:cNvPr id="102" name="Shape 100"/>
          <p:cNvSpPr/>
          <p:nvPr/>
        </p:nvSpPr>
        <p:spPr>
          <a:xfrm>
            <a:off x="3535528" y="3017520"/>
            <a:ext cx="512064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5875">
            <a:solidFill>
              <a:srgbClr val="FF812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535528" y="3017520"/>
            <a:ext cx="5120640" cy="310896"/>
          </a:xfrm>
          <a:prstGeom prst="roundRect">
            <a:avLst>
              <a:gd name="adj" fmla="val 23529"/>
            </a:avLst>
          </a:prstGeom>
          <a:solidFill>
            <a:srgbClr val="FF812A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3535528" y="30175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Regression testing</a:t>
            </a:r>
            <a:endParaRPr lang="en-US" sz="1350" dirty="0"/>
          </a:p>
        </p:txBody>
      </p:sp>
      <p:sp>
        <p:nvSpPr>
          <p:cNvPr id="105" name="Text 103"/>
          <p:cNvSpPr txBox="1"/>
          <p:nvPr/>
        </p:nvSpPr>
        <p:spPr>
          <a:xfrm>
            <a:off x="3645256" y="3383280"/>
            <a:ext cx="17812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Типы систем: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3654400" y="3622853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3782416" y="3588014"/>
            <a:ext cx="1598371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automated test platform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3654400" y="3778301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3782416" y="3743462"/>
            <a:ext cx="1598371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test case manager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3654400" y="3933749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3782416" y="3898910"/>
            <a:ext cx="1598371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scripted test execution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3654400" y="4089197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3782416" y="4054358"/>
            <a:ext cx="1598371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result database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3654400" y="4244645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3782416" y="4209806"/>
            <a:ext cx="1598371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report generator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5481371" y="3419856"/>
            <a:ext cx="0" cy="1042416"/>
          </a:xfrm>
          <a:prstGeom prst="line">
            <a:avLst/>
          </a:prstGeom>
          <a:noFill/>
          <a:ln w="9525">
            <a:solidFill>
              <a:srgbClr val="FF812A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5572811" y="3383280"/>
            <a:ext cx="30102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812A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Что проверяет: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5581955" y="3622853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5709971" y="3588014"/>
            <a:ext cx="2827325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повторяемость ранее пройденных тестов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5581955" y="3778301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21" name="Text 119"/>
          <p:cNvSpPr txBox="1"/>
          <p:nvPr/>
        </p:nvSpPr>
        <p:spPr>
          <a:xfrm>
            <a:off x="5709971" y="3743462"/>
            <a:ext cx="2827325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новая версия modem firmware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5581955" y="3933749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5709971" y="3898910"/>
            <a:ext cx="2827325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изменение RF calibration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5581955" y="4089197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5709971" y="4054358"/>
            <a:ext cx="2827325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новые band combinations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5581955" y="4244645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5709971" y="4209806"/>
            <a:ext cx="2827325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новые network features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5581955" y="4400093"/>
            <a:ext cx="59436" cy="5943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5709971" y="4365254"/>
            <a:ext cx="2827325" cy="142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сравнение с baseline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274320" y="4645152"/>
            <a:ext cx="576072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74320" y="4645152"/>
            <a:ext cx="5760720" cy="292608"/>
          </a:xfrm>
          <a:prstGeom prst="roundRect">
            <a:avLst>
              <a:gd name="adj" fmla="val 25000"/>
            </a:avLst>
          </a:prstGeom>
          <a:solidFill>
            <a:srgbClr val="534EE6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274320" y="464515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Названия 3GPP test families</a:t>
            </a:r>
            <a:endParaRPr lang="en-US" sz="1250" dirty="0"/>
          </a:p>
        </p:txBody>
      </p:sp>
      <p:sp>
        <p:nvSpPr>
          <p:cNvPr id="133" name="Text 131"/>
          <p:cNvSpPr txBox="1"/>
          <p:nvPr/>
        </p:nvSpPr>
        <p:spPr>
          <a:xfrm>
            <a:off x="320040" y="4956048"/>
            <a:ext cx="1348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RF conformance</a:t>
            </a:r>
            <a:endParaRPr lang="en-US" sz="1000" dirty="0"/>
          </a:p>
        </p:txBody>
      </p:sp>
      <p:pic>
        <p:nvPicPr>
          <p:cNvPr id="1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962" y="5276088"/>
            <a:ext cx="310896" cy="310896"/>
          </a:xfrm>
          <a:prstGeom prst="rect">
            <a:avLst/>
          </a:prstGeom>
        </p:spPr>
      </p:pic>
      <p:sp>
        <p:nvSpPr>
          <p:cNvPr id="135" name="Text 132"/>
          <p:cNvSpPr txBox="1"/>
          <p:nvPr/>
        </p:nvSpPr>
        <p:spPr>
          <a:xfrm>
            <a:off x="320040" y="5605272"/>
            <a:ext cx="13487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3GPP TS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38.521-1 / 38.521-2 /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36.521-1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1714500" y="5010912"/>
            <a:ext cx="0" cy="987552"/>
          </a:xfrm>
          <a:prstGeom prst="line">
            <a:avLst/>
          </a:prstGeom>
          <a:noFill/>
          <a:ln w="9525">
            <a:solidFill>
              <a:srgbClr val="7F7BEC"/>
            </a:solidFill>
            <a:prstDash val="solid"/>
          </a:ln>
        </p:spPr>
      </p:sp>
      <p:sp>
        <p:nvSpPr>
          <p:cNvPr id="137" name="Text 134"/>
          <p:cNvSpPr txBox="1"/>
          <p:nvPr/>
        </p:nvSpPr>
        <p:spPr>
          <a:xfrm>
            <a:off x="1760220" y="4956048"/>
            <a:ext cx="1348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Protocol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conformance</a:t>
            </a:r>
            <a:endParaRPr lang="en-US" sz="1000" dirty="0"/>
          </a:p>
        </p:txBody>
      </p:sp>
      <p:pic>
        <p:nvPicPr>
          <p:cNvPr id="1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142" y="5276088"/>
            <a:ext cx="310896" cy="310896"/>
          </a:xfrm>
          <a:prstGeom prst="rect">
            <a:avLst/>
          </a:prstGeom>
        </p:spPr>
      </p:pic>
      <p:sp>
        <p:nvSpPr>
          <p:cNvPr id="139" name="Text 135"/>
          <p:cNvSpPr txBox="1"/>
          <p:nvPr/>
        </p:nvSpPr>
        <p:spPr>
          <a:xfrm>
            <a:off x="1760220" y="5605272"/>
            <a:ext cx="13487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3GPP TS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38.523-1 / 36.523-1</a:t>
            </a:r>
            <a:endParaRPr lang="en-US" sz="950" dirty="0"/>
          </a:p>
        </p:txBody>
      </p:sp>
      <p:sp>
        <p:nvSpPr>
          <p:cNvPr id="140" name="Shape 136"/>
          <p:cNvSpPr/>
          <p:nvPr/>
        </p:nvSpPr>
        <p:spPr>
          <a:xfrm>
            <a:off x="3154680" y="5010912"/>
            <a:ext cx="0" cy="987552"/>
          </a:xfrm>
          <a:prstGeom prst="line">
            <a:avLst/>
          </a:prstGeom>
          <a:noFill/>
          <a:ln w="9525">
            <a:solidFill>
              <a:srgbClr val="7F7BEC"/>
            </a:solidFill>
            <a:prstDash val="solid"/>
          </a:ln>
        </p:spPr>
      </p:sp>
      <p:sp>
        <p:nvSpPr>
          <p:cNvPr id="141" name="Text 137"/>
          <p:cNvSpPr txBox="1"/>
          <p:nvPr/>
        </p:nvSpPr>
        <p:spPr>
          <a:xfrm>
            <a:off x="3200400" y="4956048"/>
            <a:ext cx="1348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RRM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conformance</a:t>
            </a:r>
            <a:endParaRPr lang="en-US" sz="1000" dirty="0"/>
          </a:p>
        </p:txBody>
      </p:sp>
      <p:pic>
        <p:nvPicPr>
          <p:cNvPr id="1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322" y="5276088"/>
            <a:ext cx="310896" cy="310896"/>
          </a:xfrm>
          <a:prstGeom prst="rect">
            <a:avLst/>
          </a:prstGeom>
        </p:spPr>
      </p:pic>
      <p:pic>
        <p:nvPicPr>
          <p:cNvPr id="1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2786" y="5358384"/>
            <a:ext cx="201168" cy="201168"/>
          </a:xfrm>
          <a:prstGeom prst="rect">
            <a:avLst/>
          </a:prstGeom>
        </p:spPr>
      </p:pic>
      <p:sp>
        <p:nvSpPr>
          <p:cNvPr id="144" name="Text 138"/>
          <p:cNvSpPr txBox="1"/>
          <p:nvPr/>
        </p:nvSpPr>
        <p:spPr>
          <a:xfrm>
            <a:off x="3200400" y="5605272"/>
            <a:ext cx="13487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3GPP TS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38.533</a:t>
            </a:r>
            <a:endParaRPr lang="en-US" sz="950" dirty="0"/>
          </a:p>
        </p:txBody>
      </p:sp>
      <p:sp>
        <p:nvSpPr>
          <p:cNvPr id="145" name="Shape 139"/>
          <p:cNvSpPr/>
          <p:nvPr/>
        </p:nvSpPr>
        <p:spPr>
          <a:xfrm>
            <a:off x="4594860" y="5010912"/>
            <a:ext cx="0" cy="987552"/>
          </a:xfrm>
          <a:prstGeom prst="line">
            <a:avLst/>
          </a:prstGeom>
          <a:noFill/>
          <a:ln w="9525">
            <a:solidFill>
              <a:srgbClr val="7F7BEC"/>
            </a:solidFill>
            <a:prstDash val="solid"/>
          </a:ln>
        </p:spPr>
      </p:sp>
      <p:sp>
        <p:nvSpPr>
          <p:cNvPr id="146" name="Text 140"/>
          <p:cNvSpPr txBox="1"/>
          <p:nvPr/>
        </p:nvSpPr>
        <p:spPr>
          <a:xfrm>
            <a:off x="4640580" y="4956048"/>
            <a:ext cx="1348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SIM / USIM /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USAT checks</a:t>
            </a:r>
            <a:endParaRPr lang="en-US" sz="1000" dirty="0"/>
          </a:p>
        </p:txBody>
      </p:sp>
      <p:pic>
        <p:nvPicPr>
          <p:cNvPr id="1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502" y="5276088"/>
            <a:ext cx="310896" cy="310896"/>
          </a:xfrm>
          <a:prstGeom prst="rect">
            <a:avLst/>
          </a:prstGeom>
        </p:spPr>
      </p:pic>
      <p:sp>
        <p:nvSpPr>
          <p:cNvPr id="148" name="Text 141"/>
          <p:cNvSpPr txBox="1"/>
          <p:nvPr/>
        </p:nvSpPr>
        <p:spPr>
          <a:xfrm>
            <a:off x="4640580" y="5605272"/>
            <a:ext cx="13487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3GPP TS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31.121 / 31.124</a:t>
            </a:r>
            <a:endParaRPr lang="en-US" sz="950" dirty="0"/>
          </a:p>
        </p:txBody>
      </p:sp>
      <p:sp>
        <p:nvSpPr>
          <p:cNvPr id="149" name="Shape 142"/>
          <p:cNvSpPr/>
          <p:nvPr/>
        </p:nvSpPr>
        <p:spPr>
          <a:xfrm>
            <a:off x="6153912" y="4645152"/>
            <a:ext cx="5763463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5875">
            <a:solidFill>
              <a:srgbClr val="534EE6"/>
            </a:solidFill>
            <a:prstDash val="solid"/>
          </a:ln>
        </p:spPr>
      </p:sp>
      <p:sp>
        <p:nvSpPr>
          <p:cNvPr id="150" name="Shape 143"/>
          <p:cNvSpPr/>
          <p:nvPr/>
        </p:nvSpPr>
        <p:spPr>
          <a:xfrm>
            <a:off x="6153912" y="4645152"/>
            <a:ext cx="5763463" cy="292608"/>
          </a:xfrm>
          <a:prstGeom prst="roundRect">
            <a:avLst>
              <a:gd name="adj" fmla="val 25000"/>
            </a:avLst>
          </a:prstGeom>
          <a:solidFill>
            <a:srgbClr val="534EE6"/>
          </a:solidFill>
          <a:ln/>
        </p:spPr>
      </p:sp>
      <p:sp>
        <p:nvSpPr>
          <p:cNvPr id="151" name="Text 144"/>
          <p:cNvSpPr txBox="1"/>
          <p:nvPr/>
        </p:nvSpPr>
        <p:spPr>
          <a:xfrm>
            <a:off x="6153912" y="4645152"/>
            <a:ext cx="57634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Критерий готовности UE к сети</a:t>
            </a:r>
            <a:endParaRPr lang="en-US" sz="1250" dirty="0"/>
          </a:p>
        </p:txBody>
      </p:sp>
      <p:sp>
        <p:nvSpPr>
          <p:cNvPr id="152" name="Shape 145"/>
          <p:cNvSpPr/>
          <p:nvPr/>
        </p:nvSpPr>
        <p:spPr>
          <a:xfrm>
            <a:off x="6382512" y="5029200"/>
            <a:ext cx="155448" cy="155448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53" name="Text 146"/>
          <p:cNvSpPr txBox="1"/>
          <p:nvPr/>
        </p:nvSpPr>
        <p:spPr>
          <a:xfrm>
            <a:off x="6382512" y="502920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✓</a:t>
            </a:r>
            <a:endParaRPr lang="en-US" sz="750" dirty="0"/>
          </a:p>
        </p:txBody>
      </p:sp>
      <p:sp>
        <p:nvSpPr>
          <p:cNvPr id="154" name="Text 147"/>
          <p:cNvSpPr txBox="1"/>
          <p:nvPr/>
        </p:nvSpPr>
        <p:spPr>
          <a:xfrm>
            <a:off x="6629400" y="5010912"/>
            <a:ext cx="512338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RF параметры проходят test cases</a:t>
            </a:r>
            <a:endParaRPr lang="en-US" sz="1050" dirty="0"/>
          </a:p>
        </p:txBody>
      </p:sp>
      <p:sp>
        <p:nvSpPr>
          <p:cNvPr id="155" name="Shape 148"/>
          <p:cNvSpPr/>
          <p:nvPr/>
        </p:nvSpPr>
        <p:spPr>
          <a:xfrm>
            <a:off x="6382512" y="5202936"/>
            <a:ext cx="155448" cy="155448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56" name="Text 149"/>
          <p:cNvSpPr txBox="1"/>
          <p:nvPr/>
        </p:nvSpPr>
        <p:spPr>
          <a:xfrm>
            <a:off x="6382512" y="5202936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✓</a:t>
            </a:r>
            <a:endParaRPr lang="en-US" sz="750" dirty="0"/>
          </a:p>
        </p:txBody>
      </p:sp>
      <p:sp>
        <p:nvSpPr>
          <p:cNvPr id="157" name="Text 150"/>
          <p:cNvSpPr txBox="1"/>
          <p:nvPr/>
        </p:nvSpPr>
        <p:spPr>
          <a:xfrm>
            <a:off x="6629400" y="5184648"/>
            <a:ext cx="512338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protocol stack проходит NAS/RRC/session test cases</a:t>
            </a:r>
            <a:endParaRPr lang="en-US" sz="1050" dirty="0"/>
          </a:p>
        </p:txBody>
      </p:sp>
      <p:sp>
        <p:nvSpPr>
          <p:cNvPr id="158" name="Shape 151"/>
          <p:cNvSpPr/>
          <p:nvPr/>
        </p:nvSpPr>
        <p:spPr>
          <a:xfrm>
            <a:off x="6382512" y="5376672"/>
            <a:ext cx="155448" cy="155448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59" name="Text 152"/>
          <p:cNvSpPr txBox="1"/>
          <p:nvPr/>
        </p:nvSpPr>
        <p:spPr>
          <a:xfrm>
            <a:off x="6382512" y="537667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✓</a:t>
            </a:r>
            <a:endParaRPr lang="en-US" sz="750" dirty="0"/>
          </a:p>
        </p:txBody>
      </p:sp>
      <p:sp>
        <p:nvSpPr>
          <p:cNvPr id="160" name="Text 153"/>
          <p:cNvSpPr txBox="1"/>
          <p:nvPr/>
        </p:nvSpPr>
        <p:spPr>
          <a:xfrm>
            <a:off x="6629400" y="5358384"/>
            <a:ext cx="512338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RRM behavior соответствует mobility requirements</a:t>
            </a:r>
            <a:endParaRPr lang="en-US" sz="1050" dirty="0"/>
          </a:p>
        </p:txBody>
      </p:sp>
      <p:sp>
        <p:nvSpPr>
          <p:cNvPr id="161" name="Shape 154"/>
          <p:cNvSpPr/>
          <p:nvPr/>
        </p:nvSpPr>
        <p:spPr>
          <a:xfrm>
            <a:off x="6382512" y="5550408"/>
            <a:ext cx="155448" cy="155448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62" name="Text 155"/>
          <p:cNvSpPr txBox="1"/>
          <p:nvPr/>
        </p:nvSpPr>
        <p:spPr>
          <a:xfrm>
            <a:off x="6382512" y="555040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✓</a:t>
            </a:r>
            <a:endParaRPr lang="en-US" sz="750" dirty="0"/>
          </a:p>
        </p:txBody>
      </p:sp>
      <p:sp>
        <p:nvSpPr>
          <p:cNvPr id="163" name="Text 156"/>
          <p:cNvSpPr txBox="1"/>
          <p:nvPr/>
        </p:nvSpPr>
        <p:spPr>
          <a:xfrm>
            <a:off x="6629400" y="5532120"/>
            <a:ext cx="512338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регрессия не ломает ранее пройденные сценарии</a:t>
            </a:r>
            <a:endParaRPr lang="en-US" sz="1050" dirty="0"/>
          </a:p>
        </p:txBody>
      </p:sp>
      <p:sp>
        <p:nvSpPr>
          <p:cNvPr id="164" name="Shape 157"/>
          <p:cNvSpPr/>
          <p:nvPr/>
        </p:nvSpPr>
        <p:spPr>
          <a:xfrm>
            <a:off x="6382512" y="5724144"/>
            <a:ext cx="155448" cy="155448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65" name="Text 158"/>
          <p:cNvSpPr txBox="1"/>
          <p:nvPr/>
        </p:nvSpPr>
        <p:spPr>
          <a:xfrm>
            <a:off x="6382512" y="5724144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✓</a:t>
            </a:r>
            <a:endParaRPr lang="en-US" sz="750" dirty="0"/>
          </a:p>
        </p:txBody>
      </p:sp>
      <p:sp>
        <p:nvSpPr>
          <p:cNvPr id="166" name="Text 159"/>
          <p:cNvSpPr txBox="1"/>
          <p:nvPr/>
        </p:nvSpPr>
        <p:spPr>
          <a:xfrm>
            <a:off x="6629400" y="5705856"/>
            <a:ext cx="512338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результаты оформлены как pass / fail по тестовому набору</a:t>
            </a:r>
            <a:endParaRPr lang="en-US" sz="1050" dirty="0"/>
          </a:p>
        </p:txBody>
      </p:sp>
      <p:sp>
        <p:nvSpPr>
          <p:cNvPr id="167" name="Shape 160"/>
          <p:cNvSpPr/>
          <p:nvPr/>
        </p:nvSpPr>
        <p:spPr>
          <a:xfrm>
            <a:off x="6382512" y="5897880"/>
            <a:ext cx="155448" cy="155448"/>
          </a:xfrm>
          <a:prstGeom prst="ellipse">
            <a:avLst/>
          </a:prstGeom>
          <a:solidFill>
            <a:srgbClr val="534EE6"/>
          </a:solidFill>
          <a:ln/>
        </p:spPr>
      </p:sp>
      <p:sp>
        <p:nvSpPr>
          <p:cNvPr id="168" name="Text 161"/>
          <p:cNvSpPr txBox="1"/>
          <p:nvPr/>
        </p:nvSpPr>
        <p:spPr>
          <a:xfrm>
            <a:off x="6382512" y="589788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✓</a:t>
            </a:r>
            <a:endParaRPr lang="en-US" sz="750" dirty="0"/>
          </a:p>
        </p:txBody>
      </p:sp>
      <p:sp>
        <p:nvSpPr>
          <p:cNvPr id="169" name="Text 162"/>
          <p:cNvSpPr txBox="1"/>
          <p:nvPr/>
        </p:nvSpPr>
        <p:spPr>
          <a:xfrm>
            <a:off x="6629400" y="5879592"/>
            <a:ext cx="512338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отклонения локализованы до конкретного test case</a:t>
            </a:r>
            <a:endParaRPr lang="en-US" sz="1050" dirty="0"/>
          </a:p>
        </p:txBody>
      </p:sp>
      <p:sp>
        <p:nvSpPr>
          <p:cNvPr id="170" name="Shape 163"/>
          <p:cNvSpPr/>
          <p:nvPr/>
        </p:nvSpPr>
        <p:spPr>
          <a:xfrm>
            <a:off x="274320" y="6163056"/>
            <a:ext cx="11643055" cy="548640"/>
          </a:xfrm>
          <a:prstGeom prst="roundRect">
            <a:avLst>
              <a:gd name="adj" fmla="val 16667"/>
            </a:avLst>
          </a:prstGeom>
          <a:solidFill>
            <a:srgbClr val="534EE6"/>
          </a:solidFill>
          <a:ln/>
        </p:spPr>
      </p:sp>
      <p:pic>
        <p:nvPicPr>
          <p:cNvPr id="17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254496"/>
            <a:ext cx="365760" cy="365760"/>
          </a:xfrm>
          <a:prstGeom prst="rect">
            <a:avLst/>
          </a:prstGeom>
        </p:spPr>
      </p:pic>
      <p:sp>
        <p:nvSpPr>
          <p:cNvPr id="172" name="Text 164"/>
          <p:cNvSpPr txBox="1"/>
          <p:nvPr/>
        </p:nvSpPr>
        <p:spPr>
          <a:xfrm>
            <a:off x="1188720" y="6181344"/>
            <a:ext cx="98142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ahnschrift SemiCondensed" pitchFamily="34" charset="0"/>
                <a:ea typeface="Bahnschrift SemiCondensed" pitchFamily="34" charset="-122"/>
                <a:cs typeface="Bahnschrift SemiCondensed" pitchFamily="34" charset="-120"/>
              </a:rPr>
              <a:t>Conformance доказывает соответствие стандарту, regression доказывает, что новая версия UE не сломала уже подтверждённое поведение.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Блок 3. Тестирование UE и SIM</dc:title>
  <dc:subject>PptxGenJS Presentation</dc:subject>
  <dc:creator>PptxGenJS</dc:creator>
  <cp:lastModifiedBy>PptxGenJS</cp:lastModifiedBy>
  <cp:revision>1</cp:revision>
  <dcterms:created xsi:type="dcterms:W3CDTF">2026-10-05T10:26:42Z</dcterms:created>
  <dcterms:modified xsi:type="dcterms:W3CDTF">2026-10-05T10:26:42Z</dcterms:modified>
</cp:coreProperties>
</file>