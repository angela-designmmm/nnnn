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image" Target="../media/image-1-33.png"/><Relationship Id="rId34" Type="http://schemas.openxmlformats.org/officeDocument/2006/relationships/image" Target="../media/image-1-34.png"/><Relationship Id="rId35" Type="http://schemas.openxmlformats.org/officeDocument/2006/relationships/image" Target="../media/image-1-35.png"/><Relationship Id="rId36" Type="http://schemas.openxmlformats.org/officeDocument/2006/relationships/image" Target="../media/image-1-36.png"/><Relationship Id="rId37" Type="http://schemas.openxmlformats.org/officeDocument/2006/relationships/slideLayout" Target="../slideLayouts/slideLayout1.xml"/><Relationship Id="rId3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image" Target="../media/image-2-29.png"/><Relationship Id="rId30" Type="http://schemas.openxmlformats.org/officeDocument/2006/relationships/image" Target="../media/image-2-30.png"/><Relationship Id="rId31" Type="http://schemas.openxmlformats.org/officeDocument/2006/relationships/image" Target="../media/image-2-31.png"/><Relationship Id="rId32" Type="http://schemas.openxmlformats.org/officeDocument/2006/relationships/image" Target="../media/image-2-32.png"/><Relationship Id="rId33" Type="http://schemas.openxmlformats.org/officeDocument/2006/relationships/image" Target="../media/image-2-33.png"/><Relationship Id="rId34" Type="http://schemas.openxmlformats.org/officeDocument/2006/relationships/image" Target="../media/image-2-34.png"/><Relationship Id="rId35" Type="http://schemas.openxmlformats.org/officeDocument/2006/relationships/image" Target="../media/image-2-35.png"/><Relationship Id="rId36" Type="http://schemas.openxmlformats.org/officeDocument/2006/relationships/image" Target="../media/image-2-36.png"/><Relationship Id="rId37" Type="http://schemas.openxmlformats.org/officeDocument/2006/relationships/image" Target="../media/image-2-37.png"/><Relationship Id="rId38" Type="http://schemas.openxmlformats.org/officeDocument/2006/relationships/image" Target="../media/image-2-38.png"/><Relationship Id="rId39" Type="http://schemas.openxmlformats.org/officeDocument/2006/relationships/image" Target="../media/image-2-39.png"/><Relationship Id="rId40" Type="http://schemas.openxmlformats.org/officeDocument/2006/relationships/image" Target="../media/image-2-40.png"/><Relationship Id="rId41" Type="http://schemas.openxmlformats.org/officeDocument/2006/relationships/image" Target="../media/image-2-41.png"/><Relationship Id="rId42" Type="http://schemas.openxmlformats.org/officeDocument/2006/relationships/image" Target="../media/image-2-42.png"/><Relationship Id="rId43" Type="http://schemas.openxmlformats.org/officeDocument/2006/relationships/image" Target="../media/image-2-43.png"/><Relationship Id="rId44" Type="http://schemas.openxmlformats.org/officeDocument/2006/relationships/image" Target="../media/image-2-44.png"/><Relationship Id="rId45" Type="http://schemas.openxmlformats.org/officeDocument/2006/relationships/image" Target="../media/image-2-45.png"/><Relationship Id="rId46" Type="http://schemas.openxmlformats.org/officeDocument/2006/relationships/image" Target="../media/image-2-46.png"/><Relationship Id="rId47" Type="http://schemas.openxmlformats.org/officeDocument/2006/relationships/slideLayout" Target="../slideLayouts/slideLayout1.xml"/><Relationship Id="rId4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Функциональное тестирование UE: доступ к сети и базовые сервисы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331720" y="640080"/>
            <a:ext cx="237744" cy="182880"/>
          </a:xfrm>
          <a:prstGeom prst="roundRect">
            <a:avLst>
              <a:gd name="adj" fmla="val 20000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651760" y="621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фиолетовый = тестируемый объект (DUT)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897880" y="640080"/>
            <a:ext cx="237744" cy="182880"/>
          </a:xfrm>
          <a:prstGeom prst="roundRect">
            <a:avLst>
              <a:gd name="adj" fmla="val 2000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0" y="62179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оранжевый = тестовая система / эмулируемое окружение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1325880" cy="1554480"/>
          </a:xfrm>
          <a:prstGeom prst="roundRect">
            <a:avLst>
              <a:gd name="adj" fmla="val 5517"/>
            </a:avLst>
          </a:prstGeom>
          <a:solidFill>
            <a:srgbClr val="F9F9FF"/>
          </a:solidFill>
          <a:ln w="22225">
            <a:solidFill>
              <a:srgbClr val="534EE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78992"/>
            <a:ext cx="502920" cy="5029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274320" y="16184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9202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тестируемый объект (DUT)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18488" y="1737360"/>
            <a:ext cx="23774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1874520" y="960120"/>
            <a:ext cx="7772400" cy="1554480"/>
          </a:xfrm>
          <a:prstGeom prst="roundRect">
            <a:avLst>
              <a:gd name="adj" fmla="val 4706"/>
            </a:avLst>
          </a:prstGeom>
          <a:solidFill>
            <a:srgbClr val="FFFBF7"/>
          </a:solidFill>
          <a:ln w="19050">
            <a:solidFill>
              <a:srgbClr val="FF812A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2011680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853" y="1161288"/>
            <a:ext cx="402336" cy="4023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011680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Радиодоступ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2011680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радиодоступа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368650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3551530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9702" y="1161288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551530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3551530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4908499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5091379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552" y="1161288"/>
            <a:ext cx="402336" cy="40233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91379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Core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091379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Core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6448349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6631229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9402" y="1161288"/>
            <a:ext cx="402336" cy="40233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631229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Data Network</a:t>
            </a:r>
            <a:endParaRPr lang="en-US" sz="1150" dirty="0"/>
          </a:p>
        </p:txBody>
      </p:sp>
      <p:sp>
        <p:nvSpPr>
          <p:cNvPr id="31" name="Text 24"/>
          <p:cNvSpPr txBox="1"/>
          <p:nvPr/>
        </p:nvSpPr>
        <p:spPr>
          <a:xfrm>
            <a:off x="6631229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Data Network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7988198" y="1737360"/>
            <a:ext cx="164592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8171078" y="1078992"/>
            <a:ext cx="1338682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9251" y="1161288"/>
            <a:ext cx="402336" cy="40233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171078" y="1618488"/>
            <a:ext cx="13386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Service</a:t>
            </a:r>
            <a:endParaRPr lang="en-US" sz="1150" dirty="0"/>
          </a:p>
        </p:txBody>
      </p:sp>
      <p:sp>
        <p:nvSpPr>
          <p:cNvPr id="36" name="Text 28"/>
          <p:cNvSpPr txBox="1"/>
          <p:nvPr/>
        </p:nvSpPr>
        <p:spPr>
          <a:xfrm>
            <a:off x="8171078" y="1874520"/>
            <a:ext cx="13386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базового сервиса</a:t>
            </a:r>
            <a:endParaRPr lang="en-US" sz="950" dirty="0"/>
          </a:p>
        </p:txBody>
      </p:sp>
      <p:sp>
        <p:nvSpPr>
          <p:cNvPr id="37" name="Shape 29"/>
          <p:cNvSpPr/>
          <p:nvPr/>
        </p:nvSpPr>
        <p:spPr>
          <a:xfrm>
            <a:off x="9646920" y="1737360"/>
            <a:ext cx="100584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9747504" y="1124712"/>
            <a:ext cx="0" cy="1225296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9747504" y="112471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9857232" y="96012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930384" y="96012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тестовая платформа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9747504" y="153619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9857232" y="137160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9930384" y="137160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сети</a:t>
            </a:r>
            <a:endParaRPr lang="en-US" sz="1000" dirty="0"/>
          </a:p>
        </p:txBody>
      </p:sp>
      <p:sp>
        <p:nvSpPr>
          <p:cNvPr id="45" name="Shape 37"/>
          <p:cNvSpPr/>
          <p:nvPr/>
        </p:nvSpPr>
        <p:spPr>
          <a:xfrm>
            <a:off x="9747504" y="194767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9857232" y="178308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9930384" y="178308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9747504" y="2359152"/>
            <a:ext cx="109728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9857232" y="2194560"/>
            <a:ext cx="2060143" cy="329184"/>
          </a:xfrm>
          <a:prstGeom prst="roundRect">
            <a:avLst>
              <a:gd name="adj" fmla="val 1666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9930384" y="2194560"/>
            <a:ext cx="1913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 и Core</a:t>
            </a:r>
            <a:endParaRPr lang="en-US" sz="1000" dirty="0"/>
          </a:p>
        </p:txBody>
      </p:sp>
      <p:sp>
        <p:nvSpPr>
          <p:cNvPr id="51" name="Shape 43"/>
          <p:cNvSpPr/>
          <p:nvPr/>
        </p:nvSpPr>
        <p:spPr>
          <a:xfrm>
            <a:off x="665124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5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996" y="2843784"/>
            <a:ext cx="274320" cy="274320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310896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включение UE</a:t>
            </a:r>
            <a:endParaRPr lang="en-US" sz="950" dirty="0"/>
          </a:p>
        </p:txBody>
      </p:sp>
      <p:sp>
        <p:nvSpPr>
          <p:cNvPr id="54" name="Shape 45"/>
          <p:cNvSpPr/>
          <p:nvPr/>
        </p:nvSpPr>
        <p:spPr>
          <a:xfrm>
            <a:off x="1222908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5" name="Shape 46"/>
          <p:cNvSpPr/>
          <p:nvPr/>
        </p:nvSpPr>
        <p:spPr>
          <a:xfrm>
            <a:off x="1958797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77669" y="2843784"/>
            <a:ext cx="274320" cy="27432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1604569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выбор соты</a:t>
            </a:r>
            <a:endParaRPr lang="en-US" sz="950" dirty="0"/>
          </a:p>
        </p:txBody>
      </p:sp>
      <p:sp>
        <p:nvSpPr>
          <p:cNvPr id="58" name="Shape 48"/>
          <p:cNvSpPr/>
          <p:nvPr/>
        </p:nvSpPr>
        <p:spPr>
          <a:xfrm>
            <a:off x="2516581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9" name="Shape 49"/>
          <p:cNvSpPr/>
          <p:nvPr/>
        </p:nvSpPr>
        <p:spPr>
          <a:xfrm>
            <a:off x="3252470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6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342" y="2843784"/>
            <a:ext cx="274320" cy="274320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2898242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установление RRC-соединения</a:t>
            </a:r>
            <a:endParaRPr lang="en-US" sz="950" dirty="0"/>
          </a:p>
        </p:txBody>
      </p:sp>
      <p:sp>
        <p:nvSpPr>
          <p:cNvPr id="62" name="Shape 51"/>
          <p:cNvSpPr/>
          <p:nvPr/>
        </p:nvSpPr>
        <p:spPr>
          <a:xfrm>
            <a:off x="3810254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3" name="Shape 52"/>
          <p:cNvSpPr/>
          <p:nvPr/>
        </p:nvSpPr>
        <p:spPr>
          <a:xfrm>
            <a:off x="4546143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6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5015" y="2843784"/>
            <a:ext cx="274320" cy="274320"/>
          </a:xfrm>
          <a:prstGeom prst="rect">
            <a:avLst/>
          </a:prstGeom>
        </p:spPr>
      </p:pic>
      <p:sp>
        <p:nvSpPr>
          <p:cNvPr id="65" name="Text 53"/>
          <p:cNvSpPr txBox="1"/>
          <p:nvPr/>
        </p:nvSpPr>
        <p:spPr>
          <a:xfrm>
            <a:off x="4191914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регистрация</a:t>
            </a:r>
            <a:endParaRPr lang="en-US" sz="950" dirty="0"/>
          </a:p>
        </p:txBody>
      </p:sp>
      <p:sp>
        <p:nvSpPr>
          <p:cNvPr id="66" name="Shape 54"/>
          <p:cNvSpPr/>
          <p:nvPr/>
        </p:nvSpPr>
        <p:spPr>
          <a:xfrm>
            <a:off x="5103927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7" name="Shape 55"/>
          <p:cNvSpPr/>
          <p:nvPr/>
        </p:nvSpPr>
        <p:spPr>
          <a:xfrm>
            <a:off x="5839816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6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8688" y="2843784"/>
            <a:ext cx="274320" cy="274320"/>
          </a:xfrm>
          <a:prstGeom prst="rect">
            <a:avLst/>
          </a:prstGeom>
        </p:spPr>
      </p:pic>
      <p:sp>
        <p:nvSpPr>
          <p:cNvPr id="69" name="Text 56"/>
          <p:cNvSpPr txBox="1"/>
          <p:nvPr/>
        </p:nvSpPr>
        <p:spPr>
          <a:xfrm>
            <a:off x="5485587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</a:t>
            </a:r>
            <a:endParaRPr lang="en-US" sz="950" dirty="0"/>
          </a:p>
        </p:txBody>
      </p:sp>
      <p:sp>
        <p:nvSpPr>
          <p:cNvPr id="70" name="Shape 57"/>
          <p:cNvSpPr/>
          <p:nvPr/>
        </p:nvSpPr>
        <p:spPr>
          <a:xfrm>
            <a:off x="6397600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1" name="Shape 58"/>
          <p:cNvSpPr/>
          <p:nvPr/>
        </p:nvSpPr>
        <p:spPr>
          <a:xfrm>
            <a:off x="7133488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7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52360" y="2843784"/>
            <a:ext cx="274320" cy="274320"/>
          </a:xfrm>
          <a:prstGeom prst="rect">
            <a:avLst/>
          </a:prstGeom>
        </p:spPr>
      </p:pic>
      <p:sp>
        <p:nvSpPr>
          <p:cNvPr id="73" name="Text 59"/>
          <p:cNvSpPr txBox="1"/>
          <p:nvPr/>
        </p:nvSpPr>
        <p:spPr>
          <a:xfrm>
            <a:off x="6779260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режим безопасности</a:t>
            </a:r>
            <a:endParaRPr lang="en-US" sz="950" dirty="0"/>
          </a:p>
        </p:txBody>
      </p:sp>
      <p:sp>
        <p:nvSpPr>
          <p:cNvPr id="74" name="Shape 60"/>
          <p:cNvSpPr/>
          <p:nvPr/>
        </p:nvSpPr>
        <p:spPr>
          <a:xfrm>
            <a:off x="7691272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5" name="Shape 61"/>
          <p:cNvSpPr/>
          <p:nvPr/>
        </p:nvSpPr>
        <p:spPr>
          <a:xfrm>
            <a:off x="8427161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7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46033" y="2843784"/>
            <a:ext cx="274320" cy="274320"/>
          </a:xfrm>
          <a:prstGeom prst="rect">
            <a:avLst/>
          </a:prstGeom>
        </p:spPr>
      </p:pic>
      <p:sp>
        <p:nvSpPr>
          <p:cNvPr id="77" name="Text 62"/>
          <p:cNvSpPr txBox="1"/>
          <p:nvPr/>
        </p:nvSpPr>
        <p:spPr>
          <a:xfrm>
            <a:off x="8072933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установление PDU Session</a:t>
            </a:r>
            <a:endParaRPr lang="en-US" sz="950" dirty="0"/>
          </a:p>
        </p:txBody>
      </p:sp>
      <p:sp>
        <p:nvSpPr>
          <p:cNvPr id="78" name="Shape 63"/>
          <p:cNvSpPr/>
          <p:nvPr/>
        </p:nvSpPr>
        <p:spPr>
          <a:xfrm>
            <a:off x="8984945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9" name="Shape 64"/>
          <p:cNvSpPr/>
          <p:nvPr/>
        </p:nvSpPr>
        <p:spPr>
          <a:xfrm>
            <a:off x="9720834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8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39706" y="2843784"/>
            <a:ext cx="274320" cy="274320"/>
          </a:xfrm>
          <a:prstGeom prst="rect">
            <a:avLst/>
          </a:prstGeom>
        </p:spPr>
      </p:pic>
      <p:sp>
        <p:nvSpPr>
          <p:cNvPr id="81" name="Text 65"/>
          <p:cNvSpPr txBox="1"/>
          <p:nvPr/>
        </p:nvSpPr>
        <p:spPr>
          <a:xfrm>
            <a:off x="9366606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IP-связность</a:t>
            </a:r>
            <a:endParaRPr lang="en-US" sz="950" dirty="0"/>
          </a:p>
        </p:txBody>
      </p:sp>
      <p:sp>
        <p:nvSpPr>
          <p:cNvPr id="82" name="Shape 66"/>
          <p:cNvSpPr/>
          <p:nvPr/>
        </p:nvSpPr>
        <p:spPr>
          <a:xfrm>
            <a:off x="10278618" y="2980944"/>
            <a:ext cx="69016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3" name="Shape 67"/>
          <p:cNvSpPr/>
          <p:nvPr/>
        </p:nvSpPr>
        <p:spPr>
          <a:xfrm>
            <a:off x="11014507" y="2724912"/>
            <a:ext cx="512064" cy="512064"/>
          </a:xfrm>
          <a:prstGeom prst="ellipse">
            <a:avLst/>
          </a:prstGeom>
          <a:solidFill>
            <a:srgbClr val="F9F9FF"/>
          </a:solidFill>
          <a:ln w="19050">
            <a:solidFill>
              <a:srgbClr val="534EE6"/>
            </a:solidFill>
            <a:prstDash val="solid"/>
          </a:ln>
        </p:spPr>
      </p:sp>
      <p:pic>
        <p:nvPicPr>
          <p:cNvPr id="8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33379" y="2843784"/>
            <a:ext cx="274320" cy="274320"/>
          </a:xfrm>
          <a:prstGeom prst="rect">
            <a:avLst/>
          </a:prstGeom>
        </p:spPr>
      </p:pic>
      <p:sp>
        <p:nvSpPr>
          <p:cNvPr id="85" name="Text 68"/>
          <p:cNvSpPr txBox="1"/>
          <p:nvPr/>
        </p:nvSpPr>
        <p:spPr>
          <a:xfrm>
            <a:off x="10660278" y="3282696"/>
            <a:ext cx="12205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доступ к базовому сервису</a:t>
            </a:r>
            <a:endParaRPr lang="en-US" sz="950" dirty="0"/>
          </a:p>
        </p:txBody>
      </p:sp>
      <p:sp>
        <p:nvSpPr>
          <p:cNvPr id="86" name="Shape 69"/>
          <p:cNvSpPr/>
          <p:nvPr/>
        </p:nvSpPr>
        <p:spPr>
          <a:xfrm>
            <a:off x="274320" y="3767328"/>
            <a:ext cx="3383280" cy="2267712"/>
          </a:xfrm>
          <a:prstGeom prst="roundRect">
            <a:avLst>
              <a:gd name="adj" fmla="val 322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87" name="Text 70"/>
          <p:cNvSpPr txBox="1"/>
          <p:nvPr/>
        </p:nvSpPr>
        <p:spPr>
          <a:xfrm>
            <a:off x="274320" y="38313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300" dirty="0"/>
          </a:p>
        </p:txBody>
      </p:sp>
      <p:pic>
        <p:nvPicPr>
          <p:cNvPr id="88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2920" y="4215384"/>
            <a:ext cx="182880" cy="182880"/>
          </a:xfrm>
          <a:prstGeom prst="rect">
            <a:avLst/>
          </a:prstGeom>
        </p:spPr>
      </p:pic>
      <p:sp>
        <p:nvSpPr>
          <p:cNvPr id="89" name="Text 71"/>
          <p:cNvSpPr txBox="1"/>
          <p:nvPr/>
        </p:nvSpPr>
        <p:spPr>
          <a:xfrm>
            <a:off x="777240" y="41788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доступ к сети</a:t>
            </a:r>
            <a:endParaRPr lang="en-US" sz="1050" dirty="0"/>
          </a:p>
        </p:txBody>
      </p:sp>
      <p:pic>
        <p:nvPicPr>
          <p:cNvPr id="9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02920" y="4471416"/>
            <a:ext cx="182880" cy="182880"/>
          </a:xfrm>
          <a:prstGeom prst="rect">
            <a:avLst/>
          </a:prstGeom>
        </p:spPr>
      </p:pic>
      <p:sp>
        <p:nvSpPr>
          <p:cNvPr id="91" name="Text 72"/>
          <p:cNvSpPr txBox="1"/>
          <p:nvPr/>
        </p:nvSpPr>
        <p:spPr>
          <a:xfrm>
            <a:off x="777240" y="4434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setup</a:t>
            </a:r>
            <a:endParaRPr lang="en-US" sz="1050" dirty="0"/>
          </a:p>
        </p:txBody>
      </p:sp>
      <p:pic>
        <p:nvPicPr>
          <p:cNvPr id="9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2920" y="4727448"/>
            <a:ext cx="182880" cy="182880"/>
          </a:xfrm>
          <a:prstGeom prst="rect">
            <a:avLst/>
          </a:prstGeom>
        </p:spPr>
      </p:pic>
      <p:sp>
        <p:nvSpPr>
          <p:cNvPr id="93" name="Text 73"/>
          <p:cNvSpPr txBox="1"/>
          <p:nvPr/>
        </p:nvSpPr>
        <p:spPr>
          <a:xfrm>
            <a:off x="777240" y="4690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Registration</a:t>
            </a:r>
            <a:endParaRPr lang="en-US" sz="1050" dirty="0"/>
          </a:p>
        </p:txBody>
      </p:sp>
      <p:pic>
        <p:nvPicPr>
          <p:cNvPr id="9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2920" y="4983480"/>
            <a:ext cx="182880" cy="182880"/>
          </a:xfrm>
          <a:prstGeom prst="rect">
            <a:avLst/>
          </a:prstGeom>
        </p:spPr>
      </p:pic>
      <p:sp>
        <p:nvSpPr>
          <p:cNvPr id="95" name="Text 74"/>
          <p:cNvSpPr txBox="1"/>
          <p:nvPr/>
        </p:nvSpPr>
        <p:spPr>
          <a:xfrm>
            <a:off x="777240" y="49469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создание контекста UE</a:t>
            </a:r>
            <a:endParaRPr lang="en-US" sz="1050" dirty="0"/>
          </a:p>
        </p:txBody>
      </p:sp>
      <p:pic>
        <p:nvPicPr>
          <p:cNvPr id="9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2920" y="5239512"/>
            <a:ext cx="182880" cy="182880"/>
          </a:xfrm>
          <a:prstGeom prst="rect">
            <a:avLst/>
          </a:prstGeom>
        </p:spPr>
      </p:pic>
      <p:sp>
        <p:nvSpPr>
          <p:cNvPr id="97" name="Text 75"/>
          <p:cNvSpPr txBox="1"/>
          <p:nvPr/>
        </p:nvSpPr>
        <p:spPr>
          <a:xfrm>
            <a:off x="777240" y="52029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</a:t>
            </a:r>
            <a:endParaRPr lang="en-US" sz="1050" dirty="0"/>
          </a:p>
        </p:txBody>
      </p:sp>
      <p:pic>
        <p:nvPicPr>
          <p:cNvPr id="98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2920" y="5495544"/>
            <a:ext cx="182880" cy="182880"/>
          </a:xfrm>
          <a:prstGeom prst="rect">
            <a:avLst/>
          </a:prstGeom>
        </p:spPr>
      </p:pic>
      <p:sp>
        <p:nvSpPr>
          <p:cNvPr id="99" name="Text 76"/>
          <p:cNvSpPr txBox="1"/>
          <p:nvPr/>
        </p:nvSpPr>
        <p:spPr>
          <a:xfrm>
            <a:off x="777240" y="5458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получение IP-адреса</a:t>
            </a:r>
            <a:endParaRPr lang="en-US" sz="1050" dirty="0"/>
          </a:p>
        </p:txBody>
      </p:sp>
      <p:pic>
        <p:nvPicPr>
          <p:cNvPr id="100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02920" y="5751576"/>
            <a:ext cx="182880" cy="182880"/>
          </a:xfrm>
          <a:prstGeom prst="rect">
            <a:avLst/>
          </a:prstGeom>
        </p:spPr>
      </p:pic>
      <p:sp>
        <p:nvSpPr>
          <p:cNvPr id="101" name="Text 77"/>
          <p:cNvSpPr txBox="1"/>
          <p:nvPr/>
        </p:nvSpPr>
        <p:spPr>
          <a:xfrm>
            <a:off x="777240" y="57150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DNS / HTTP / ping</a:t>
            </a:r>
            <a:endParaRPr lang="en-US" sz="1050" dirty="0"/>
          </a:p>
        </p:txBody>
      </p:sp>
      <p:sp>
        <p:nvSpPr>
          <p:cNvPr id="102" name="Shape 78"/>
          <p:cNvSpPr/>
          <p:nvPr/>
        </p:nvSpPr>
        <p:spPr>
          <a:xfrm>
            <a:off x="3840480" y="3767328"/>
            <a:ext cx="4599432" cy="2267712"/>
          </a:xfrm>
          <a:prstGeom prst="roundRect">
            <a:avLst>
              <a:gd name="adj" fmla="val 322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03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225796" y="3858768"/>
            <a:ext cx="237744" cy="237744"/>
          </a:xfrm>
          <a:prstGeom prst="rect">
            <a:avLst/>
          </a:prstGeom>
        </p:spPr>
      </p:pic>
      <p:sp>
        <p:nvSpPr>
          <p:cNvPr id="104" name="Text 79"/>
          <p:cNvSpPr txBox="1"/>
          <p:nvPr/>
        </p:nvSpPr>
        <p:spPr>
          <a:xfrm>
            <a:off x="5518404" y="38313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успеха</a:t>
            </a:r>
            <a:endParaRPr lang="en-US" sz="1300" dirty="0"/>
          </a:p>
        </p:txBody>
      </p:sp>
      <p:pic>
        <p:nvPicPr>
          <p:cNvPr id="10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114800" y="4485132"/>
            <a:ext cx="164592" cy="164592"/>
          </a:xfrm>
          <a:prstGeom prst="rect">
            <a:avLst/>
          </a:prstGeom>
        </p:spPr>
      </p:pic>
      <p:sp>
        <p:nvSpPr>
          <p:cNvPr id="106" name="Text 80"/>
          <p:cNvSpPr txBox="1"/>
          <p:nvPr/>
        </p:nvSpPr>
        <p:spPr>
          <a:xfrm>
            <a:off x="438912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подключено к сети</a:t>
            </a:r>
            <a:endParaRPr lang="en-US" sz="1100" dirty="0"/>
          </a:p>
        </p:txBody>
      </p:sp>
      <p:pic>
        <p:nvPicPr>
          <p:cNvPr id="10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14800" y="4988052"/>
            <a:ext cx="164592" cy="164592"/>
          </a:xfrm>
          <a:prstGeom prst="rect">
            <a:avLst/>
          </a:prstGeom>
        </p:spPr>
      </p:pic>
      <p:sp>
        <p:nvSpPr>
          <p:cNvPr id="108" name="Text 81"/>
          <p:cNvSpPr txBox="1"/>
          <p:nvPr/>
        </p:nvSpPr>
        <p:spPr>
          <a:xfrm>
            <a:off x="4389120" y="48188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установлен</a:t>
            </a:r>
            <a:endParaRPr lang="en-US" sz="1100" dirty="0"/>
          </a:p>
        </p:txBody>
      </p:sp>
      <p:pic>
        <p:nvPicPr>
          <p:cNvPr id="109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114800" y="5490972"/>
            <a:ext cx="164592" cy="164592"/>
          </a:xfrm>
          <a:prstGeom prst="rect">
            <a:avLst/>
          </a:prstGeom>
        </p:spPr>
      </p:pic>
      <p:sp>
        <p:nvSpPr>
          <p:cNvPr id="110" name="Text 82"/>
          <p:cNvSpPr txBox="1"/>
          <p:nvPr/>
        </p:nvSpPr>
        <p:spPr>
          <a:xfrm>
            <a:off x="4389120" y="53218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Registration успешна</a:t>
            </a:r>
            <a:endParaRPr lang="en-US" sz="1100" dirty="0"/>
          </a:p>
        </p:txBody>
      </p:sp>
      <p:pic>
        <p:nvPicPr>
          <p:cNvPr id="111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309360" y="4485132"/>
            <a:ext cx="164592" cy="164592"/>
          </a:xfrm>
          <a:prstGeom prst="rect">
            <a:avLst/>
          </a:prstGeom>
        </p:spPr>
      </p:pic>
      <p:sp>
        <p:nvSpPr>
          <p:cNvPr id="112" name="Text 83"/>
          <p:cNvSpPr txBox="1"/>
          <p:nvPr/>
        </p:nvSpPr>
        <p:spPr>
          <a:xfrm>
            <a:off x="6583680" y="431596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 создана</a:t>
            </a:r>
            <a:endParaRPr lang="en-US" sz="1100" dirty="0"/>
          </a:p>
        </p:txBody>
      </p:sp>
      <p:pic>
        <p:nvPicPr>
          <p:cNvPr id="113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309360" y="4988052"/>
            <a:ext cx="164592" cy="164592"/>
          </a:xfrm>
          <a:prstGeom prst="rect">
            <a:avLst/>
          </a:prstGeom>
        </p:spPr>
      </p:pic>
      <p:sp>
        <p:nvSpPr>
          <p:cNvPr id="114" name="Text 84"/>
          <p:cNvSpPr txBox="1"/>
          <p:nvPr/>
        </p:nvSpPr>
        <p:spPr>
          <a:xfrm>
            <a:off x="6583680" y="481888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IP-связность есть</a:t>
            </a:r>
            <a:endParaRPr lang="en-US" sz="1100" dirty="0"/>
          </a:p>
        </p:txBody>
      </p:sp>
      <p:pic>
        <p:nvPicPr>
          <p:cNvPr id="115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9360" y="5490972"/>
            <a:ext cx="164592" cy="164592"/>
          </a:xfrm>
          <a:prstGeom prst="rect">
            <a:avLst/>
          </a:prstGeom>
        </p:spPr>
      </p:pic>
      <p:sp>
        <p:nvSpPr>
          <p:cNvPr id="116" name="Text 85"/>
          <p:cNvSpPr txBox="1"/>
          <p:nvPr/>
        </p:nvSpPr>
        <p:spPr>
          <a:xfrm>
            <a:off x="6583680" y="53218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базовый сервис доступен</a:t>
            </a:r>
            <a:endParaRPr lang="en-US" sz="1100" dirty="0"/>
          </a:p>
        </p:txBody>
      </p:sp>
      <p:sp>
        <p:nvSpPr>
          <p:cNvPr id="117" name="Shape 86"/>
          <p:cNvSpPr/>
          <p:nvPr/>
        </p:nvSpPr>
        <p:spPr>
          <a:xfrm>
            <a:off x="6185916" y="4315968"/>
            <a:ext cx="0" cy="1463040"/>
          </a:xfrm>
          <a:prstGeom prst="line">
            <a:avLst/>
          </a:prstGeom>
          <a:noFill/>
          <a:ln w="12700">
            <a:solidFill>
              <a:srgbClr val="EEEDFD"/>
            </a:solidFill>
            <a:prstDash val="solid"/>
          </a:ln>
        </p:spPr>
      </p:sp>
      <p:sp>
        <p:nvSpPr>
          <p:cNvPr id="118" name="Shape 87"/>
          <p:cNvSpPr/>
          <p:nvPr/>
        </p:nvSpPr>
        <p:spPr>
          <a:xfrm>
            <a:off x="8622792" y="3767328"/>
            <a:ext cx="3294583" cy="2267712"/>
          </a:xfrm>
          <a:prstGeom prst="roundRect">
            <a:avLst>
              <a:gd name="adj" fmla="val 3226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19" name="Text 88"/>
          <p:cNvSpPr txBox="1"/>
          <p:nvPr/>
        </p:nvSpPr>
        <p:spPr>
          <a:xfrm>
            <a:off x="8622792" y="3831336"/>
            <a:ext cx="32945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является тестовой системой</a:t>
            </a:r>
            <a:endParaRPr lang="en-US" sz="1300" dirty="0"/>
          </a:p>
        </p:txBody>
      </p:sp>
      <p:pic>
        <p:nvPicPr>
          <p:cNvPr id="120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51392" y="4229100"/>
            <a:ext cx="182880" cy="182880"/>
          </a:xfrm>
          <a:prstGeom prst="rect">
            <a:avLst/>
          </a:prstGeom>
        </p:spPr>
      </p:pic>
      <p:sp>
        <p:nvSpPr>
          <p:cNvPr id="121" name="Text 89"/>
          <p:cNvSpPr txBox="1"/>
          <p:nvPr/>
        </p:nvSpPr>
        <p:spPr>
          <a:xfrm>
            <a:off x="9125712" y="4178808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тестовая платформа / эмулятор сети</a:t>
            </a:r>
            <a:endParaRPr lang="en-US" sz="1050" dirty="0"/>
          </a:p>
        </p:txBody>
      </p:sp>
      <p:pic>
        <p:nvPicPr>
          <p:cNvPr id="122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51392" y="4512564"/>
            <a:ext cx="182880" cy="182880"/>
          </a:xfrm>
          <a:prstGeom prst="rect">
            <a:avLst/>
          </a:prstGeom>
        </p:spPr>
      </p:pic>
      <p:sp>
        <p:nvSpPr>
          <p:cNvPr id="123" name="Text 90"/>
          <p:cNvSpPr txBox="1"/>
          <p:nvPr/>
        </p:nvSpPr>
        <p:spPr>
          <a:xfrm>
            <a:off x="9125712" y="4462272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создаёт радиосреду</a:t>
            </a:r>
            <a:endParaRPr lang="en-US" sz="1050" dirty="0"/>
          </a:p>
        </p:txBody>
      </p:sp>
      <p:pic>
        <p:nvPicPr>
          <p:cNvPr id="124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851392" y="4796028"/>
            <a:ext cx="182880" cy="182880"/>
          </a:xfrm>
          <a:prstGeom prst="rect">
            <a:avLst/>
          </a:prstGeom>
        </p:spPr>
      </p:pic>
      <p:sp>
        <p:nvSpPr>
          <p:cNvPr id="125" name="Text 91"/>
          <p:cNvSpPr txBox="1"/>
          <p:nvPr/>
        </p:nvSpPr>
        <p:spPr>
          <a:xfrm>
            <a:off x="9125712" y="4745736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эмулирует сеть доступа</a:t>
            </a:r>
            <a:endParaRPr lang="en-US" sz="1050" dirty="0"/>
          </a:p>
        </p:txBody>
      </p:sp>
      <p:pic>
        <p:nvPicPr>
          <p:cNvPr id="126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851392" y="5079492"/>
            <a:ext cx="182880" cy="182880"/>
          </a:xfrm>
          <a:prstGeom prst="rect">
            <a:avLst/>
          </a:prstGeom>
        </p:spPr>
      </p:pic>
      <p:sp>
        <p:nvSpPr>
          <p:cNvPr id="127" name="Text 92"/>
          <p:cNvSpPr txBox="1"/>
          <p:nvPr/>
        </p:nvSpPr>
        <p:spPr>
          <a:xfrm>
            <a:off x="9125712" y="5029200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эмулирует Core</a:t>
            </a:r>
            <a:endParaRPr lang="en-US" sz="1050" dirty="0"/>
          </a:p>
        </p:txBody>
      </p:sp>
      <p:pic>
        <p:nvPicPr>
          <p:cNvPr id="128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851392" y="5362956"/>
            <a:ext cx="182880" cy="182880"/>
          </a:xfrm>
          <a:prstGeom prst="rect">
            <a:avLst/>
          </a:prstGeom>
        </p:spPr>
      </p:pic>
      <p:sp>
        <p:nvSpPr>
          <p:cNvPr id="129" name="Text 93"/>
          <p:cNvSpPr txBox="1"/>
          <p:nvPr/>
        </p:nvSpPr>
        <p:spPr>
          <a:xfrm>
            <a:off x="9125712" y="5312664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проверяет результат процедуры</a:t>
            </a:r>
            <a:endParaRPr lang="en-US" sz="1050" dirty="0"/>
          </a:p>
        </p:txBody>
      </p:sp>
      <p:pic>
        <p:nvPicPr>
          <p:cNvPr id="130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51392" y="5646420"/>
            <a:ext cx="182880" cy="182880"/>
          </a:xfrm>
          <a:prstGeom prst="rect">
            <a:avLst/>
          </a:prstGeom>
        </p:spPr>
      </p:pic>
      <p:sp>
        <p:nvSpPr>
          <p:cNvPr id="131" name="Text 94"/>
          <p:cNvSpPr txBox="1"/>
          <p:nvPr/>
        </p:nvSpPr>
        <p:spPr>
          <a:xfrm>
            <a:off x="9125712" y="5596128"/>
            <a:ext cx="265450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фиксирует success / fail</a:t>
            </a:r>
            <a:endParaRPr lang="en-US" sz="1050" dirty="0"/>
          </a:p>
        </p:txBody>
      </p:sp>
      <p:sp>
        <p:nvSpPr>
          <p:cNvPr id="132" name="Shape 95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33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34" name="Text 96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 функциональном тестировании DUT — это UE, а сеть вокруг него воспроизводится тестовой системой в контролируемом сценарии.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SIM: USIM, UICC, eSIM, аутентификация и профиль абонента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7132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карты и профиля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средств: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938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12710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тестер USIM / UICC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2476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14996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считыватель смарт-карт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51076"/>
            <a:ext cx="182880" cy="1828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17282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APDU-команд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79676"/>
            <a:ext cx="182880" cy="1828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31520" y="19568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соответствия USIM / USAT</a:t>
            </a:r>
            <a:endParaRPr lang="en-US" sz="1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08276"/>
            <a:ext cx="182880" cy="1828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731520" y="21854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eSIM-профиля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457200" y="2468880"/>
            <a:ext cx="292608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7" name="Text 10"/>
          <p:cNvSpPr txBox="1"/>
          <p:nvPr/>
        </p:nvSpPr>
        <p:spPr>
          <a:xfrm>
            <a:off x="457200" y="2523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проверяет: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75204"/>
            <a:ext cx="182880" cy="1828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31520" y="2752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структура файлов UICC</a:t>
            </a:r>
            <a:endParaRPr lang="en-US" sz="10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003804"/>
            <a:ext cx="182880" cy="18288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31520" y="2980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доступность USIM application</a:t>
            </a:r>
            <a:endParaRPr lang="en-US" sz="1000" dirty="0"/>
          </a:p>
        </p:txBody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232404"/>
            <a:ext cx="182880" cy="18288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731520" y="3209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корректность IMSI / SUPI</a:t>
            </a:r>
            <a:endParaRPr lang="en-US" sz="1000" dirty="0"/>
          </a:p>
        </p:txBody>
      </p:sp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461004"/>
            <a:ext cx="182880" cy="18288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731520" y="34381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параметры PLMN</a:t>
            </a:r>
            <a:endParaRPr lang="en-US" sz="1000" dirty="0"/>
          </a:p>
        </p:txBody>
      </p:sp>
      <p:pic>
        <p:nvPicPr>
          <p:cNvPr id="2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3689604"/>
            <a:ext cx="182880" cy="182880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731520" y="36667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provisioning</a:t>
            </a:r>
            <a:endParaRPr lang="en-US" sz="1000" dirty="0"/>
          </a:p>
        </p:txBody>
      </p:sp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918204"/>
            <a:ext cx="182880" cy="182880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731520" y="3895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provisioning</a:t>
            </a:r>
            <a:endParaRPr lang="en-US" sz="1000" dirty="0"/>
          </a:p>
        </p:txBody>
      </p:sp>
      <p:pic>
        <p:nvPicPr>
          <p:cNvPr id="3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4146804"/>
            <a:ext cx="182880" cy="182880"/>
          </a:xfrm>
          <a:prstGeom prst="rect">
            <a:avLst/>
          </a:prstGeom>
        </p:spPr>
      </p:pic>
      <p:sp>
        <p:nvSpPr>
          <p:cNvPr id="31" name="Text 17"/>
          <p:cNvSpPr txBox="1"/>
          <p:nvPr/>
        </p:nvSpPr>
        <p:spPr>
          <a:xfrm>
            <a:off x="731520" y="4123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USAT commands</a:t>
            </a:r>
            <a:endParaRPr lang="en-US" sz="1000" dirty="0"/>
          </a:p>
        </p:txBody>
      </p:sp>
      <p:pic>
        <p:nvPicPr>
          <p:cNvPr id="3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4375404"/>
            <a:ext cx="182880" cy="182880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731520" y="4352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PIN / access conditions</a:t>
            </a:r>
            <a:endParaRPr lang="en-US" sz="1000" dirty="0"/>
          </a:p>
        </p:txBody>
      </p:sp>
      <p:sp>
        <p:nvSpPr>
          <p:cNvPr id="34" name="Shape 19"/>
          <p:cNvSpPr/>
          <p:nvPr/>
        </p:nvSpPr>
        <p:spPr>
          <a:xfrm>
            <a:off x="8625535" y="658368"/>
            <a:ext cx="3291840" cy="4206240"/>
          </a:xfrm>
          <a:prstGeom prst="roundRect">
            <a:avLst>
              <a:gd name="adj" fmla="val 2222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35" name="Text 20"/>
          <p:cNvSpPr txBox="1"/>
          <p:nvPr/>
        </p:nvSpPr>
        <p:spPr>
          <a:xfrm>
            <a:off x="8625535" y="7132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в сетевом сценарии</a:t>
            </a:r>
            <a:endParaRPr lang="en-US" sz="1300" dirty="0"/>
          </a:p>
        </p:txBody>
      </p:sp>
      <p:sp>
        <p:nvSpPr>
          <p:cNvPr id="36" name="Text 21"/>
          <p:cNvSpPr txBox="1"/>
          <p:nvPr/>
        </p:nvSpPr>
        <p:spPr>
          <a:xfrm>
            <a:off x="8808415" y="104241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средств:</a:t>
            </a:r>
            <a:endParaRPr lang="en-US" sz="1050" dirty="0"/>
          </a:p>
        </p:txBody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8415" y="1293876"/>
            <a:ext cx="182880" cy="182880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9082735" y="12710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сети LTE / NR</a:t>
            </a:r>
            <a:endParaRPr lang="en-US" sz="1000" dirty="0"/>
          </a:p>
        </p:txBody>
      </p:sp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08415" y="1522476"/>
            <a:ext cx="182880" cy="182880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082735" y="14996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1000" dirty="0"/>
          </a:p>
        </p:txBody>
      </p:sp>
      <p:pic>
        <p:nvPicPr>
          <p:cNvPr id="4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08415" y="1751076"/>
            <a:ext cx="182880" cy="182880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9082735" y="17282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Core</a:t>
            </a:r>
            <a:endParaRPr lang="en-US" sz="1000" dirty="0"/>
          </a:p>
        </p:txBody>
      </p:sp>
      <p:pic>
        <p:nvPicPr>
          <p:cNvPr id="43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08415" y="1979676"/>
            <a:ext cx="182880" cy="182880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9082735" y="19568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HSS / UDM / AUSF</a:t>
            </a:r>
            <a:endParaRPr lang="en-US" sz="1000" dirty="0"/>
          </a:p>
        </p:txBody>
      </p:sp>
      <p:pic>
        <p:nvPicPr>
          <p:cNvPr id="4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08415" y="2208276"/>
            <a:ext cx="182880" cy="182880"/>
          </a:xfrm>
          <a:prstGeom prst="rect">
            <a:avLst/>
          </a:prstGeom>
        </p:spPr>
      </p:pic>
      <p:sp>
        <p:nvSpPr>
          <p:cNvPr id="46" name="Text 26"/>
          <p:cNvSpPr txBox="1"/>
          <p:nvPr/>
        </p:nvSpPr>
        <p:spPr>
          <a:xfrm>
            <a:off x="9082735" y="2185416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trace analyzer</a:t>
            </a:r>
            <a:endParaRPr lang="en-US" sz="1000" dirty="0"/>
          </a:p>
        </p:txBody>
      </p:sp>
      <p:sp>
        <p:nvSpPr>
          <p:cNvPr id="47" name="Shape 27"/>
          <p:cNvSpPr/>
          <p:nvPr/>
        </p:nvSpPr>
        <p:spPr>
          <a:xfrm>
            <a:off x="8808415" y="2468880"/>
            <a:ext cx="292608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48" name="Text 28"/>
          <p:cNvSpPr txBox="1"/>
          <p:nvPr/>
        </p:nvSpPr>
        <p:spPr>
          <a:xfrm>
            <a:off x="8808415" y="252374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проверяет:</a:t>
            </a:r>
            <a:endParaRPr lang="en-US" sz="1050" dirty="0"/>
          </a:p>
        </p:txBody>
      </p:sp>
      <p:pic>
        <p:nvPicPr>
          <p:cNvPr id="4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808415" y="2775204"/>
            <a:ext cx="182880" cy="182880"/>
          </a:xfrm>
          <a:prstGeom prst="rect">
            <a:avLst/>
          </a:prstGeom>
        </p:spPr>
      </p:pic>
      <p:sp>
        <p:nvSpPr>
          <p:cNvPr id="50" name="Text 29"/>
          <p:cNvSpPr txBox="1"/>
          <p:nvPr/>
        </p:nvSpPr>
        <p:spPr>
          <a:xfrm>
            <a:off x="9082735" y="2752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выбор PLMN</a:t>
            </a:r>
            <a:endParaRPr lang="en-US" sz="1000" dirty="0"/>
          </a:p>
        </p:txBody>
      </p:sp>
      <p:pic>
        <p:nvPicPr>
          <p:cNvPr id="5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808415" y="3003804"/>
            <a:ext cx="182880" cy="182880"/>
          </a:xfrm>
          <a:prstGeom prst="rect">
            <a:avLst/>
          </a:prstGeom>
        </p:spPr>
      </p:pic>
      <p:sp>
        <p:nvSpPr>
          <p:cNvPr id="52" name="Text 30"/>
          <p:cNvSpPr txBox="1"/>
          <p:nvPr/>
        </p:nvSpPr>
        <p:spPr>
          <a:xfrm>
            <a:off x="9082735" y="2980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регистрация</a:t>
            </a:r>
            <a:endParaRPr lang="en-US" sz="1000" dirty="0"/>
          </a:p>
        </p:txBody>
      </p:sp>
      <p:pic>
        <p:nvPicPr>
          <p:cNvPr id="53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808415" y="3232404"/>
            <a:ext cx="182880" cy="182880"/>
          </a:xfrm>
          <a:prstGeom prst="rect">
            <a:avLst/>
          </a:prstGeom>
        </p:spPr>
      </p:pic>
      <p:sp>
        <p:nvSpPr>
          <p:cNvPr id="54" name="Text 31"/>
          <p:cNvSpPr txBox="1"/>
          <p:nvPr/>
        </p:nvSpPr>
        <p:spPr>
          <a:xfrm>
            <a:off x="9082735" y="3209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 AKA</a:t>
            </a:r>
            <a:endParaRPr lang="en-US" sz="1000" dirty="0"/>
          </a:p>
        </p:txBody>
      </p:sp>
      <p:pic>
        <p:nvPicPr>
          <p:cNvPr id="5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808415" y="3461004"/>
            <a:ext cx="182880" cy="182880"/>
          </a:xfrm>
          <a:prstGeom prst="rect">
            <a:avLst/>
          </a:prstGeom>
        </p:spPr>
      </p:pic>
      <p:sp>
        <p:nvSpPr>
          <p:cNvPr id="56" name="Text 32"/>
          <p:cNvSpPr txBox="1"/>
          <p:nvPr/>
        </p:nvSpPr>
        <p:spPr>
          <a:xfrm>
            <a:off x="9082735" y="34381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security mode</a:t>
            </a:r>
            <a:endParaRPr lang="en-US" sz="1000" dirty="0"/>
          </a:p>
        </p:txBody>
      </p:sp>
      <p:pic>
        <p:nvPicPr>
          <p:cNvPr id="57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808415" y="3689604"/>
            <a:ext cx="182880" cy="182880"/>
          </a:xfrm>
          <a:prstGeom prst="rect">
            <a:avLst/>
          </a:prstGeom>
        </p:spPr>
      </p:pic>
      <p:sp>
        <p:nvSpPr>
          <p:cNvPr id="58" name="Text 33"/>
          <p:cNvSpPr txBox="1"/>
          <p:nvPr/>
        </p:nvSpPr>
        <p:spPr>
          <a:xfrm>
            <a:off x="9082735" y="36667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</a:t>
            </a:r>
            <a:endParaRPr lang="en-US" sz="1000" dirty="0"/>
          </a:p>
        </p:txBody>
      </p:sp>
      <p:pic>
        <p:nvPicPr>
          <p:cNvPr id="59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808415" y="3918204"/>
            <a:ext cx="182880" cy="182880"/>
          </a:xfrm>
          <a:prstGeom prst="rect">
            <a:avLst/>
          </a:prstGeom>
        </p:spPr>
      </p:pic>
      <p:sp>
        <p:nvSpPr>
          <p:cNvPr id="60" name="Text 34"/>
          <p:cNvSpPr txBox="1"/>
          <p:nvPr/>
        </p:nvSpPr>
        <p:spPr>
          <a:xfrm>
            <a:off x="9082735" y="38953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access</a:t>
            </a:r>
            <a:endParaRPr lang="en-US" sz="1000" dirty="0"/>
          </a:p>
        </p:txBody>
      </p:sp>
      <p:pic>
        <p:nvPicPr>
          <p:cNvPr id="61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08415" y="4146804"/>
            <a:ext cx="182880" cy="182880"/>
          </a:xfrm>
          <a:prstGeom prst="rect">
            <a:avLst/>
          </a:prstGeom>
        </p:spPr>
      </p:pic>
      <p:sp>
        <p:nvSpPr>
          <p:cNvPr id="62" name="Text 35"/>
          <p:cNvSpPr txBox="1"/>
          <p:nvPr/>
        </p:nvSpPr>
        <p:spPr>
          <a:xfrm>
            <a:off x="9082735" y="41239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roaming behavior</a:t>
            </a:r>
            <a:endParaRPr lang="en-US" sz="1000" dirty="0"/>
          </a:p>
        </p:txBody>
      </p:sp>
      <p:pic>
        <p:nvPicPr>
          <p:cNvPr id="63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808415" y="4375404"/>
            <a:ext cx="182880" cy="182880"/>
          </a:xfrm>
          <a:prstGeom prst="rect">
            <a:avLst/>
          </a:prstGeom>
        </p:spPr>
      </p:pic>
      <p:sp>
        <p:nvSpPr>
          <p:cNvPr id="64" name="Text 36"/>
          <p:cNvSpPr txBox="1"/>
          <p:nvPr/>
        </p:nvSpPr>
        <p:spPr>
          <a:xfrm>
            <a:off x="9082735" y="43525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registration</a:t>
            </a:r>
            <a:endParaRPr lang="en-US" sz="1000" dirty="0"/>
          </a:p>
        </p:txBody>
      </p:sp>
      <p:pic>
        <p:nvPicPr>
          <p:cNvPr id="65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08415" y="4604004"/>
            <a:ext cx="182880" cy="182880"/>
          </a:xfrm>
          <a:prstGeom prst="rect">
            <a:avLst/>
          </a:prstGeom>
        </p:spPr>
      </p:pic>
      <p:sp>
        <p:nvSpPr>
          <p:cNvPr id="66" name="Text 37"/>
          <p:cNvSpPr txBox="1"/>
          <p:nvPr/>
        </p:nvSpPr>
        <p:spPr>
          <a:xfrm>
            <a:off x="9082735" y="458114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reject causes</a:t>
            </a:r>
            <a:endParaRPr lang="en-US" sz="1000" dirty="0"/>
          </a:p>
        </p:txBody>
      </p:sp>
      <p:sp>
        <p:nvSpPr>
          <p:cNvPr id="67" name="Shape 38"/>
          <p:cNvSpPr/>
          <p:nvPr/>
        </p:nvSpPr>
        <p:spPr>
          <a:xfrm>
            <a:off x="3767328" y="658368"/>
            <a:ext cx="4657039" cy="2432304"/>
          </a:xfrm>
          <a:prstGeom prst="roundRect">
            <a:avLst>
              <a:gd name="adj" fmla="val 3008"/>
            </a:avLst>
          </a:prstGeom>
          <a:solidFill>
            <a:srgbClr val="FFFFFF"/>
          </a:solidFill>
          <a:ln w="22225">
            <a:solidFill>
              <a:srgbClr val="534EE6"/>
            </a:solidFill>
            <a:prstDash val="solid"/>
          </a:ln>
        </p:spPr>
      </p:sp>
      <p:sp>
        <p:nvSpPr>
          <p:cNvPr id="68" name="Shape 39"/>
          <p:cNvSpPr/>
          <p:nvPr/>
        </p:nvSpPr>
        <p:spPr>
          <a:xfrm>
            <a:off x="3767328" y="658368"/>
            <a:ext cx="4657039" cy="365760"/>
          </a:xfrm>
          <a:prstGeom prst="roundRect">
            <a:avLst>
              <a:gd name="adj" fmla="val 20000"/>
            </a:avLst>
          </a:prstGeom>
          <a:solidFill>
            <a:srgbClr val="534EE6"/>
          </a:solidFill>
          <a:ln/>
        </p:spPr>
      </p:sp>
      <p:sp>
        <p:nvSpPr>
          <p:cNvPr id="69" name="Text 40"/>
          <p:cNvSpPr txBox="1"/>
          <p:nvPr/>
        </p:nvSpPr>
        <p:spPr>
          <a:xfrm>
            <a:off x="3767328" y="658368"/>
            <a:ext cx="46570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SIM / USIM / eSIM как DUT</a:t>
            </a:r>
            <a:endParaRPr lang="en-US" sz="1350" dirty="0"/>
          </a:p>
        </p:txBody>
      </p:sp>
      <p:pic>
        <p:nvPicPr>
          <p:cNvPr id="7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041648" y="1097280"/>
            <a:ext cx="164592" cy="164592"/>
          </a:xfrm>
          <a:prstGeom prst="rect">
            <a:avLst/>
          </a:prstGeom>
        </p:spPr>
      </p:pic>
      <p:sp>
        <p:nvSpPr>
          <p:cNvPr id="71" name="Text 41"/>
          <p:cNvSpPr txBox="1"/>
          <p:nvPr/>
        </p:nvSpPr>
        <p:spPr>
          <a:xfrm>
            <a:off x="4334256" y="1078992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идентификатор абонента (IMSI / SUPI)</a:t>
            </a:r>
            <a:endParaRPr lang="en-US" sz="1050" dirty="0"/>
          </a:p>
        </p:txBody>
      </p:sp>
      <p:sp>
        <p:nvSpPr>
          <p:cNvPr id="72" name="Shape 42"/>
          <p:cNvSpPr/>
          <p:nvPr/>
        </p:nvSpPr>
        <p:spPr>
          <a:xfrm>
            <a:off x="4041648" y="1274674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73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041648" y="1294790"/>
            <a:ext cx="164592" cy="164592"/>
          </a:xfrm>
          <a:prstGeom prst="rect">
            <a:avLst/>
          </a:prstGeom>
        </p:spPr>
      </p:pic>
      <p:sp>
        <p:nvSpPr>
          <p:cNvPr id="74" name="Text 43"/>
          <p:cNvSpPr txBox="1"/>
          <p:nvPr/>
        </p:nvSpPr>
        <p:spPr>
          <a:xfrm>
            <a:off x="4334256" y="1276502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скрытый идентификатор (SUCI)</a:t>
            </a:r>
            <a:endParaRPr lang="en-US" sz="1050" dirty="0"/>
          </a:p>
        </p:txBody>
      </p:sp>
      <p:sp>
        <p:nvSpPr>
          <p:cNvPr id="75" name="Shape 44"/>
          <p:cNvSpPr/>
          <p:nvPr/>
        </p:nvSpPr>
        <p:spPr>
          <a:xfrm>
            <a:off x="4041648" y="1472184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76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041648" y="1492301"/>
            <a:ext cx="164592" cy="164592"/>
          </a:xfrm>
          <a:prstGeom prst="rect">
            <a:avLst/>
          </a:prstGeom>
        </p:spPr>
      </p:pic>
      <p:sp>
        <p:nvSpPr>
          <p:cNvPr id="77" name="Text 45"/>
          <p:cNvSpPr txBox="1"/>
          <p:nvPr/>
        </p:nvSpPr>
        <p:spPr>
          <a:xfrm>
            <a:off x="4334256" y="1474013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домашняя сеть (HPLMN)</a:t>
            </a:r>
            <a:endParaRPr lang="en-US" sz="1050" dirty="0"/>
          </a:p>
        </p:txBody>
      </p:sp>
      <p:sp>
        <p:nvSpPr>
          <p:cNvPr id="78" name="Shape 46"/>
          <p:cNvSpPr/>
          <p:nvPr/>
        </p:nvSpPr>
        <p:spPr>
          <a:xfrm>
            <a:off x="4041648" y="1669694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7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041648" y="1689811"/>
            <a:ext cx="164592" cy="164592"/>
          </a:xfrm>
          <a:prstGeom prst="rect">
            <a:avLst/>
          </a:prstGeom>
        </p:spPr>
      </p:pic>
      <p:sp>
        <p:nvSpPr>
          <p:cNvPr id="80" name="Text 47"/>
          <p:cNvSpPr txBox="1"/>
          <p:nvPr/>
        </p:nvSpPr>
        <p:spPr>
          <a:xfrm>
            <a:off x="4334256" y="1671523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секретный ключ (K)</a:t>
            </a:r>
            <a:endParaRPr lang="en-US" sz="1050" dirty="0"/>
          </a:p>
        </p:txBody>
      </p:sp>
      <p:sp>
        <p:nvSpPr>
          <p:cNvPr id="81" name="Shape 48"/>
          <p:cNvSpPr/>
          <p:nvPr/>
        </p:nvSpPr>
        <p:spPr>
          <a:xfrm>
            <a:off x="4041648" y="1867205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82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41648" y="1887322"/>
            <a:ext cx="164592" cy="164592"/>
          </a:xfrm>
          <a:prstGeom prst="rect">
            <a:avLst/>
          </a:prstGeom>
        </p:spPr>
      </p:pic>
      <p:sp>
        <p:nvSpPr>
          <p:cNvPr id="83" name="Text 49"/>
          <p:cNvSpPr txBox="1"/>
          <p:nvPr/>
        </p:nvSpPr>
        <p:spPr>
          <a:xfrm>
            <a:off x="4334256" y="1869034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параметры AKA</a:t>
            </a:r>
            <a:endParaRPr lang="en-US" sz="1050" dirty="0"/>
          </a:p>
        </p:txBody>
      </p:sp>
      <p:sp>
        <p:nvSpPr>
          <p:cNvPr id="84" name="Shape 50"/>
          <p:cNvSpPr/>
          <p:nvPr/>
        </p:nvSpPr>
        <p:spPr>
          <a:xfrm>
            <a:off x="4041648" y="2064715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85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041648" y="2084832"/>
            <a:ext cx="164592" cy="164592"/>
          </a:xfrm>
          <a:prstGeom prst="rect">
            <a:avLst/>
          </a:prstGeom>
        </p:spPr>
      </p:pic>
      <p:sp>
        <p:nvSpPr>
          <p:cNvPr id="86" name="Text 51"/>
          <p:cNvSpPr txBox="1"/>
          <p:nvPr/>
        </p:nvSpPr>
        <p:spPr>
          <a:xfrm>
            <a:off x="4334256" y="2066544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DNN / APN</a:t>
            </a:r>
            <a:endParaRPr lang="en-US" sz="1050" dirty="0"/>
          </a:p>
        </p:txBody>
      </p:sp>
      <p:sp>
        <p:nvSpPr>
          <p:cNvPr id="87" name="Shape 52"/>
          <p:cNvSpPr/>
          <p:nvPr/>
        </p:nvSpPr>
        <p:spPr>
          <a:xfrm>
            <a:off x="4041648" y="2262226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88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041648" y="2282342"/>
            <a:ext cx="164592" cy="164592"/>
          </a:xfrm>
          <a:prstGeom prst="rect">
            <a:avLst/>
          </a:prstGeom>
        </p:spPr>
      </p:pic>
      <p:sp>
        <p:nvSpPr>
          <p:cNvPr id="89" name="Text 53"/>
          <p:cNvSpPr txBox="1"/>
          <p:nvPr/>
        </p:nvSpPr>
        <p:spPr>
          <a:xfrm>
            <a:off x="4334256" y="2264054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IMS</a:t>
            </a:r>
            <a:endParaRPr lang="en-US" sz="1050" dirty="0"/>
          </a:p>
        </p:txBody>
      </p:sp>
      <p:sp>
        <p:nvSpPr>
          <p:cNvPr id="90" name="Shape 54"/>
          <p:cNvSpPr/>
          <p:nvPr/>
        </p:nvSpPr>
        <p:spPr>
          <a:xfrm>
            <a:off x="4041648" y="2459736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91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041648" y="2479853"/>
            <a:ext cx="164592" cy="164592"/>
          </a:xfrm>
          <a:prstGeom prst="rect">
            <a:avLst/>
          </a:prstGeom>
        </p:spPr>
      </p:pic>
      <p:sp>
        <p:nvSpPr>
          <p:cNvPr id="92" name="Text 55"/>
          <p:cNvSpPr txBox="1"/>
          <p:nvPr/>
        </p:nvSpPr>
        <p:spPr>
          <a:xfrm>
            <a:off x="4334256" y="2461565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roaming permissions</a:t>
            </a:r>
            <a:endParaRPr lang="en-US" sz="1050" dirty="0"/>
          </a:p>
        </p:txBody>
      </p:sp>
      <p:sp>
        <p:nvSpPr>
          <p:cNvPr id="93" name="Shape 56"/>
          <p:cNvSpPr/>
          <p:nvPr/>
        </p:nvSpPr>
        <p:spPr>
          <a:xfrm>
            <a:off x="4041648" y="2657246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94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041648" y="2677363"/>
            <a:ext cx="164592" cy="164592"/>
          </a:xfrm>
          <a:prstGeom prst="rect">
            <a:avLst/>
          </a:prstGeom>
        </p:spPr>
      </p:pic>
      <p:sp>
        <p:nvSpPr>
          <p:cNvPr id="95" name="Text 57"/>
          <p:cNvSpPr txBox="1"/>
          <p:nvPr/>
        </p:nvSpPr>
        <p:spPr>
          <a:xfrm>
            <a:off x="4334256" y="2659075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slice / service permissions</a:t>
            </a:r>
            <a:endParaRPr lang="en-US" sz="1050" dirty="0"/>
          </a:p>
        </p:txBody>
      </p:sp>
      <p:sp>
        <p:nvSpPr>
          <p:cNvPr id="96" name="Shape 58"/>
          <p:cNvSpPr/>
          <p:nvPr/>
        </p:nvSpPr>
        <p:spPr>
          <a:xfrm>
            <a:off x="4041648" y="2854757"/>
            <a:ext cx="4108399" cy="0"/>
          </a:xfrm>
          <a:prstGeom prst="line">
            <a:avLst/>
          </a:prstGeom>
          <a:noFill/>
          <a:ln w="9525">
            <a:solidFill>
              <a:srgbClr val="EEEDFD"/>
            </a:solidFill>
            <a:prstDash val="solid"/>
          </a:ln>
        </p:spPr>
      </p:sp>
      <p:pic>
        <p:nvPicPr>
          <p:cNvPr id="97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041648" y="2874874"/>
            <a:ext cx="164592" cy="164592"/>
          </a:xfrm>
          <a:prstGeom prst="rect">
            <a:avLst/>
          </a:prstGeom>
        </p:spPr>
      </p:pic>
      <p:sp>
        <p:nvSpPr>
          <p:cNvPr id="98" name="Text 59"/>
          <p:cNvSpPr txBox="1"/>
          <p:nvPr/>
        </p:nvSpPr>
        <p:spPr>
          <a:xfrm>
            <a:off x="4334256" y="2856586"/>
            <a:ext cx="392551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USAT / SIM Toolkit behavior</a:t>
            </a:r>
            <a:endParaRPr lang="en-US" sz="1050" dirty="0"/>
          </a:p>
        </p:txBody>
      </p:sp>
      <p:sp>
        <p:nvSpPr>
          <p:cNvPr id="99" name="Shape 60"/>
          <p:cNvSpPr/>
          <p:nvPr/>
        </p:nvSpPr>
        <p:spPr>
          <a:xfrm>
            <a:off x="3584448" y="1737360"/>
            <a:ext cx="164592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0" name="Shape 61"/>
          <p:cNvSpPr/>
          <p:nvPr/>
        </p:nvSpPr>
        <p:spPr>
          <a:xfrm flipH="1">
            <a:off x="8442655" y="1737360"/>
            <a:ext cx="164592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1" name="Shape 62"/>
          <p:cNvSpPr/>
          <p:nvPr/>
        </p:nvSpPr>
        <p:spPr>
          <a:xfrm>
            <a:off x="6095848" y="3108960"/>
            <a:ext cx="0" cy="118872"/>
          </a:xfrm>
          <a:prstGeom prst="line">
            <a:avLst/>
          </a:prstGeom>
          <a:noFill/>
          <a:ln w="25400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02" name="Shape 63"/>
          <p:cNvSpPr/>
          <p:nvPr/>
        </p:nvSpPr>
        <p:spPr>
          <a:xfrm>
            <a:off x="3767328" y="3246120"/>
            <a:ext cx="4657039" cy="1618488"/>
          </a:xfrm>
          <a:prstGeom prst="roundRect">
            <a:avLst>
              <a:gd name="adj" fmla="val 452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03" name="Shape 64"/>
          <p:cNvSpPr/>
          <p:nvPr/>
        </p:nvSpPr>
        <p:spPr>
          <a:xfrm>
            <a:off x="3767328" y="3246120"/>
            <a:ext cx="4657039" cy="292608"/>
          </a:xfrm>
          <a:prstGeom prst="roundRect">
            <a:avLst>
              <a:gd name="adj" fmla="val 25000"/>
            </a:avLst>
          </a:prstGeom>
          <a:solidFill>
            <a:srgbClr val="FF812A"/>
          </a:solidFill>
          <a:ln/>
        </p:spPr>
      </p:sp>
      <p:sp>
        <p:nvSpPr>
          <p:cNvPr id="104" name="Text 65"/>
          <p:cNvSpPr txBox="1"/>
          <p:nvPr/>
        </p:nvSpPr>
        <p:spPr>
          <a:xfrm>
            <a:off x="3767328" y="3246120"/>
            <a:ext cx="46570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Диагностика отказов</a:t>
            </a:r>
            <a:endParaRPr lang="en-US" sz="1250" dirty="0"/>
          </a:p>
        </p:txBody>
      </p:sp>
      <p:sp>
        <p:nvSpPr>
          <p:cNvPr id="105" name="Text 66"/>
          <p:cNvSpPr txBox="1"/>
          <p:nvPr/>
        </p:nvSpPr>
        <p:spPr>
          <a:xfrm>
            <a:off x="3904488" y="35844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средств:</a:t>
            </a:r>
            <a:endParaRPr lang="en-US" sz="950" dirty="0"/>
          </a:p>
        </p:txBody>
      </p:sp>
      <p:sp>
        <p:nvSpPr>
          <p:cNvPr id="106" name="Shape 67"/>
          <p:cNvSpPr/>
          <p:nvPr/>
        </p:nvSpPr>
        <p:spPr>
          <a:xfrm>
            <a:off x="3913632" y="38377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7" name="Text 68"/>
          <p:cNvSpPr txBox="1"/>
          <p:nvPr/>
        </p:nvSpPr>
        <p:spPr>
          <a:xfrm>
            <a:off x="4041648" y="3785616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протокольная трасса</a:t>
            </a:r>
            <a:endParaRPr lang="en-US" sz="900" dirty="0"/>
          </a:p>
        </p:txBody>
      </p:sp>
      <p:sp>
        <p:nvSpPr>
          <p:cNvPr id="108" name="Shape 69"/>
          <p:cNvSpPr/>
          <p:nvPr/>
        </p:nvSpPr>
        <p:spPr>
          <a:xfrm>
            <a:off x="3913632" y="40023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9" name="Text 70"/>
          <p:cNvSpPr txBox="1"/>
          <p:nvPr/>
        </p:nvSpPr>
        <p:spPr>
          <a:xfrm>
            <a:off x="4041648" y="3950208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NAS trace</a:t>
            </a:r>
            <a:endParaRPr lang="en-US" sz="900" dirty="0"/>
          </a:p>
        </p:txBody>
      </p:sp>
      <p:sp>
        <p:nvSpPr>
          <p:cNvPr id="110" name="Shape 71"/>
          <p:cNvSpPr/>
          <p:nvPr/>
        </p:nvSpPr>
        <p:spPr>
          <a:xfrm>
            <a:off x="3913632" y="41669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1" name="Text 72"/>
          <p:cNvSpPr txBox="1"/>
          <p:nvPr/>
        </p:nvSpPr>
        <p:spPr>
          <a:xfrm>
            <a:off x="4041648" y="4114800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лог UE</a:t>
            </a:r>
            <a:endParaRPr lang="en-US" sz="900" dirty="0"/>
          </a:p>
        </p:txBody>
      </p:sp>
      <p:sp>
        <p:nvSpPr>
          <p:cNvPr id="112" name="Shape 73"/>
          <p:cNvSpPr/>
          <p:nvPr/>
        </p:nvSpPr>
        <p:spPr>
          <a:xfrm>
            <a:off x="3913632" y="43315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3" name="Text 74"/>
          <p:cNvSpPr txBox="1"/>
          <p:nvPr/>
        </p:nvSpPr>
        <p:spPr>
          <a:xfrm>
            <a:off x="4041648" y="4279392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лог Core / UDM / AUSF</a:t>
            </a:r>
            <a:endParaRPr lang="en-US" sz="900" dirty="0"/>
          </a:p>
        </p:txBody>
      </p:sp>
      <p:sp>
        <p:nvSpPr>
          <p:cNvPr id="114" name="Shape 75"/>
          <p:cNvSpPr/>
          <p:nvPr/>
        </p:nvSpPr>
        <p:spPr>
          <a:xfrm>
            <a:off x="3913632" y="44961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5" name="Text 76"/>
          <p:cNvSpPr txBox="1"/>
          <p:nvPr/>
        </p:nvSpPr>
        <p:spPr>
          <a:xfrm>
            <a:off x="4041648" y="4443984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APDU</a:t>
            </a:r>
            <a:endParaRPr lang="en-US" sz="900" dirty="0"/>
          </a:p>
        </p:txBody>
      </p:sp>
      <p:sp>
        <p:nvSpPr>
          <p:cNvPr id="116" name="Shape 77"/>
          <p:cNvSpPr/>
          <p:nvPr/>
        </p:nvSpPr>
        <p:spPr>
          <a:xfrm>
            <a:off x="3913632" y="46606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7" name="Text 78"/>
          <p:cNvSpPr txBox="1"/>
          <p:nvPr/>
        </p:nvSpPr>
        <p:spPr>
          <a:xfrm>
            <a:off x="4041648" y="4608576"/>
            <a:ext cx="1344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test verdict</a:t>
            </a:r>
            <a:endParaRPr lang="en-US" sz="900" dirty="0"/>
          </a:p>
        </p:txBody>
      </p:sp>
      <p:sp>
        <p:nvSpPr>
          <p:cNvPr id="118" name="Shape 79"/>
          <p:cNvSpPr/>
          <p:nvPr/>
        </p:nvSpPr>
        <p:spPr>
          <a:xfrm>
            <a:off x="5458968" y="3630168"/>
            <a:ext cx="0" cy="114300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19" name="Text 80"/>
          <p:cNvSpPr txBox="1"/>
          <p:nvPr/>
        </p:nvSpPr>
        <p:spPr>
          <a:xfrm>
            <a:off x="5568696" y="35844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ищется:</a:t>
            </a:r>
            <a:endParaRPr lang="en-US" sz="950" dirty="0"/>
          </a:p>
        </p:txBody>
      </p:sp>
      <p:sp>
        <p:nvSpPr>
          <p:cNvPr id="120" name="Shape 81"/>
          <p:cNvSpPr/>
          <p:nvPr/>
        </p:nvSpPr>
        <p:spPr>
          <a:xfrm>
            <a:off x="5577840" y="38377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1" name="Text 82"/>
          <p:cNvSpPr txBox="1"/>
          <p:nvPr/>
        </p:nvSpPr>
        <p:spPr>
          <a:xfrm>
            <a:off x="5705856" y="3785616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authentication failure</a:t>
            </a:r>
            <a:endParaRPr lang="en-US" sz="900" dirty="0"/>
          </a:p>
        </p:txBody>
      </p:sp>
      <p:sp>
        <p:nvSpPr>
          <p:cNvPr id="122" name="Shape 83"/>
          <p:cNvSpPr/>
          <p:nvPr/>
        </p:nvSpPr>
        <p:spPr>
          <a:xfrm>
            <a:off x="5577840" y="40023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3" name="Text 84"/>
          <p:cNvSpPr txBox="1"/>
          <p:nvPr/>
        </p:nvSpPr>
        <p:spPr>
          <a:xfrm>
            <a:off x="5705856" y="3950208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synch failure (SQN)</a:t>
            </a:r>
            <a:endParaRPr lang="en-US" sz="900" dirty="0"/>
          </a:p>
        </p:txBody>
      </p:sp>
      <p:sp>
        <p:nvSpPr>
          <p:cNvPr id="124" name="Shape 85"/>
          <p:cNvSpPr/>
          <p:nvPr/>
        </p:nvSpPr>
        <p:spPr>
          <a:xfrm>
            <a:off x="5577840" y="41669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5" name="Text 86"/>
          <p:cNvSpPr txBox="1"/>
          <p:nvPr/>
        </p:nvSpPr>
        <p:spPr>
          <a:xfrm>
            <a:off x="5705856" y="4114800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mismatch K / OPc</a:t>
            </a:r>
            <a:endParaRPr lang="en-US" sz="900" dirty="0"/>
          </a:p>
        </p:txBody>
      </p:sp>
      <p:sp>
        <p:nvSpPr>
          <p:cNvPr id="126" name="Shape 87"/>
          <p:cNvSpPr/>
          <p:nvPr/>
        </p:nvSpPr>
        <p:spPr>
          <a:xfrm>
            <a:off x="5577840" y="43315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7" name="Text 88"/>
          <p:cNvSpPr txBox="1"/>
          <p:nvPr/>
        </p:nvSpPr>
        <p:spPr>
          <a:xfrm>
            <a:off x="5705856" y="4279392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forbidden PLMN</a:t>
            </a:r>
            <a:endParaRPr lang="en-US" sz="900" dirty="0"/>
          </a:p>
        </p:txBody>
      </p:sp>
      <p:sp>
        <p:nvSpPr>
          <p:cNvPr id="128" name="Shape 89"/>
          <p:cNvSpPr/>
          <p:nvPr/>
        </p:nvSpPr>
        <p:spPr>
          <a:xfrm>
            <a:off x="5577840" y="44961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9" name="Text 90"/>
          <p:cNvSpPr txBox="1"/>
          <p:nvPr/>
        </p:nvSpPr>
        <p:spPr>
          <a:xfrm>
            <a:off x="5705856" y="4443984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roaming not allowed</a:t>
            </a:r>
            <a:endParaRPr lang="en-US" sz="900" dirty="0"/>
          </a:p>
        </p:txBody>
      </p:sp>
      <p:sp>
        <p:nvSpPr>
          <p:cNvPr id="130" name="Shape 91"/>
          <p:cNvSpPr/>
          <p:nvPr/>
        </p:nvSpPr>
        <p:spPr>
          <a:xfrm>
            <a:off x="6959956" y="38377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1" name="Text 92"/>
          <p:cNvSpPr txBox="1"/>
          <p:nvPr/>
        </p:nvSpPr>
        <p:spPr>
          <a:xfrm>
            <a:off x="7087972" y="3785616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unknown subscriber</a:t>
            </a:r>
            <a:endParaRPr lang="en-US" sz="900" dirty="0"/>
          </a:p>
        </p:txBody>
      </p:sp>
      <p:sp>
        <p:nvSpPr>
          <p:cNvPr id="132" name="Shape 93"/>
          <p:cNvSpPr/>
          <p:nvPr/>
        </p:nvSpPr>
        <p:spPr>
          <a:xfrm>
            <a:off x="6959956" y="40023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3" name="Text 94"/>
          <p:cNvSpPr txBox="1"/>
          <p:nvPr/>
        </p:nvSpPr>
        <p:spPr>
          <a:xfrm>
            <a:off x="7087972" y="3950208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not allowed</a:t>
            </a:r>
            <a:endParaRPr lang="en-US" sz="900" dirty="0"/>
          </a:p>
        </p:txBody>
      </p:sp>
      <p:sp>
        <p:nvSpPr>
          <p:cNvPr id="134" name="Shape 95"/>
          <p:cNvSpPr/>
          <p:nvPr/>
        </p:nvSpPr>
        <p:spPr>
          <a:xfrm>
            <a:off x="6959956" y="41669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5" name="Text 96"/>
          <p:cNvSpPr txBox="1"/>
          <p:nvPr/>
        </p:nvSpPr>
        <p:spPr>
          <a:xfrm>
            <a:off x="7087972" y="4114800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profile missing</a:t>
            </a:r>
            <a:endParaRPr lang="en-US" sz="900" dirty="0"/>
          </a:p>
        </p:txBody>
      </p:sp>
      <p:sp>
        <p:nvSpPr>
          <p:cNvPr id="136" name="Shape 97"/>
          <p:cNvSpPr/>
          <p:nvPr/>
        </p:nvSpPr>
        <p:spPr>
          <a:xfrm>
            <a:off x="6959956" y="43315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7" name="Text 98"/>
          <p:cNvSpPr txBox="1"/>
          <p:nvPr/>
        </p:nvSpPr>
        <p:spPr>
          <a:xfrm>
            <a:off x="7087972" y="4279392"/>
            <a:ext cx="12449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eSIM profile inactive</a:t>
            </a:r>
            <a:endParaRPr lang="en-US" sz="900" dirty="0"/>
          </a:p>
        </p:txBody>
      </p:sp>
      <p:sp>
        <p:nvSpPr>
          <p:cNvPr id="138" name="Shape 99"/>
          <p:cNvSpPr/>
          <p:nvPr/>
        </p:nvSpPr>
        <p:spPr>
          <a:xfrm>
            <a:off x="6959956" y="44961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9" name="Text 100"/>
          <p:cNvSpPr txBox="1"/>
          <p:nvPr/>
        </p:nvSpPr>
        <p:spPr>
          <a:xfrm>
            <a:off x="7087972" y="4443984"/>
            <a:ext cx="1244956" cy="294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wrong service permissions</a:t>
            </a:r>
            <a:endParaRPr lang="en-US" sz="900" dirty="0"/>
          </a:p>
        </p:txBody>
      </p:sp>
      <p:sp>
        <p:nvSpPr>
          <p:cNvPr id="140" name="Shape 101"/>
          <p:cNvSpPr/>
          <p:nvPr/>
        </p:nvSpPr>
        <p:spPr>
          <a:xfrm>
            <a:off x="274320" y="4992624"/>
            <a:ext cx="11643055" cy="1060704"/>
          </a:xfrm>
          <a:prstGeom prst="roundRect">
            <a:avLst>
              <a:gd name="adj" fmla="val 6897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41" name="Text 102"/>
          <p:cNvSpPr txBox="1"/>
          <p:nvPr/>
        </p:nvSpPr>
        <p:spPr>
          <a:xfrm>
            <a:off x="274320" y="5029200"/>
            <a:ext cx="116430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чаще маскируется под проблему сети</a:t>
            </a:r>
            <a:endParaRPr lang="en-US" sz="1250" dirty="0"/>
          </a:p>
        </p:txBody>
      </p:sp>
      <p:pic>
        <p:nvPicPr>
          <p:cNvPr id="142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22960" y="5303520"/>
            <a:ext cx="182880" cy="182880"/>
          </a:xfrm>
          <a:prstGeom prst="rect">
            <a:avLst/>
          </a:prstGeom>
        </p:spPr>
      </p:pic>
      <p:sp>
        <p:nvSpPr>
          <p:cNvPr id="143" name="Text 103"/>
          <p:cNvSpPr txBox="1"/>
          <p:nvPr/>
        </p:nvSpPr>
        <p:spPr>
          <a:xfrm>
            <a:off x="1097280" y="53035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не регистрируется</a:t>
            </a:r>
            <a:endParaRPr lang="en-US" sz="1000" dirty="0"/>
          </a:p>
        </p:txBody>
      </p:sp>
      <p:pic>
        <p:nvPicPr>
          <p:cNvPr id="144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22960" y="5486400"/>
            <a:ext cx="182880" cy="182880"/>
          </a:xfrm>
          <a:prstGeom prst="rect">
            <a:avLst/>
          </a:prstGeom>
        </p:spPr>
      </p:pic>
      <p:sp>
        <p:nvSpPr>
          <p:cNvPr id="145" name="Text 104"/>
          <p:cNvSpPr txBox="1"/>
          <p:nvPr/>
        </p:nvSpPr>
        <p:spPr>
          <a:xfrm>
            <a:off x="1097280" y="548640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 не проходит</a:t>
            </a:r>
            <a:endParaRPr lang="en-US" sz="1000" dirty="0"/>
          </a:p>
        </p:txBody>
      </p:sp>
      <p:pic>
        <p:nvPicPr>
          <p:cNvPr id="146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22960" y="5669280"/>
            <a:ext cx="182880" cy="182880"/>
          </a:xfrm>
          <a:prstGeom prst="rect">
            <a:avLst/>
          </a:prstGeom>
        </p:spPr>
      </p:pic>
      <p:sp>
        <p:nvSpPr>
          <p:cNvPr id="147" name="Text 105"/>
          <p:cNvSpPr txBox="1"/>
          <p:nvPr/>
        </p:nvSpPr>
        <p:spPr>
          <a:xfrm>
            <a:off x="1097280" y="566928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 отклоняется</a:t>
            </a:r>
            <a:endParaRPr lang="en-US" sz="1000" dirty="0"/>
          </a:p>
        </p:txBody>
      </p:sp>
      <p:pic>
        <p:nvPicPr>
          <p:cNvPr id="148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22960" y="5852160"/>
            <a:ext cx="182880" cy="182880"/>
          </a:xfrm>
          <a:prstGeom prst="rect">
            <a:avLst/>
          </a:prstGeom>
        </p:spPr>
      </p:pic>
      <p:sp>
        <p:nvSpPr>
          <p:cNvPr id="149" name="Text 106"/>
          <p:cNvSpPr txBox="1"/>
          <p:nvPr/>
        </p:nvSpPr>
        <p:spPr>
          <a:xfrm>
            <a:off x="1097280" y="58521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роуминг не работает</a:t>
            </a:r>
            <a:endParaRPr lang="en-US" sz="1000" dirty="0"/>
          </a:p>
        </p:txBody>
      </p:sp>
      <p:sp>
        <p:nvSpPr>
          <p:cNvPr id="150" name="Shape 107"/>
          <p:cNvSpPr/>
          <p:nvPr/>
        </p:nvSpPr>
        <p:spPr>
          <a:xfrm>
            <a:off x="6095848" y="5340096"/>
            <a:ext cx="0" cy="621792"/>
          </a:xfrm>
          <a:prstGeom prst="line">
            <a:avLst/>
          </a:prstGeom>
          <a:noFill/>
          <a:ln w="9525">
            <a:solidFill>
              <a:srgbClr val="7F7BEC"/>
            </a:solidFill>
            <a:prstDash val="dash"/>
          </a:ln>
        </p:spPr>
      </p:sp>
      <p:pic>
        <p:nvPicPr>
          <p:cNvPr id="151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370168" y="5303520"/>
            <a:ext cx="182880" cy="182880"/>
          </a:xfrm>
          <a:prstGeom prst="rect">
            <a:avLst/>
          </a:prstGeom>
        </p:spPr>
      </p:pic>
      <p:sp>
        <p:nvSpPr>
          <p:cNvPr id="152" name="Text 108"/>
          <p:cNvSpPr txBox="1"/>
          <p:nvPr/>
        </p:nvSpPr>
        <p:spPr>
          <a:xfrm>
            <a:off x="6644488" y="530352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IMS / VoLTE / VoNR не регистрируется</a:t>
            </a:r>
            <a:endParaRPr lang="en-US" sz="1000" dirty="0"/>
          </a:p>
        </p:txBody>
      </p:sp>
      <p:pic>
        <p:nvPicPr>
          <p:cNvPr id="153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6370168" y="5486400"/>
            <a:ext cx="182880" cy="182880"/>
          </a:xfrm>
          <a:prstGeom prst="rect">
            <a:avLst/>
          </a:prstGeom>
        </p:spPr>
      </p:pic>
      <p:sp>
        <p:nvSpPr>
          <p:cNvPr id="154" name="Text 109"/>
          <p:cNvSpPr txBox="1"/>
          <p:nvPr/>
        </p:nvSpPr>
        <p:spPr>
          <a:xfrm>
            <a:off x="6644488" y="548640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DNN / APN недоступен</a:t>
            </a:r>
            <a:endParaRPr lang="en-US" sz="1000" dirty="0"/>
          </a:p>
        </p:txBody>
      </p:sp>
      <p:pic>
        <p:nvPicPr>
          <p:cNvPr id="155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370168" y="5669280"/>
            <a:ext cx="182880" cy="182880"/>
          </a:xfrm>
          <a:prstGeom prst="rect">
            <a:avLst/>
          </a:prstGeom>
        </p:spPr>
      </p:pic>
      <p:sp>
        <p:nvSpPr>
          <p:cNvPr id="156" name="Text 110"/>
          <p:cNvSpPr txBox="1"/>
          <p:nvPr/>
        </p:nvSpPr>
        <p:spPr>
          <a:xfrm>
            <a:off x="6644488" y="566928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сервис запрещён профилем подписки</a:t>
            </a:r>
            <a:endParaRPr lang="en-US" sz="1000" dirty="0"/>
          </a:p>
        </p:txBody>
      </p:sp>
      <p:pic>
        <p:nvPicPr>
          <p:cNvPr id="157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6370168" y="5852160"/>
            <a:ext cx="182880" cy="182880"/>
          </a:xfrm>
          <a:prstGeom prst="rect">
            <a:avLst/>
          </a:prstGeom>
        </p:spPr>
      </p:pic>
      <p:sp>
        <p:nvSpPr>
          <p:cNvPr id="158" name="Text 111"/>
          <p:cNvSpPr txBox="1"/>
          <p:nvPr/>
        </p:nvSpPr>
        <p:spPr>
          <a:xfrm>
            <a:off x="6644488" y="5852160"/>
            <a:ext cx="5090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выглядит как Core issue, но причина в SIM / USIM / eSIM profile</a:t>
            </a:r>
            <a:endParaRPr lang="en-US" sz="1000" dirty="0"/>
          </a:p>
        </p:txBody>
      </p:sp>
      <p:sp>
        <p:nvSpPr>
          <p:cNvPr id="159" name="Shape 112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60" name="Image 45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61" name="Text 113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Часть «сетевых» отказов начинается в SIM: карту и профиль проверяют отдельно, а затем — в сетевом сценарии с протокольной трассой.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RF-тестирование UE: передатчик, приёмник и радиочувствительность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1097280" cy="4572000"/>
          </a:xfrm>
          <a:prstGeom prst="roundRect">
            <a:avLst>
              <a:gd name="adj" fmla="val 8333"/>
            </a:avLst>
          </a:prstGeom>
          <a:solidFill>
            <a:srgbClr val="534EE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161288"/>
            <a:ext cx="585216" cy="585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74320" y="18470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221284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393192" y="3124505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21208" y="2990088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TX-тракт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93192" y="3453689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21208" y="3319272"/>
            <a:ext cx="804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RX-тракт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93192" y="3782873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1208" y="3648456"/>
            <a:ext cx="804672" cy="480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РЧ фронт-энд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93192" y="4263756"/>
            <a:ext cx="59436" cy="594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1208" y="4129339"/>
            <a:ext cx="804672" cy="4808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антенная система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389888" y="2944368"/>
            <a:ext cx="128016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536192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645920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645920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057400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Проводной RF-базис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45920" y="1161288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устройств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1655064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783080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колбокс / тестовая RF-платформа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1655064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783080" y="1536192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векторный генератор и анализатор сигналов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655064" y="190387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783080" y="1847179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аттенюаторы, ответвители, RF-коммутатор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1655064" y="22148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783080" y="215816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калиброванный кабельный тракт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645920" y="2377623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1655064" y="263548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783080" y="2578791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изолировать собственный TX/RX-тракт UE без влияния антенны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1655064" y="294647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783080" y="2889778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получить эталонную проводную картину перед усложнением канала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1645920" y="3246486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655064" y="350434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783080" y="3447654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мощность TX, EVM, ACLR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1655064" y="367808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783080" y="3621390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спектральная маска, частотная ошибка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1655064" y="398907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783080" y="393237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проводная чувствительность RX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1655064" y="416280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783080" y="4106113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 в идеальном канале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1655064" y="433654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1783080" y="4279849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блокирование / избирательность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1609344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682496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уже в проводной постановке → TX/RX-тракт, РЧ фронт-энд, базовая обработка, калибровка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058336" y="914400"/>
            <a:ext cx="914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4158920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268648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268648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4680128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радиоканала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4268648" y="1161288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устройств</a:t>
            </a:r>
            <a:endParaRPr lang="en-US" sz="1000" dirty="0"/>
          </a:p>
        </p:txBody>
      </p:sp>
      <p:sp>
        <p:nvSpPr>
          <p:cNvPr id="53" name="Shape 50"/>
          <p:cNvSpPr/>
          <p:nvPr/>
        </p:nvSpPr>
        <p:spPr>
          <a:xfrm>
            <a:off x="4277792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405808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канала, MIMO-эмулятор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4277792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405808" y="153619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источник шума / помех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277792" y="17666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4405808" y="170992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колбокс / тестовая RF-платформа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4268648" y="1929384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4277792" y="21872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405808" y="2130552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проверить UE в воспроизводимом канале, а не в идеальном кабеле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4277792" y="24982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4405808" y="2441539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моделировать замирания, Doppler, многолучевость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4268648" y="2798247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4277792" y="30561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4405808" y="299941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чувствительность RX при замираниях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4277792" y="336709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4405808" y="331040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 в моделях канала TDL / CDL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4277792" y="354083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4405808" y="348413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робастность MIMO, влияние Doppler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4277792" y="371456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4405808" y="3657874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к многолучевости и помехам</a:t>
            </a:r>
            <a:endParaRPr lang="en-US" sz="950" dirty="0"/>
          </a:p>
        </p:txBody>
      </p:sp>
      <p:sp>
        <p:nvSpPr>
          <p:cNvPr id="73" name="Shape 70"/>
          <p:cNvSpPr/>
          <p:nvPr/>
        </p:nvSpPr>
        <p:spPr>
          <a:xfrm>
            <a:off x="4277792" y="402555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4405808" y="3968862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стабильность у порога чувствительности</a:t>
            </a:r>
            <a:endParaRPr lang="en-US" sz="950" dirty="0"/>
          </a:p>
        </p:txBody>
      </p:sp>
      <p:sp>
        <p:nvSpPr>
          <p:cNvPr id="75" name="Shape 72"/>
          <p:cNvSpPr/>
          <p:nvPr/>
        </p:nvSpPr>
        <p:spPr>
          <a:xfrm>
            <a:off x="4232072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4305224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только с эмулятором канала → эквализация, оценка канала, MIMO, робастность к Doppler / замираниям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6681064" y="914400"/>
            <a:ext cx="914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8" name="Shape 75"/>
          <p:cNvSpPr/>
          <p:nvPr/>
        </p:nvSpPr>
        <p:spPr>
          <a:xfrm>
            <a:off x="6781648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891376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6891376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7302856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Проверка антенны и OTA</a:t>
            </a:r>
            <a:endParaRPr lang="en-US" sz="1100" dirty="0"/>
          </a:p>
        </p:txBody>
      </p:sp>
      <p:sp>
        <p:nvSpPr>
          <p:cNvPr id="82" name="Text 79"/>
          <p:cNvSpPr txBox="1"/>
          <p:nvPr/>
        </p:nvSpPr>
        <p:spPr>
          <a:xfrm>
            <a:off x="6891376" y="1161288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устройств</a:t>
            </a:r>
            <a:endParaRPr lang="en-US" sz="1000" dirty="0"/>
          </a:p>
        </p:txBody>
      </p:sp>
      <p:sp>
        <p:nvSpPr>
          <p:cNvPr id="83" name="Shape 80"/>
          <p:cNvSpPr/>
          <p:nvPr/>
        </p:nvSpPr>
        <p:spPr>
          <a:xfrm>
            <a:off x="6900520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7028536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экранированный бокс / RF-камера</a:t>
            </a:r>
            <a:endParaRPr lang="en-US" sz="950" dirty="0"/>
          </a:p>
        </p:txBody>
      </p:sp>
      <p:sp>
        <p:nvSpPr>
          <p:cNvPr id="85" name="Shape 82"/>
          <p:cNvSpPr/>
          <p:nvPr/>
        </p:nvSpPr>
        <p:spPr>
          <a:xfrm>
            <a:off x="6900520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7028536" y="153619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безэховая OTA-камера, CATR-камера</a:t>
            </a:r>
            <a:endParaRPr lang="en-US" sz="950" dirty="0"/>
          </a:p>
        </p:txBody>
      </p:sp>
      <p:sp>
        <p:nvSpPr>
          <p:cNvPr id="87" name="Shape 84"/>
          <p:cNvSpPr/>
          <p:nvPr/>
        </p:nvSpPr>
        <p:spPr>
          <a:xfrm>
            <a:off x="6900520" y="17666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7028536" y="170992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тестовые антенны, позиционер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6900520" y="19403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7028536" y="1883664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преобразователи FR2</a:t>
            </a:r>
            <a:endParaRPr lang="en-US" sz="950" dirty="0"/>
          </a:p>
        </p:txBody>
      </p:sp>
      <p:sp>
        <p:nvSpPr>
          <p:cNvPr id="91" name="Text 88"/>
          <p:cNvSpPr txBox="1"/>
          <p:nvPr/>
        </p:nvSpPr>
        <p:spPr>
          <a:xfrm>
            <a:off x="6891376" y="2103120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92" name="Shape 89"/>
          <p:cNvSpPr/>
          <p:nvPr/>
        </p:nvSpPr>
        <p:spPr>
          <a:xfrm>
            <a:off x="6900520" y="23609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028536" y="2304288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оценить UE с реальной антенной, корпусом и ориентацией</a:t>
            </a:r>
            <a:endParaRPr lang="en-US" sz="950" dirty="0"/>
          </a:p>
        </p:txBody>
      </p:sp>
      <p:sp>
        <p:nvSpPr>
          <p:cNvPr id="94" name="Shape 91"/>
          <p:cNvSpPr/>
          <p:nvPr/>
        </p:nvSpPr>
        <p:spPr>
          <a:xfrm>
            <a:off x="6900520" y="267196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7028536" y="261527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для FR2 / mmWave — излучение и поведение луча</a:t>
            </a:r>
            <a:endParaRPr lang="en-US" sz="950" dirty="0"/>
          </a:p>
        </p:txBody>
      </p:sp>
      <p:sp>
        <p:nvSpPr>
          <p:cNvPr id="96" name="Text 93"/>
          <p:cNvSpPr txBox="1"/>
          <p:nvPr/>
        </p:nvSpPr>
        <p:spPr>
          <a:xfrm>
            <a:off x="6891376" y="2971983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97" name="Shape 94"/>
          <p:cNvSpPr/>
          <p:nvPr/>
        </p:nvSpPr>
        <p:spPr>
          <a:xfrm>
            <a:off x="6900520" y="3229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7028536" y="3173151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TRP, TIS</a:t>
            </a:r>
            <a:endParaRPr lang="en-US" sz="950" dirty="0"/>
          </a:p>
        </p:txBody>
      </p:sp>
      <p:sp>
        <p:nvSpPr>
          <p:cNvPr id="99" name="Shape 96"/>
          <p:cNvSpPr/>
          <p:nvPr/>
        </p:nvSpPr>
        <p:spPr>
          <a:xfrm>
            <a:off x="6900520" y="3403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028536" y="334688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излучаемая чувствительность RX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6900520" y="35773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7028536" y="3520623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антенная эффективность</a:t>
            </a:r>
            <a:endParaRPr lang="en-US" sz="950" dirty="0"/>
          </a:p>
        </p:txBody>
      </p:sp>
      <p:sp>
        <p:nvSpPr>
          <p:cNvPr id="103" name="Shape 100"/>
          <p:cNvSpPr/>
          <p:nvPr/>
        </p:nvSpPr>
        <p:spPr>
          <a:xfrm>
            <a:off x="6900520" y="37510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028536" y="3694359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зависимость от ориентации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6900520" y="392478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7028536" y="3868095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луча в FR2 / mmWave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6900520" y="40985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028536" y="4041831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desense от соседних узлов устройства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6854800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927952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Ошибка только в OTA → антенна, ориентация, поведение луча, влияние корпуса, desense</a:t>
            </a:r>
            <a:endParaRPr lang="en-US" sz="900" dirty="0"/>
          </a:p>
        </p:txBody>
      </p:sp>
      <p:sp>
        <p:nvSpPr>
          <p:cNvPr id="111" name="Shape 108"/>
          <p:cNvSpPr/>
          <p:nvPr/>
        </p:nvSpPr>
        <p:spPr>
          <a:xfrm>
            <a:off x="9303791" y="914400"/>
            <a:ext cx="91440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2" name="Shape 109"/>
          <p:cNvSpPr/>
          <p:nvPr/>
        </p:nvSpPr>
        <p:spPr>
          <a:xfrm>
            <a:off x="9404375" y="658368"/>
            <a:ext cx="2513000" cy="4572000"/>
          </a:xfrm>
          <a:prstGeom prst="roundRect">
            <a:avLst>
              <a:gd name="adj" fmla="val 2911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9514103" y="749808"/>
            <a:ext cx="329184" cy="329184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4" name="Text 111"/>
          <p:cNvSpPr txBox="1"/>
          <p:nvPr/>
        </p:nvSpPr>
        <p:spPr>
          <a:xfrm>
            <a:off x="9514103" y="749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</a:t>
            </a:r>
            <a:endParaRPr lang="en-US" sz="1300" dirty="0"/>
          </a:p>
        </p:txBody>
      </p:sp>
      <p:sp>
        <p:nvSpPr>
          <p:cNvPr id="115" name="Text 112"/>
          <p:cNvSpPr txBox="1"/>
          <p:nvPr/>
        </p:nvSpPr>
        <p:spPr>
          <a:xfrm>
            <a:off x="9925583" y="713232"/>
            <a:ext cx="1900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WaveJudge: первопричина на уровне PHY</a:t>
            </a:r>
            <a:endParaRPr lang="en-US" sz="1100" dirty="0"/>
          </a:p>
        </p:txBody>
      </p:sp>
      <p:sp>
        <p:nvSpPr>
          <p:cNvPr id="116" name="Text 113"/>
          <p:cNvSpPr txBox="1"/>
          <p:nvPr/>
        </p:nvSpPr>
        <p:spPr>
          <a:xfrm>
            <a:off x="9514103" y="1161288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инструментов</a:t>
            </a:r>
            <a:endParaRPr lang="en-US" sz="1000" dirty="0"/>
          </a:p>
        </p:txBody>
      </p:sp>
      <p:sp>
        <p:nvSpPr>
          <p:cNvPr id="117" name="Shape 114"/>
          <p:cNvSpPr/>
          <p:nvPr/>
        </p:nvSpPr>
        <p:spPr>
          <a:xfrm>
            <a:off x="9523247" y="14191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9651263" y="1362456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 IQ-захвата</a:t>
            </a:r>
            <a:endParaRPr lang="en-US" sz="950" dirty="0"/>
          </a:p>
        </p:txBody>
      </p:sp>
      <p:sp>
        <p:nvSpPr>
          <p:cNvPr id="119" name="Shape 116"/>
          <p:cNvSpPr/>
          <p:nvPr/>
        </p:nvSpPr>
        <p:spPr>
          <a:xfrm>
            <a:off x="9523247" y="15928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0" name="Text 117"/>
          <p:cNvSpPr txBox="1"/>
          <p:nvPr/>
        </p:nvSpPr>
        <p:spPr>
          <a:xfrm>
            <a:off x="9651263" y="1536192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PHY</a:t>
            </a:r>
            <a:endParaRPr lang="en-US" sz="950" dirty="0"/>
          </a:p>
        </p:txBody>
      </p:sp>
      <p:sp>
        <p:nvSpPr>
          <p:cNvPr id="121" name="Shape 118"/>
          <p:cNvSpPr/>
          <p:nvPr/>
        </p:nvSpPr>
        <p:spPr>
          <a:xfrm>
            <a:off x="9523247" y="17666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9651263" y="1709928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корреляция протокола и PHY</a:t>
            </a:r>
            <a:endParaRPr lang="en-US" sz="950" dirty="0"/>
          </a:p>
        </p:txBody>
      </p:sp>
      <p:sp>
        <p:nvSpPr>
          <p:cNvPr id="123" name="Shape 120"/>
          <p:cNvSpPr/>
          <p:nvPr/>
        </p:nvSpPr>
        <p:spPr>
          <a:xfrm>
            <a:off x="9523247" y="19403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9651263" y="1883664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 для постобработки</a:t>
            </a:r>
            <a:endParaRPr lang="en-US" sz="950" dirty="0"/>
          </a:p>
        </p:txBody>
      </p:sp>
      <p:sp>
        <p:nvSpPr>
          <p:cNvPr id="125" name="Text 122"/>
          <p:cNvSpPr txBox="1"/>
          <p:nvPr/>
        </p:nvSpPr>
        <p:spPr>
          <a:xfrm>
            <a:off x="9514103" y="2103120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Зачем нужен контур</a:t>
            </a:r>
            <a:endParaRPr lang="en-US" sz="1000" dirty="0"/>
          </a:p>
        </p:txBody>
      </p:sp>
      <p:sp>
        <p:nvSpPr>
          <p:cNvPr id="126" name="Shape 123"/>
          <p:cNvSpPr/>
          <p:nvPr/>
        </p:nvSpPr>
        <p:spPr>
          <a:xfrm>
            <a:off x="9523247" y="23609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7" name="Text 124"/>
          <p:cNvSpPr txBox="1"/>
          <p:nvPr/>
        </p:nvSpPr>
        <p:spPr>
          <a:xfrm>
            <a:off x="9651263" y="2304288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 заменяет приборы — работает после захвата данных</a:t>
            </a:r>
            <a:endParaRPr lang="en-US" sz="950" dirty="0"/>
          </a:p>
        </p:txBody>
      </p:sp>
      <p:sp>
        <p:nvSpPr>
          <p:cNvPr id="128" name="Shape 125"/>
          <p:cNvSpPr/>
          <p:nvPr/>
        </p:nvSpPr>
        <p:spPr>
          <a:xfrm>
            <a:off x="9523247" y="267196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9" name="Text 126"/>
          <p:cNvSpPr txBox="1"/>
          <p:nvPr/>
        </p:nvSpPr>
        <p:spPr>
          <a:xfrm>
            <a:off x="9651263" y="261527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связывает PHY-событие с поведением протокола</a:t>
            </a:r>
            <a:endParaRPr lang="en-US" sz="950" dirty="0"/>
          </a:p>
        </p:txBody>
      </p:sp>
      <p:sp>
        <p:nvSpPr>
          <p:cNvPr id="130" name="Text 127"/>
          <p:cNvSpPr txBox="1"/>
          <p:nvPr/>
        </p:nvSpPr>
        <p:spPr>
          <a:xfrm>
            <a:off x="9514103" y="2971983"/>
            <a:ext cx="231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анализируется</a:t>
            </a:r>
            <a:endParaRPr lang="en-US" sz="1000" dirty="0"/>
          </a:p>
        </p:txBody>
      </p:sp>
      <p:sp>
        <p:nvSpPr>
          <p:cNvPr id="131" name="Shape 128"/>
          <p:cNvSpPr/>
          <p:nvPr/>
        </p:nvSpPr>
        <p:spPr>
          <a:xfrm>
            <a:off x="9523247" y="3229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2" name="Text 129"/>
          <p:cNvSpPr txBox="1"/>
          <p:nvPr/>
        </p:nvSpPr>
        <p:spPr>
          <a:xfrm>
            <a:off x="9651263" y="3173151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IQ-захват, OFDM-символы</a:t>
            </a:r>
            <a:endParaRPr lang="en-US" sz="950" dirty="0"/>
          </a:p>
        </p:txBody>
      </p:sp>
      <p:sp>
        <p:nvSpPr>
          <p:cNvPr id="133" name="Shape 130"/>
          <p:cNvSpPr/>
          <p:nvPr/>
        </p:nvSpPr>
        <p:spPr>
          <a:xfrm>
            <a:off x="9523247" y="3403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9651263" y="3346887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ресурсная решётка, разложение EVM</a:t>
            </a:r>
            <a:endParaRPr lang="en-US" sz="950" dirty="0"/>
          </a:p>
        </p:txBody>
      </p:sp>
      <p:sp>
        <p:nvSpPr>
          <p:cNvPr id="135" name="Shape 132"/>
          <p:cNvSpPr/>
          <p:nvPr/>
        </p:nvSpPr>
        <p:spPr>
          <a:xfrm>
            <a:off x="9523247" y="35773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6" name="Text 133"/>
          <p:cNvSpPr txBox="1"/>
          <p:nvPr/>
        </p:nvSpPr>
        <p:spPr>
          <a:xfrm>
            <a:off x="9651263" y="3520623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временные события PHY</a:t>
            </a:r>
            <a:endParaRPr lang="en-US" sz="950" dirty="0"/>
          </a:p>
        </p:txBody>
      </p:sp>
      <p:sp>
        <p:nvSpPr>
          <p:cNvPr id="137" name="Shape 134"/>
          <p:cNvSpPr/>
          <p:nvPr/>
        </p:nvSpPr>
        <p:spPr>
          <a:xfrm>
            <a:off x="9523247" y="37510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8" name="Text 135"/>
          <p:cNvSpPr txBox="1"/>
          <p:nvPr/>
        </p:nvSpPr>
        <p:spPr>
          <a:xfrm>
            <a:off x="9651263" y="3694359"/>
            <a:ext cx="21746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 рядом с PHY-событиями</a:t>
            </a:r>
            <a:endParaRPr lang="en-US" sz="950" dirty="0"/>
          </a:p>
        </p:txBody>
      </p:sp>
      <p:sp>
        <p:nvSpPr>
          <p:cNvPr id="139" name="Shape 136"/>
          <p:cNvSpPr/>
          <p:nvPr/>
        </p:nvSpPr>
        <p:spPr>
          <a:xfrm>
            <a:off x="9523247" y="392478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0" name="Text 137"/>
          <p:cNvSpPr txBox="1"/>
          <p:nvPr/>
        </p:nvSpPr>
        <p:spPr>
          <a:xfrm>
            <a:off x="9651263" y="3868095"/>
            <a:ext cx="2174672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первопричина BLER / ошибок декодирования</a:t>
            </a:r>
            <a:endParaRPr lang="en-US" sz="950" dirty="0"/>
          </a:p>
        </p:txBody>
      </p:sp>
      <p:sp>
        <p:nvSpPr>
          <p:cNvPr id="141" name="Shape 138"/>
          <p:cNvSpPr/>
          <p:nvPr/>
        </p:nvSpPr>
        <p:spPr>
          <a:xfrm>
            <a:off x="9477527" y="4553712"/>
            <a:ext cx="2366696" cy="603504"/>
          </a:xfrm>
          <a:prstGeom prst="roundRect">
            <a:avLst>
              <a:gd name="adj" fmla="val 9091"/>
            </a:avLst>
          </a:prstGeom>
          <a:solidFill>
            <a:srgbClr val="EEEDFD"/>
          </a:solidFill>
          <a:ln/>
        </p:spPr>
      </p:sp>
      <p:sp>
        <p:nvSpPr>
          <p:cNvPr id="142" name="Text 139"/>
          <p:cNvSpPr txBox="1"/>
          <p:nvPr/>
        </p:nvSpPr>
        <p:spPr>
          <a:xfrm>
            <a:off x="9550679" y="4562856"/>
            <a:ext cx="2238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Причина неясна → WaveJudge покажет, где деградация: синхронизация, демодуляция, канал, тайминг, RF или UE</a:t>
            </a:r>
            <a:endParaRPr lang="en-US" sz="900" dirty="0"/>
          </a:p>
        </p:txBody>
      </p:sp>
      <p:sp>
        <p:nvSpPr>
          <p:cNvPr id="143" name="Shape 140"/>
          <p:cNvSpPr/>
          <p:nvPr/>
        </p:nvSpPr>
        <p:spPr>
          <a:xfrm>
            <a:off x="274320" y="5340096"/>
            <a:ext cx="11643055" cy="731520"/>
          </a:xfrm>
          <a:prstGeom prst="roundRect">
            <a:avLst>
              <a:gd name="adj" fmla="val 10000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513832"/>
            <a:ext cx="384048" cy="384048"/>
          </a:xfrm>
          <a:prstGeom prst="rect">
            <a:avLst/>
          </a:prstGeom>
        </p:spPr>
      </p:pic>
      <p:sp>
        <p:nvSpPr>
          <p:cNvPr id="145" name="Text 141"/>
          <p:cNvSpPr txBox="1"/>
          <p:nvPr/>
        </p:nvSpPr>
        <p:spPr>
          <a:xfrm>
            <a:off x="960120" y="538581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полноценного RF-теста</a:t>
            </a:r>
            <a:endParaRPr lang="en-US" sz="1250" dirty="0"/>
          </a:p>
        </p:txBody>
      </p:sp>
      <p:pic>
        <p:nvPicPr>
          <p:cNvPr id="14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5468112"/>
            <a:ext cx="164592" cy="164592"/>
          </a:xfrm>
          <a:prstGeom prst="rect">
            <a:avLst/>
          </a:prstGeom>
        </p:spPr>
      </p:pic>
      <p:sp>
        <p:nvSpPr>
          <p:cNvPr id="147" name="Text 142"/>
          <p:cNvSpPr txBox="1"/>
          <p:nvPr/>
        </p:nvSpPr>
        <p:spPr>
          <a:xfrm>
            <a:off x="2926080" y="5394960"/>
            <a:ext cx="192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измерен TX-тракт</a:t>
            </a:r>
            <a:endParaRPr lang="en-US" sz="1000" dirty="0"/>
          </a:p>
        </p:txBody>
      </p:sp>
      <p:pic>
        <p:nvPicPr>
          <p:cNvPr id="1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304" y="5468112"/>
            <a:ext cx="164592" cy="164592"/>
          </a:xfrm>
          <a:prstGeom prst="rect">
            <a:avLst/>
          </a:prstGeom>
        </p:spPr>
      </p:pic>
      <p:sp>
        <p:nvSpPr>
          <p:cNvPr id="149" name="Text 143"/>
          <p:cNvSpPr txBox="1"/>
          <p:nvPr/>
        </p:nvSpPr>
        <p:spPr>
          <a:xfrm>
            <a:off x="5219624" y="5394960"/>
            <a:ext cx="192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измерен RX-тракт</a:t>
            </a:r>
            <a:endParaRPr lang="en-US" sz="1000" dirty="0"/>
          </a:p>
        </p:txBody>
      </p:sp>
      <p:pic>
        <p:nvPicPr>
          <p:cNvPr id="15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8848" y="5468112"/>
            <a:ext cx="164592" cy="164592"/>
          </a:xfrm>
          <a:prstGeom prst="rect">
            <a:avLst/>
          </a:prstGeom>
        </p:spPr>
      </p:pic>
      <p:sp>
        <p:nvSpPr>
          <p:cNvPr id="151" name="Text 144"/>
          <p:cNvSpPr txBox="1"/>
          <p:nvPr/>
        </p:nvSpPr>
        <p:spPr>
          <a:xfrm>
            <a:off x="7513168" y="5394960"/>
            <a:ext cx="1927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проверена чувствительность</a:t>
            </a:r>
            <a:endParaRPr lang="en-US" sz="1000" dirty="0"/>
          </a:p>
        </p:txBody>
      </p:sp>
      <p:pic>
        <p:nvPicPr>
          <p:cNvPr id="15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2391" y="5468112"/>
            <a:ext cx="164592" cy="164592"/>
          </a:xfrm>
          <a:prstGeom prst="rect">
            <a:avLst/>
          </a:prstGeom>
        </p:spPr>
      </p:pic>
      <p:sp>
        <p:nvSpPr>
          <p:cNvPr id="153" name="Text 145"/>
          <p:cNvSpPr txBox="1"/>
          <p:nvPr/>
        </p:nvSpPr>
        <p:spPr>
          <a:xfrm>
            <a:off x="9806711" y="5394960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проверена устойчивость в реалистичном канале</a:t>
            </a:r>
            <a:endParaRPr lang="en-US" sz="1000" dirty="0"/>
          </a:p>
        </p:txBody>
      </p:sp>
      <p:pic>
        <p:nvPicPr>
          <p:cNvPr id="1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5779008"/>
            <a:ext cx="164592" cy="164592"/>
          </a:xfrm>
          <a:prstGeom prst="rect">
            <a:avLst/>
          </a:prstGeom>
        </p:spPr>
      </p:pic>
      <p:sp>
        <p:nvSpPr>
          <p:cNvPr id="155" name="Text 146"/>
          <p:cNvSpPr txBox="1"/>
          <p:nvPr/>
        </p:nvSpPr>
        <p:spPr>
          <a:xfrm>
            <a:off x="2926080" y="5705856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проверена антенная / OTA-часть</a:t>
            </a:r>
            <a:endParaRPr lang="en-US" sz="1000" dirty="0"/>
          </a:p>
        </p:txBody>
      </p:sp>
      <p:pic>
        <p:nvPicPr>
          <p:cNvPr id="1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45304" y="5779008"/>
            <a:ext cx="164592" cy="164592"/>
          </a:xfrm>
          <a:prstGeom prst="rect">
            <a:avLst/>
          </a:prstGeom>
        </p:spPr>
      </p:pic>
      <p:sp>
        <p:nvSpPr>
          <p:cNvPr id="157" name="Text 147"/>
          <p:cNvSpPr txBox="1"/>
          <p:nvPr/>
        </p:nvSpPr>
        <p:spPr>
          <a:xfrm>
            <a:off x="5219624" y="5705856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собраны данные IQ и трассировки</a:t>
            </a:r>
            <a:endParaRPr lang="en-US" sz="1000" dirty="0"/>
          </a:p>
        </p:txBody>
      </p:sp>
      <p:pic>
        <p:nvPicPr>
          <p:cNvPr id="15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8848" y="5779008"/>
            <a:ext cx="164592" cy="164592"/>
          </a:xfrm>
          <a:prstGeom prst="rect">
            <a:avLst/>
          </a:prstGeom>
        </p:spPr>
      </p:pic>
      <p:sp>
        <p:nvSpPr>
          <p:cNvPr id="159" name="Text 148"/>
          <p:cNvSpPr txBox="1"/>
          <p:nvPr/>
        </p:nvSpPr>
        <p:spPr>
          <a:xfrm>
            <a:off x="7513168" y="5705856"/>
            <a:ext cx="1927784" cy="455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локализована причина деградации</a:t>
            </a:r>
            <a:endParaRPr lang="en-US" sz="1000" dirty="0"/>
          </a:p>
        </p:txBody>
      </p:sp>
      <p:sp>
        <p:nvSpPr>
          <p:cNvPr id="160" name="Shape 149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6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62" name="Text 150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Полноценное RF-тестирование UE — не один прибор, а стенд: проводные измерения, эмуляция канала, OTA и WaveJudge-анализ для локализации причины деградации.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протоколов UE: NAS, RRC и процедуры сессии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297680" y="658368"/>
            <a:ext cx="3596335" cy="1024128"/>
          </a:xfrm>
          <a:prstGeom prst="roundRect">
            <a:avLst>
              <a:gd name="adj" fmla="val 8929"/>
            </a:avLst>
          </a:prstGeom>
          <a:solidFill>
            <a:srgbClr val="534EE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841248"/>
            <a:ext cx="640080" cy="640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394960" y="768096"/>
            <a:ext cx="23161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394960" y="1207008"/>
            <a:ext cx="23161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050792" y="1170432"/>
            <a:ext cx="219456" cy="0"/>
          </a:xfrm>
          <a:prstGeom prst="line">
            <a:avLst/>
          </a:prstGeom>
          <a:noFill/>
          <a:ln w="2540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7921447" y="1170432"/>
            <a:ext cx="219456" cy="0"/>
          </a:xfrm>
          <a:prstGeom prst="line">
            <a:avLst/>
          </a:prstGeom>
          <a:noFill/>
          <a:ln w="2540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572000" y="18288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01952"/>
            <a:ext cx="192024" cy="1920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0" y="18288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1. Установка RRC-соединения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95848" y="1700784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572000" y="22860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359152"/>
            <a:ext cx="192024" cy="1920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029200" y="22860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2. Регистрация NAS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095848" y="21671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4572000" y="27432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816352"/>
            <a:ext cx="192024" cy="19202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029200" y="27432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3. Аутентификация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095848" y="26243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4572000" y="32004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3273552"/>
            <a:ext cx="192024" cy="19202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029200" y="32004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4. Режим защиты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095848" y="30815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4572000" y="36576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3730752"/>
            <a:ext cx="192024" cy="19202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029200" y="36576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5. Создание PDU-сессии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095848" y="35387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4572000" y="4114800"/>
            <a:ext cx="3047695" cy="338328"/>
          </a:xfrm>
          <a:prstGeom prst="roundRect">
            <a:avLst>
              <a:gd name="adj" fmla="val 16216"/>
            </a:avLst>
          </a:prstGeom>
          <a:solidFill>
            <a:srgbClr val="FFF0E5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4187952"/>
            <a:ext cx="192024" cy="19202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029200" y="4114800"/>
            <a:ext cx="249905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6. Сессия активна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095848" y="3995928"/>
            <a:ext cx="0" cy="109728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33" name="Shape 24"/>
          <p:cNvSpPr/>
          <p:nvPr/>
        </p:nvSpPr>
        <p:spPr>
          <a:xfrm>
            <a:off x="274320" y="658368"/>
            <a:ext cx="3749040" cy="2651760"/>
          </a:xfrm>
          <a:prstGeom prst="roundRect">
            <a:avLst>
              <a:gd name="adj" fmla="val 2759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" y="768096"/>
            <a:ext cx="329184" cy="329184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8680" y="713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RAN и радиодоступа</a:t>
            </a:r>
            <a:endParaRPr lang="en-US" sz="1250" dirty="0"/>
          </a:p>
        </p:txBody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" y="1248156"/>
            <a:ext cx="182880" cy="18288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777240" y="12252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колбокс</a:t>
            </a:r>
            <a:endParaRPr lang="en-US" sz="1050" dirty="0"/>
          </a:p>
        </p:txBody>
      </p:sp>
      <p:pic>
        <p:nvPicPr>
          <p:cNvPr id="3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" y="1476756"/>
            <a:ext cx="182880" cy="18288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77240" y="1453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</a:t>
            </a:r>
            <a:endParaRPr lang="en-US" sz="1050" dirty="0"/>
          </a:p>
        </p:txBody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920" y="1705356"/>
            <a:ext cx="182880" cy="18288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777240" y="16824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протокольная тестовая платформа</a:t>
            </a:r>
            <a:endParaRPr lang="en-US" sz="1050" dirty="0"/>
          </a:p>
        </p:txBody>
      </p:sp>
      <p:pic>
        <p:nvPicPr>
          <p:cNvPr id="4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" y="1933956"/>
            <a:ext cx="182880" cy="182880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777240" y="19110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система сбора протокольной трассировки</a:t>
            </a:r>
            <a:endParaRPr lang="en-US" sz="1050" dirty="0"/>
          </a:p>
        </p:txBody>
      </p:sp>
      <p:sp>
        <p:nvSpPr>
          <p:cNvPr id="44" name="Shape 30"/>
          <p:cNvSpPr/>
          <p:nvPr/>
        </p:nvSpPr>
        <p:spPr>
          <a:xfrm>
            <a:off x="502920" y="2194560"/>
            <a:ext cx="32918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45" name="Shape 31"/>
          <p:cNvSpPr/>
          <p:nvPr/>
        </p:nvSpPr>
        <p:spPr>
          <a:xfrm>
            <a:off x="512064" y="23244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6" name="Text 32"/>
          <p:cNvSpPr txBox="1"/>
          <p:nvPr/>
        </p:nvSpPr>
        <p:spPr>
          <a:xfrm>
            <a:off x="640080" y="2258568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установка RRC-соединения</a:t>
            </a:r>
            <a:endParaRPr lang="en-US" sz="1000" dirty="0"/>
          </a:p>
        </p:txBody>
      </p:sp>
      <p:sp>
        <p:nvSpPr>
          <p:cNvPr id="47" name="Shape 33"/>
          <p:cNvSpPr/>
          <p:nvPr/>
        </p:nvSpPr>
        <p:spPr>
          <a:xfrm>
            <a:off x="512064" y="25164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8" name="Text 34"/>
          <p:cNvSpPr txBox="1"/>
          <p:nvPr/>
        </p:nvSpPr>
        <p:spPr>
          <a:xfrm>
            <a:off x="640080" y="2450592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перенастройка RRC</a:t>
            </a:r>
            <a:endParaRPr lang="en-US" sz="1000" dirty="0"/>
          </a:p>
        </p:txBody>
      </p:sp>
      <p:sp>
        <p:nvSpPr>
          <p:cNvPr id="49" name="Shape 35"/>
          <p:cNvSpPr/>
          <p:nvPr/>
        </p:nvSpPr>
        <p:spPr>
          <a:xfrm>
            <a:off x="512064" y="27084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0" name="Text 36"/>
          <p:cNvSpPr txBox="1"/>
          <p:nvPr/>
        </p:nvSpPr>
        <p:spPr>
          <a:xfrm>
            <a:off x="640080" y="2642616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настройка радиоканала передачи</a:t>
            </a:r>
            <a:endParaRPr lang="en-US" sz="1000" dirty="0"/>
          </a:p>
        </p:txBody>
      </p:sp>
      <p:sp>
        <p:nvSpPr>
          <p:cNvPr id="51" name="Shape 37"/>
          <p:cNvSpPr/>
          <p:nvPr/>
        </p:nvSpPr>
        <p:spPr>
          <a:xfrm>
            <a:off x="512064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2" name="Text 38"/>
          <p:cNvSpPr txBox="1"/>
          <p:nvPr/>
        </p:nvSpPr>
        <p:spPr>
          <a:xfrm>
            <a:off x="640080" y="2834640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управление измерениями</a:t>
            </a:r>
            <a:endParaRPr lang="en-US" sz="1000" dirty="0"/>
          </a:p>
        </p:txBody>
      </p:sp>
      <p:sp>
        <p:nvSpPr>
          <p:cNvPr id="53" name="Shape 39"/>
          <p:cNvSpPr/>
          <p:nvPr/>
        </p:nvSpPr>
        <p:spPr>
          <a:xfrm>
            <a:off x="512064" y="30925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4" name="Text 40"/>
          <p:cNvSpPr txBox="1"/>
          <p:nvPr/>
        </p:nvSpPr>
        <p:spPr>
          <a:xfrm>
            <a:off x="640080" y="3026664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сигнализация мобильности</a:t>
            </a:r>
            <a:endParaRPr lang="en-US" sz="1000" dirty="0"/>
          </a:p>
        </p:txBody>
      </p:sp>
      <p:sp>
        <p:nvSpPr>
          <p:cNvPr id="55" name="Shape 41"/>
          <p:cNvSpPr/>
          <p:nvPr/>
        </p:nvSpPr>
        <p:spPr>
          <a:xfrm>
            <a:off x="8168335" y="658368"/>
            <a:ext cx="3749040" cy="2651760"/>
          </a:xfrm>
          <a:prstGeom prst="roundRect">
            <a:avLst>
              <a:gd name="adj" fmla="val 2759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32927" y="768096"/>
            <a:ext cx="329184" cy="329184"/>
          </a:xfrm>
          <a:prstGeom prst="rect">
            <a:avLst/>
          </a:prstGeom>
        </p:spPr>
      </p:pic>
      <p:sp>
        <p:nvSpPr>
          <p:cNvPr id="57" name="Text 42"/>
          <p:cNvSpPr txBox="1"/>
          <p:nvPr/>
        </p:nvSpPr>
        <p:spPr>
          <a:xfrm>
            <a:off x="8762695" y="7132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ядра сети и среды NAS / управления сессией</a:t>
            </a:r>
            <a:endParaRPr lang="en-US" sz="1250" dirty="0"/>
          </a:p>
        </p:txBody>
      </p:sp>
      <p:pic>
        <p:nvPicPr>
          <p:cNvPr id="5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96935" y="1248156"/>
            <a:ext cx="182880" cy="18288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8671255" y="12252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ядра сети</a:t>
            </a:r>
            <a:endParaRPr lang="en-US" sz="1050" dirty="0"/>
          </a:p>
        </p:txBody>
      </p:sp>
      <p:pic>
        <p:nvPicPr>
          <p:cNvPr id="60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96935" y="1476756"/>
            <a:ext cx="182880" cy="182880"/>
          </a:xfrm>
          <a:prstGeom prst="rect">
            <a:avLst/>
          </a:prstGeom>
        </p:spPr>
      </p:pic>
      <p:sp>
        <p:nvSpPr>
          <p:cNvPr id="61" name="Text 44"/>
          <p:cNvSpPr txBox="1"/>
          <p:nvPr/>
        </p:nvSpPr>
        <p:spPr>
          <a:xfrm>
            <a:off x="8671255" y="14538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симулятор сигнализации NAS</a:t>
            </a:r>
            <a:endParaRPr lang="en-US" sz="1050" dirty="0"/>
          </a:p>
        </p:txBody>
      </p:sp>
      <p:pic>
        <p:nvPicPr>
          <p:cNvPr id="6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96935" y="1705356"/>
            <a:ext cx="182880" cy="182880"/>
          </a:xfrm>
          <a:prstGeom prst="rect">
            <a:avLst/>
          </a:prstGeom>
        </p:spPr>
      </p:pic>
      <p:sp>
        <p:nvSpPr>
          <p:cNvPr id="63" name="Text 45"/>
          <p:cNvSpPr txBox="1"/>
          <p:nvPr/>
        </p:nvSpPr>
        <p:spPr>
          <a:xfrm>
            <a:off x="8671255" y="16824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платформа тестирования управления сессией</a:t>
            </a:r>
            <a:endParaRPr lang="en-US" sz="1050" dirty="0"/>
          </a:p>
        </p:txBody>
      </p:sp>
      <p:pic>
        <p:nvPicPr>
          <p:cNvPr id="6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6935" y="1933956"/>
            <a:ext cx="182880" cy="182880"/>
          </a:xfrm>
          <a:prstGeom prst="rect">
            <a:avLst/>
          </a:prstGeom>
        </p:spPr>
      </p:pic>
      <p:sp>
        <p:nvSpPr>
          <p:cNvPr id="65" name="Text 46"/>
          <p:cNvSpPr txBox="1"/>
          <p:nvPr/>
        </p:nvSpPr>
        <p:spPr>
          <a:xfrm>
            <a:off x="8671255" y="191109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система анализа сигнализации</a:t>
            </a:r>
            <a:endParaRPr lang="en-US" sz="1050" dirty="0"/>
          </a:p>
        </p:txBody>
      </p:sp>
      <p:sp>
        <p:nvSpPr>
          <p:cNvPr id="66" name="Shape 47"/>
          <p:cNvSpPr/>
          <p:nvPr/>
        </p:nvSpPr>
        <p:spPr>
          <a:xfrm>
            <a:off x="8396935" y="2194560"/>
            <a:ext cx="32918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67" name="Shape 48"/>
          <p:cNvSpPr/>
          <p:nvPr/>
        </p:nvSpPr>
        <p:spPr>
          <a:xfrm>
            <a:off x="8406079" y="23244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49"/>
          <p:cNvSpPr txBox="1"/>
          <p:nvPr/>
        </p:nvSpPr>
        <p:spPr>
          <a:xfrm>
            <a:off x="8534095" y="2258568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регистрация</a:t>
            </a:r>
            <a:endParaRPr lang="en-US" sz="1000" dirty="0"/>
          </a:p>
        </p:txBody>
      </p:sp>
      <p:sp>
        <p:nvSpPr>
          <p:cNvPr id="69" name="Shape 50"/>
          <p:cNvSpPr/>
          <p:nvPr/>
        </p:nvSpPr>
        <p:spPr>
          <a:xfrm>
            <a:off x="8406079" y="25164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51"/>
          <p:cNvSpPr txBox="1"/>
          <p:nvPr/>
        </p:nvSpPr>
        <p:spPr>
          <a:xfrm>
            <a:off x="8534095" y="2450592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аутентификация</a:t>
            </a:r>
            <a:endParaRPr lang="en-US" sz="1000" dirty="0"/>
          </a:p>
        </p:txBody>
      </p:sp>
      <p:sp>
        <p:nvSpPr>
          <p:cNvPr id="71" name="Shape 52"/>
          <p:cNvSpPr/>
          <p:nvPr/>
        </p:nvSpPr>
        <p:spPr>
          <a:xfrm>
            <a:off x="8406079" y="27084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53"/>
          <p:cNvSpPr txBox="1"/>
          <p:nvPr/>
        </p:nvSpPr>
        <p:spPr>
          <a:xfrm>
            <a:off x="8534095" y="2642616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режим защиты</a:t>
            </a:r>
            <a:endParaRPr lang="en-US" sz="1000" dirty="0"/>
          </a:p>
        </p:txBody>
      </p:sp>
      <p:sp>
        <p:nvSpPr>
          <p:cNvPr id="73" name="Shape 54"/>
          <p:cNvSpPr/>
          <p:nvPr/>
        </p:nvSpPr>
        <p:spPr>
          <a:xfrm>
            <a:off x="8406079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55"/>
          <p:cNvSpPr txBox="1"/>
          <p:nvPr/>
        </p:nvSpPr>
        <p:spPr>
          <a:xfrm>
            <a:off x="8534095" y="2834640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создание PDU-сессии</a:t>
            </a:r>
            <a:endParaRPr lang="en-US" sz="1000" dirty="0"/>
          </a:p>
        </p:txBody>
      </p:sp>
      <p:sp>
        <p:nvSpPr>
          <p:cNvPr id="75" name="Shape 56"/>
          <p:cNvSpPr/>
          <p:nvPr/>
        </p:nvSpPr>
        <p:spPr>
          <a:xfrm>
            <a:off x="8406079" y="30925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6" name="Text 57"/>
          <p:cNvSpPr txBox="1"/>
          <p:nvPr/>
        </p:nvSpPr>
        <p:spPr>
          <a:xfrm>
            <a:off x="8534095" y="3026664"/>
            <a:ext cx="3246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QoS / DNN / контекст сессии</a:t>
            </a:r>
            <a:endParaRPr lang="en-US" sz="1000" dirty="0"/>
          </a:p>
        </p:txBody>
      </p:sp>
      <p:sp>
        <p:nvSpPr>
          <p:cNvPr id="77" name="Shape 58"/>
          <p:cNvSpPr/>
          <p:nvPr/>
        </p:nvSpPr>
        <p:spPr>
          <a:xfrm>
            <a:off x="274320" y="3419856"/>
            <a:ext cx="3749040" cy="1517904"/>
          </a:xfrm>
          <a:prstGeom prst="roundRect">
            <a:avLst>
              <a:gd name="adj" fmla="val 4819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7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8912" y="3511296"/>
            <a:ext cx="274320" cy="274320"/>
          </a:xfrm>
          <a:prstGeom prst="rect">
            <a:avLst/>
          </a:prstGeom>
        </p:spPr>
      </p:pic>
      <p:sp>
        <p:nvSpPr>
          <p:cNvPr id="79" name="Text 59"/>
          <p:cNvSpPr txBox="1"/>
          <p:nvPr/>
        </p:nvSpPr>
        <p:spPr>
          <a:xfrm>
            <a:off x="822960" y="34655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 в RRC</a:t>
            </a:r>
            <a:endParaRPr lang="en-US" sz="1250" dirty="0"/>
          </a:p>
        </p:txBody>
      </p:sp>
      <p:sp>
        <p:nvSpPr>
          <p:cNvPr id="80" name="Shape 60"/>
          <p:cNvSpPr/>
          <p:nvPr/>
        </p:nvSpPr>
        <p:spPr>
          <a:xfrm>
            <a:off x="512064" y="3933749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1" name="Text 61"/>
          <p:cNvSpPr txBox="1"/>
          <p:nvPr/>
        </p:nvSpPr>
        <p:spPr>
          <a:xfrm>
            <a:off x="640080" y="3877056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порядок сообщений</a:t>
            </a:r>
            <a:endParaRPr lang="en-US" sz="1000" dirty="0"/>
          </a:p>
        </p:txBody>
      </p:sp>
      <p:sp>
        <p:nvSpPr>
          <p:cNvPr id="82" name="Shape 62"/>
          <p:cNvSpPr/>
          <p:nvPr/>
        </p:nvSpPr>
        <p:spPr>
          <a:xfrm>
            <a:off x="512064" y="4107485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3" name="Text 63"/>
          <p:cNvSpPr txBox="1"/>
          <p:nvPr/>
        </p:nvSpPr>
        <p:spPr>
          <a:xfrm>
            <a:off x="640080" y="4050792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таймеры</a:t>
            </a:r>
            <a:endParaRPr lang="en-US" sz="1000" dirty="0"/>
          </a:p>
        </p:txBody>
      </p:sp>
      <p:sp>
        <p:nvSpPr>
          <p:cNvPr id="84" name="Shape 64"/>
          <p:cNvSpPr/>
          <p:nvPr/>
        </p:nvSpPr>
        <p:spPr>
          <a:xfrm>
            <a:off x="512064" y="428122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5" name="Text 65"/>
          <p:cNvSpPr txBox="1"/>
          <p:nvPr/>
        </p:nvSpPr>
        <p:spPr>
          <a:xfrm>
            <a:off x="640080" y="4224528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повторные передачи</a:t>
            </a:r>
            <a:endParaRPr lang="en-US" sz="1000" dirty="0"/>
          </a:p>
        </p:txBody>
      </p:sp>
      <p:sp>
        <p:nvSpPr>
          <p:cNvPr id="86" name="Shape 66"/>
          <p:cNvSpPr/>
          <p:nvPr/>
        </p:nvSpPr>
        <p:spPr>
          <a:xfrm>
            <a:off x="512064" y="4454957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7" name="Text 67"/>
          <p:cNvSpPr txBox="1"/>
          <p:nvPr/>
        </p:nvSpPr>
        <p:spPr>
          <a:xfrm>
            <a:off x="640080" y="4398264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переходы состояний</a:t>
            </a:r>
            <a:endParaRPr lang="en-US" sz="1000" dirty="0"/>
          </a:p>
        </p:txBody>
      </p:sp>
      <p:sp>
        <p:nvSpPr>
          <p:cNvPr id="88" name="Shape 68"/>
          <p:cNvSpPr/>
          <p:nvPr/>
        </p:nvSpPr>
        <p:spPr>
          <a:xfrm>
            <a:off x="512064" y="4628693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89" name="Text 69"/>
          <p:cNvSpPr txBox="1"/>
          <p:nvPr/>
        </p:nvSpPr>
        <p:spPr>
          <a:xfrm>
            <a:off x="640080" y="4572000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обработка отказов и отклонений</a:t>
            </a:r>
            <a:endParaRPr lang="en-US" sz="1000" dirty="0"/>
          </a:p>
        </p:txBody>
      </p:sp>
      <p:sp>
        <p:nvSpPr>
          <p:cNvPr id="90" name="Shape 70"/>
          <p:cNvSpPr/>
          <p:nvPr/>
        </p:nvSpPr>
        <p:spPr>
          <a:xfrm>
            <a:off x="8168335" y="3419856"/>
            <a:ext cx="3749040" cy="1517904"/>
          </a:xfrm>
          <a:prstGeom prst="roundRect">
            <a:avLst>
              <a:gd name="adj" fmla="val 4819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91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32927" y="3511296"/>
            <a:ext cx="274320" cy="274320"/>
          </a:xfrm>
          <a:prstGeom prst="rect">
            <a:avLst/>
          </a:prstGeom>
        </p:spPr>
      </p:pic>
      <p:sp>
        <p:nvSpPr>
          <p:cNvPr id="92" name="Text 71"/>
          <p:cNvSpPr txBox="1"/>
          <p:nvPr/>
        </p:nvSpPr>
        <p:spPr>
          <a:xfrm>
            <a:off x="8716975" y="34655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 в NAS и процедурах сессии</a:t>
            </a:r>
            <a:endParaRPr lang="en-US" sz="1250" dirty="0"/>
          </a:p>
        </p:txBody>
      </p:sp>
      <p:sp>
        <p:nvSpPr>
          <p:cNvPr id="93" name="Shape 72"/>
          <p:cNvSpPr/>
          <p:nvPr/>
        </p:nvSpPr>
        <p:spPr>
          <a:xfrm>
            <a:off x="8406079" y="3933749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94" name="Text 73"/>
          <p:cNvSpPr txBox="1"/>
          <p:nvPr/>
        </p:nvSpPr>
        <p:spPr>
          <a:xfrm>
            <a:off x="8534095" y="3877056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ход регистрации</a:t>
            </a:r>
            <a:endParaRPr lang="en-US" sz="1000" dirty="0"/>
          </a:p>
        </p:txBody>
      </p:sp>
      <p:sp>
        <p:nvSpPr>
          <p:cNvPr id="95" name="Shape 74"/>
          <p:cNvSpPr/>
          <p:nvPr/>
        </p:nvSpPr>
        <p:spPr>
          <a:xfrm>
            <a:off x="8406079" y="4107485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96" name="Text 75"/>
          <p:cNvSpPr txBox="1"/>
          <p:nvPr/>
        </p:nvSpPr>
        <p:spPr>
          <a:xfrm>
            <a:off x="8534095" y="4050792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ответ на аутентификацию</a:t>
            </a:r>
            <a:endParaRPr lang="en-US" sz="1000" dirty="0"/>
          </a:p>
        </p:txBody>
      </p:sp>
      <p:sp>
        <p:nvSpPr>
          <p:cNvPr id="97" name="Shape 76"/>
          <p:cNvSpPr/>
          <p:nvPr/>
        </p:nvSpPr>
        <p:spPr>
          <a:xfrm>
            <a:off x="8406079" y="428122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98" name="Text 77"/>
          <p:cNvSpPr txBox="1"/>
          <p:nvPr/>
        </p:nvSpPr>
        <p:spPr>
          <a:xfrm>
            <a:off x="8534095" y="4224528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активация защиты</a:t>
            </a:r>
            <a:endParaRPr lang="en-US" sz="1000" dirty="0"/>
          </a:p>
        </p:txBody>
      </p:sp>
      <p:sp>
        <p:nvSpPr>
          <p:cNvPr id="99" name="Shape 78"/>
          <p:cNvSpPr/>
          <p:nvPr/>
        </p:nvSpPr>
        <p:spPr>
          <a:xfrm>
            <a:off x="8406079" y="4454957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00" name="Text 79"/>
          <p:cNvSpPr txBox="1"/>
          <p:nvPr/>
        </p:nvSpPr>
        <p:spPr>
          <a:xfrm>
            <a:off x="8534095" y="4398264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создание сессии</a:t>
            </a:r>
            <a:endParaRPr lang="en-US" sz="1000" dirty="0"/>
          </a:p>
        </p:txBody>
      </p:sp>
      <p:sp>
        <p:nvSpPr>
          <p:cNvPr id="101" name="Shape 80"/>
          <p:cNvSpPr/>
          <p:nvPr/>
        </p:nvSpPr>
        <p:spPr>
          <a:xfrm>
            <a:off x="8406079" y="4628693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02" name="Text 81"/>
          <p:cNvSpPr txBox="1"/>
          <p:nvPr/>
        </p:nvSpPr>
        <p:spPr>
          <a:xfrm>
            <a:off x="8534095" y="4572000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причины отклонения</a:t>
            </a:r>
            <a:endParaRPr lang="en-US" sz="1000" dirty="0"/>
          </a:p>
        </p:txBody>
      </p:sp>
      <p:sp>
        <p:nvSpPr>
          <p:cNvPr id="103" name="Shape 82"/>
          <p:cNvSpPr/>
          <p:nvPr/>
        </p:nvSpPr>
        <p:spPr>
          <a:xfrm>
            <a:off x="8406079" y="4802429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04" name="Text 83"/>
          <p:cNvSpPr txBox="1"/>
          <p:nvPr/>
        </p:nvSpPr>
        <p:spPr>
          <a:xfrm>
            <a:off x="8534095" y="4745736"/>
            <a:ext cx="32461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согласованность контекста</a:t>
            </a:r>
            <a:endParaRPr lang="en-US" sz="1000" dirty="0"/>
          </a:p>
        </p:txBody>
      </p:sp>
      <p:sp>
        <p:nvSpPr>
          <p:cNvPr id="105" name="Shape 84"/>
          <p:cNvSpPr/>
          <p:nvPr/>
        </p:nvSpPr>
        <p:spPr>
          <a:xfrm>
            <a:off x="274320" y="5047488"/>
            <a:ext cx="11643055" cy="1005840"/>
          </a:xfrm>
          <a:prstGeom prst="roundRect">
            <a:avLst>
              <a:gd name="adj" fmla="val 7273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0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8640" y="5321808"/>
            <a:ext cx="502920" cy="502920"/>
          </a:xfrm>
          <a:prstGeom prst="rect">
            <a:avLst/>
          </a:prstGeom>
        </p:spPr>
      </p:pic>
      <p:sp>
        <p:nvSpPr>
          <p:cNvPr id="107" name="Text 85"/>
          <p:cNvSpPr txBox="1"/>
          <p:nvPr/>
        </p:nvSpPr>
        <p:spPr>
          <a:xfrm>
            <a:off x="1188720" y="51206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успеха</a:t>
            </a:r>
            <a:endParaRPr lang="en-US" sz="1300" dirty="0"/>
          </a:p>
        </p:txBody>
      </p:sp>
      <p:pic>
        <p:nvPicPr>
          <p:cNvPr id="108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88720" y="5436108"/>
            <a:ext cx="164592" cy="164592"/>
          </a:xfrm>
          <a:prstGeom prst="rect">
            <a:avLst/>
          </a:prstGeom>
        </p:spPr>
      </p:pic>
      <p:sp>
        <p:nvSpPr>
          <p:cNvPr id="109" name="Text 86"/>
          <p:cNvSpPr txBox="1"/>
          <p:nvPr/>
        </p:nvSpPr>
        <p:spPr>
          <a:xfrm>
            <a:off x="1463040" y="5413248"/>
            <a:ext cx="4846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проходит корректную машину состояний</a:t>
            </a:r>
            <a:endParaRPr lang="en-US" sz="1050" dirty="0"/>
          </a:p>
        </p:txBody>
      </p:sp>
      <p:pic>
        <p:nvPicPr>
          <p:cNvPr id="110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88720" y="5646420"/>
            <a:ext cx="164592" cy="164592"/>
          </a:xfrm>
          <a:prstGeom prst="rect">
            <a:avLst/>
          </a:prstGeom>
        </p:spPr>
      </p:pic>
      <p:sp>
        <p:nvSpPr>
          <p:cNvPr id="111" name="Text 87"/>
          <p:cNvSpPr txBox="1"/>
          <p:nvPr/>
        </p:nvSpPr>
        <p:spPr>
          <a:xfrm>
            <a:off x="1463040" y="5623560"/>
            <a:ext cx="4846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RRC- и NAS-сообщения идут в правильной последовательности</a:t>
            </a:r>
            <a:endParaRPr lang="en-US" sz="1050" dirty="0"/>
          </a:p>
        </p:txBody>
      </p:sp>
      <p:pic>
        <p:nvPicPr>
          <p:cNvPr id="11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88720" y="5856732"/>
            <a:ext cx="164592" cy="164592"/>
          </a:xfrm>
          <a:prstGeom prst="rect">
            <a:avLst/>
          </a:prstGeom>
        </p:spPr>
      </p:pic>
      <p:sp>
        <p:nvSpPr>
          <p:cNvPr id="113" name="Text 88"/>
          <p:cNvSpPr txBox="1"/>
          <p:nvPr/>
        </p:nvSpPr>
        <p:spPr>
          <a:xfrm>
            <a:off x="1463040" y="5833872"/>
            <a:ext cx="4846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таймеры отрабатывают согласно сценарию</a:t>
            </a:r>
            <a:endParaRPr lang="en-US" sz="1050" dirty="0"/>
          </a:p>
        </p:txBody>
      </p:sp>
      <p:sp>
        <p:nvSpPr>
          <p:cNvPr id="114" name="Shape 89"/>
          <p:cNvSpPr/>
          <p:nvPr/>
        </p:nvSpPr>
        <p:spPr>
          <a:xfrm>
            <a:off x="6537960" y="5184648"/>
            <a:ext cx="0" cy="73152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pic>
        <p:nvPicPr>
          <p:cNvPr id="11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766560" y="5436108"/>
            <a:ext cx="164592" cy="164592"/>
          </a:xfrm>
          <a:prstGeom prst="rect">
            <a:avLst/>
          </a:prstGeom>
        </p:spPr>
      </p:pic>
      <p:sp>
        <p:nvSpPr>
          <p:cNvPr id="116" name="Text 90"/>
          <p:cNvSpPr txBox="1"/>
          <p:nvPr/>
        </p:nvSpPr>
        <p:spPr>
          <a:xfrm>
            <a:off x="7040880" y="5413248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ошибки локализуются по протокольной трассировке</a:t>
            </a:r>
            <a:endParaRPr lang="en-US" sz="1050" dirty="0"/>
          </a:p>
        </p:txBody>
      </p:sp>
      <p:pic>
        <p:nvPicPr>
          <p:cNvPr id="11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766560" y="5646420"/>
            <a:ext cx="164592" cy="164592"/>
          </a:xfrm>
          <a:prstGeom prst="rect">
            <a:avLst/>
          </a:prstGeom>
        </p:spPr>
      </p:pic>
      <p:sp>
        <p:nvSpPr>
          <p:cNvPr id="118" name="Text 91"/>
          <p:cNvSpPr txBox="1"/>
          <p:nvPr/>
        </p:nvSpPr>
        <p:spPr>
          <a:xfrm>
            <a:off x="7040880" y="5623560"/>
            <a:ext cx="4663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PDU-сессия создаётся корректно</a:t>
            </a:r>
            <a:endParaRPr lang="en-US" sz="1050" dirty="0"/>
          </a:p>
        </p:txBody>
      </p:sp>
      <p:sp>
        <p:nvSpPr>
          <p:cNvPr id="119" name="Shape 92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20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21" name="Text 93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Тестирование протоколов UE проверяет корректность машины состояний и последовательности сигнализации между UE, RAN и ядром сети, а не просто факт подключения.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и mobility testing UE: measurements, reselection и handover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3789578" cy="2798064"/>
          </a:xfrm>
          <a:prstGeom prst="roundRect">
            <a:avLst>
              <a:gd name="adj" fmla="val 261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49808"/>
            <a:ext cx="292608" cy="2926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41248" y="731520"/>
            <a:ext cx="3085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соседних сот и уровней сигнала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66344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4360" y="1115568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многосотовый эмулятор сети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201113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29129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14193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201113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29129" y="1419332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RF-коммутация / управление аттенюацией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" y="1768815"/>
            <a:ext cx="346953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457200" y="1796247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 контур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6344" y="20541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4360" y="1997415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обслуживающая сота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201113" y="20541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329129" y="1997415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ранжирование сот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66344" y="2227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94360" y="2171151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соседние соты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201113" y="222784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29129" y="2171151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приоритет cell reselection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6344" y="2401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94360" y="234488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уровни RSRP / RSRQ / SINR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2201113" y="24015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329129" y="234488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пороги и гистерезис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2555199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" y="28130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94360" y="275636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selection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201113" y="28130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329129" y="2756367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запуск измерений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94360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reselection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2201113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329129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mobility в Idle / Inactive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" y="31605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94360" y="3103839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camping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4201058" y="658368"/>
            <a:ext cx="3789578" cy="2798064"/>
          </a:xfrm>
          <a:prstGeom prst="roundRect">
            <a:avLst>
              <a:gd name="adj" fmla="val 261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938" y="749808"/>
            <a:ext cx="292608" cy="292608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4767986" y="731520"/>
            <a:ext cx="3085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радиоканала и движения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4393082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4521098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радиоканала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6127852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6255868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fading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4393082" y="13459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4521098" y="128930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MIMO channel emulator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6127852" y="13459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6255868" y="128930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источник помех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4383938" y="1508760"/>
            <a:ext cx="346953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51" name="Text 47"/>
          <p:cNvSpPr txBox="1"/>
          <p:nvPr/>
        </p:nvSpPr>
        <p:spPr>
          <a:xfrm>
            <a:off x="4383938" y="1536192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 контур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4393082" y="1794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4521098" y="17373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fading</a:t>
            </a:r>
            <a:endParaRPr lang="en-US" sz="900" dirty="0"/>
          </a:p>
        </p:txBody>
      </p:sp>
      <p:sp>
        <p:nvSpPr>
          <p:cNvPr id="54" name="Shape 50"/>
          <p:cNvSpPr/>
          <p:nvPr/>
        </p:nvSpPr>
        <p:spPr>
          <a:xfrm>
            <a:off x="6127852" y="1794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6255868" y="17373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multipath</a:t>
            </a:r>
            <a:endParaRPr lang="en-US" sz="900" dirty="0"/>
          </a:p>
        </p:txBody>
      </p:sp>
      <p:sp>
        <p:nvSpPr>
          <p:cNvPr id="56" name="Shape 52"/>
          <p:cNvSpPr/>
          <p:nvPr/>
        </p:nvSpPr>
        <p:spPr>
          <a:xfrm>
            <a:off x="4393082" y="1967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4521098" y="1911096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Doppler</a:t>
            </a:r>
            <a:endParaRPr lang="en-US" sz="900" dirty="0"/>
          </a:p>
        </p:txBody>
      </p:sp>
      <p:sp>
        <p:nvSpPr>
          <p:cNvPr id="58" name="Shape 54"/>
          <p:cNvSpPr/>
          <p:nvPr/>
        </p:nvSpPr>
        <p:spPr>
          <a:xfrm>
            <a:off x="6127852" y="1967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6255868" y="1911096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interference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4393082" y="214152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4521098" y="20848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delay spread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6127852" y="214152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6255868" y="20848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условия на границе соты</a:t>
            </a:r>
            <a:endParaRPr lang="en-US" sz="900" dirty="0"/>
          </a:p>
        </p:txBody>
      </p:sp>
      <p:sp>
        <p:nvSpPr>
          <p:cNvPr id="64" name="Shape 60"/>
          <p:cNvSpPr/>
          <p:nvPr/>
        </p:nvSpPr>
        <p:spPr>
          <a:xfrm>
            <a:off x="4393082" y="2315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4521098" y="2258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изменение path loss</a:t>
            </a:r>
            <a:endParaRPr lang="en-US" sz="900" dirty="0"/>
          </a:p>
        </p:txBody>
      </p:sp>
      <p:sp>
        <p:nvSpPr>
          <p:cNvPr id="66" name="Text 62"/>
          <p:cNvSpPr txBox="1"/>
          <p:nvPr/>
        </p:nvSpPr>
        <p:spPr>
          <a:xfrm>
            <a:off x="4383938" y="2468880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67" name="Shape 63"/>
          <p:cNvSpPr/>
          <p:nvPr/>
        </p:nvSpPr>
        <p:spPr>
          <a:xfrm>
            <a:off x="4393082" y="27267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4521098" y="267004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стабильность измерений</a:t>
            </a:r>
            <a:endParaRPr lang="en-US" sz="900" dirty="0"/>
          </a:p>
        </p:txBody>
      </p:sp>
      <p:sp>
        <p:nvSpPr>
          <p:cNvPr id="69" name="Shape 65"/>
          <p:cNvSpPr/>
          <p:nvPr/>
        </p:nvSpPr>
        <p:spPr>
          <a:xfrm>
            <a:off x="6127852" y="27267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6255868" y="267004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радиолинка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4393082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4521098" y="284378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порога RLF</a:t>
            </a:r>
            <a:endParaRPr lang="en-US" sz="900" dirty="0"/>
          </a:p>
        </p:txBody>
      </p:sp>
      <p:sp>
        <p:nvSpPr>
          <p:cNvPr id="73" name="Shape 69"/>
          <p:cNvSpPr/>
          <p:nvPr/>
        </p:nvSpPr>
        <p:spPr>
          <a:xfrm>
            <a:off x="6127852" y="29004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6255868" y="284378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handover при fading</a:t>
            </a:r>
            <a:endParaRPr lang="en-US" sz="900" dirty="0"/>
          </a:p>
        </p:txBody>
      </p:sp>
      <p:sp>
        <p:nvSpPr>
          <p:cNvPr id="75" name="Shape 71"/>
          <p:cNvSpPr/>
          <p:nvPr/>
        </p:nvSpPr>
        <p:spPr>
          <a:xfrm>
            <a:off x="4393082" y="30742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4521098" y="301752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 на границе mobility</a:t>
            </a:r>
            <a:endParaRPr lang="en-US" sz="900" dirty="0"/>
          </a:p>
        </p:txBody>
      </p:sp>
      <p:sp>
        <p:nvSpPr>
          <p:cNvPr id="77" name="Shape 73"/>
          <p:cNvSpPr/>
          <p:nvPr/>
        </p:nvSpPr>
        <p:spPr>
          <a:xfrm>
            <a:off x="8127797" y="658368"/>
            <a:ext cx="3789578" cy="2798064"/>
          </a:xfrm>
          <a:prstGeom prst="roundRect">
            <a:avLst>
              <a:gd name="adj" fmla="val 261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749808"/>
            <a:ext cx="292608" cy="292608"/>
          </a:xfrm>
          <a:prstGeom prst="rect">
            <a:avLst/>
          </a:prstGeom>
        </p:spPr>
      </p:pic>
      <p:sp>
        <p:nvSpPr>
          <p:cNvPr id="79" name="Text 74"/>
          <p:cNvSpPr txBox="1"/>
          <p:nvPr/>
        </p:nvSpPr>
        <p:spPr>
          <a:xfrm>
            <a:off x="8694725" y="731520"/>
            <a:ext cx="30854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Эмуляция mobility-процедур RAN / Core</a:t>
            </a:r>
            <a:endParaRPr lang="en-US" sz="1200" dirty="0"/>
          </a:p>
        </p:txBody>
      </p:sp>
      <p:sp>
        <p:nvSpPr>
          <p:cNvPr id="80" name="Shape 75"/>
          <p:cNvSpPr/>
          <p:nvPr/>
        </p:nvSpPr>
        <p:spPr>
          <a:xfrm>
            <a:off x="8319821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1" name="Text 76"/>
          <p:cNvSpPr txBox="1"/>
          <p:nvPr/>
        </p:nvSpPr>
        <p:spPr>
          <a:xfrm>
            <a:off x="8447837" y="1115568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протокольная тест-платформа</a:t>
            </a:r>
            <a:endParaRPr lang="en-US" sz="900" dirty="0"/>
          </a:p>
        </p:txBody>
      </p:sp>
      <p:sp>
        <p:nvSpPr>
          <p:cNvPr id="82" name="Shape 77"/>
          <p:cNvSpPr/>
          <p:nvPr/>
        </p:nvSpPr>
        <p:spPr>
          <a:xfrm>
            <a:off x="10054590" y="117226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3" name="Text 78"/>
          <p:cNvSpPr txBox="1"/>
          <p:nvPr/>
        </p:nvSpPr>
        <p:spPr>
          <a:xfrm>
            <a:off x="10182606" y="111556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RAN</a:t>
            </a:r>
            <a:endParaRPr lang="en-US" sz="900" dirty="0"/>
          </a:p>
        </p:txBody>
      </p:sp>
      <p:sp>
        <p:nvSpPr>
          <p:cNvPr id="84" name="Shape 79"/>
          <p:cNvSpPr/>
          <p:nvPr/>
        </p:nvSpPr>
        <p:spPr>
          <a:xfrm>
            <a:off x="8319821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8447837" y="14193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Core</a:t>
            </a:r>
            <a:endParaRPr lang="en-US" sz="900" dirty="0"/>
          </a:p>
        </p:txBody>
      </p:sp>
      <p:sp>
        <p:nvSpPr>
          <p:cNvPr id="86" name="Shape 81"/>
          <p:cNvSpPr/>
          <p:nvPr/>
        </p:nvSpPr>
        <p:spPr>
          <a:xfrm>
            <a:off x="10054590" y="1476024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10182606" y="1419332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trace analyzer</a:t>
            </a:r>
            <a:endParaRPr lang="en-US" sz="900" dirty="0"/>
          </a:p>
        </p:txBody>
      </p:sp>
      <p:sp>
        <p:nvSpPr>
          <p:cNvPr id="88" name="Shape 83"/>
          <p:cNvSpPr/>
          <p:nvPr/>
        </p:nvSpPr>
        <p:spPr>
          <a:xfrm>
            <a:off x="8310677" y="1638788"/>
            <a:ext cx="346953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89" name="Text 84"/>
          <p:cNvSpPr txBox="1"/>
          <p:nvPr/>
        </p:nvSpPr>
        <p:spPr>
          <a:xfrm>
            <a:off x="8310677" y="1666220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 контур</a:t>
            </a:r>
            <a:endParaRPr lang="en-US" sz="1000" dirty="0"/>
          </a:p>
        </p:txBody>
      </p:sp>
      <p:sp>
        <p:nvSpPr>
          <p:cNvPr id="90" name="Shape 85"/>
          <p:cNvSpPr/>
          <p:nvPr/>
        </p:nvSpPr>
        <p:spPr>
          <a:xfrm>
            <a:off x="8319821" y="19240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8447837" y="186738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конфигурация измерений</a:t>
            </a:r>
            <a:endParaRPr lang="en-US" sz="900" dirty="0"/>
          </a:p>
        </p:txBody>
      </p:sp>
      <p:sp>
        <p:nvSpPr>
          <p:cNvPr id="92" name="Shape 87"/>
          <p:cNvSpPr/>
          <p:nvPr/>
        </p:nvSpPr>
        <p:spPr>
          <a:xfrm>
            <a:off x="10054590" y="192408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182606" y="1867388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параметры целевой соты</a:t>
            </a:r>
            <a:endParaRPr lang="en-US" sz="900" dirty="0"/>
          </a:p>
        </p:txBody>
      </p:sp>
      <p:sp>
        <p:nvSpPr>
          <p:cNvPr id="94" name="Shape 89"/>
          <p:cNvSpPr/>
          <p:nvPr/>
        </p:nvSpPr>
        <p:spPr>
          <a:xfrm>
            <a:off x="8319821" y="20978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8447837" y="204112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event A3 / A5 / B1 / B2</a:t>
            </a:r>
            <a:endParaRPr lang="en-US" sz="900" dirty="0"/>
          </a:p>
        </p:txBody>
      </p:sp>
      <p:sp>
        <p:nvSpPr>
          <p:cNvPr id="96" name="Shape 91"/>
          <p:cNvSpPr/>
          <p:nvPr/>
        </p:nvSpPr>
        <p:spPr>
          <a:xfrm>
            <a:off x="10054590" y="209781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10182606" y="2041124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</a:t>
            </a:r>
            <a:endParaRPr lang="en-US" sz="900" dirty="0"/>
          </a:p>
        </p:txBody>
      </p:sp>
      <p:sp>
        <p:nvSpPr>
          <p:cNvPr id="98" name="Shape 93"/>
          <p:cNvSpPr/>
          <p:nvPr/>
        </p:nvSpPr>
        <p:spPr>
          <a:xfrm>
            <a:off x="8319821" y="22715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8447837" y="22148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команда handover</a:t>
            </a:r>
            <a:endParaRPr lang="en-US" sz="900" dirty="0"/>
          </a:p>
        </p:txBody>
      </p:sp>
      <p:sp>
        <p:nvSpPr>
          <p:cNvPr id="100" name="Shape 95"/>
          <p:cNvSpPr/>
          <p:nvPr/>
        </p:nvSpPr>
        <p:spPr>
          <a:xfrm>
            <a:off x="10054590" y="227155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1" name="Text 96"/>
          <p:cNvSpPr txBox="1"/>
          <p:nvPr/>
        </p:nvSpPr>
        <p:spPr>
          <a:xfrm>
            <a:off x="10182606" y="221486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логика переноса контекста</a:t>
            </a:r>
            <a:endParaRPr lang="en-US" sz="900" dirty="0"/>
          </a:p>
        </p:txBody>
      </p:sp>
      <p:sp>
        <p:nvSpPr>
          <p:cNvPr id="102" name="Text 97"/>
          <p:cNvSpPr txBox="1"/>
          <p:nvPr/>
        </p:nvSpPr>
        <p:spPr>
          <a:xfrm>
            <a:off x="8310677" y="2425172"/>
            <a:ext cx="3469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103" name="Shape 98"/>
          <p:cNvSpPr/>
          <p:nvPr/>
        </p:nvSpPr>
        <p:spPr>
          <a:xfrm>
            <a:off x="8319821" y="26830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4" name="Text 99"/>
          <p:cNvSpPr txBox="1"/>
          <p:nvPr/>
        </p:nvSpPr>
        <p:spPr>
          <a:xfrm>
            <a:off x="8447837" y="2626340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об измерениях</a:t>
            </a:r>
            <a:endParaRPr lang="en-US" sz="900" dirty="0"/>
          </a:p>
        </p:txBody>
      </p:sp>
      <p:sp>
        <p:nvSpPr>
          <p:cNvPr id="105" name="Shape 100"/>
          <p:cNvSpPr/>
          <p:nvPr/>
        </p:nvSpPr>
        <p:spPr>
          <a:xfrm>
            <a:off x="10054590" y="26830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6" name="Text 101"/>
          <p:cNvSpPr txBox="1"/>
          <p:nvPr/>
        </p:nvSpPr>
        <p:spPr>
          <a:xfrm>
            <a:off x="10182606" y="2626340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 Complete</a:t>
            </a:r>
            <a:endParaRPr lang="en-US" sz="900" dirty="0"/>
          </a:p>
        </p:txBody>
      </p:sp>
      <p:sp>
        <p:nvSpPr>
          <p:cNvPr id="107" name="Shape 102"/>
          <p:cNvSpPr/>
          <p:nvPr/>
        </p:nvSpPr>
        <p:spPr>
          <a:xfrm>
            <a:off x="8319821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8" name="Text 103"/>
          <p:cNvSpPr txBox="1"/>
          <p:nvPr/>
        </p:nvSpPr>
        <p:spPr>
          <a:xfrm>
            <a:off x="8447837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подготовка handover</a:t>
            </a:r>
            <a:endParaRPr lang="en-US" sz="900" dirty="0"/>
          </a:p>
        </p:txBody>
      </p:sp>
      <p:sp>
        <p:nvSpPr>
          <p:cNvPr id="109" name="Shape 104"/>
          <p:cNvSpPr/>
          <p:nvPr/>
        </p:nvSpPr>
        <p:spPr>
          <a:xfrm>
            <a:off x="10054590" y="298679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0" name="Text 105"/>
          <p:cNvSpPr txBox="1"/>
          <p:nvPr/>
        </p:nvSpPr>
        <p:spPr>
          <a:xfrm>
            <a:off x="10182606" y="2930103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время прерывания сервиса</a:t>
            </a:r>
            <a:endParaRPr lang="en-US" sz="900" dirty="0"/>
          </a:p>
        </p:txBody>
      </p:sp>
      <p:sp>
        <p:nvSpPr>
          <p:cNvPr id="111" name="Shape 106"/>
          <p:cNvSpPr/>
          <p:nvPr/>
        </p:nvSpPr>
        <p:spPr>
          <a:xfrm>
            <a:off x="8319821" y="31605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2" name="Text 107"/>
          <p:cNvSpPr txBox="1"/>
          <p:nvPr/>
        </p:nvSpPr>
        <p:spPr>
          <a:xfrm>
            <a:off x="8447837" y="3103839"/>
            <a:ext cx="155188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выполнение handover</a:t>
            </a:r>
            <a:endParaRPr lang="en-US" sz="900" dirty="0"/>
          </a:p>
        </p:txBody>
      </p:sp>
      <p:sp>
        <p:nvSpPr>
          <p:cNvPr id="113" name="Shape 108"/>
          <p:cNvSpPr/>
          <p:nvPr/>
        </p:nvSpPr>
        <p:spPr>
          <a:xfrm>
            <a:off x="10054590" y="316053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4" name="Text 109"/>
          <p:cNvSpPr txBox="1"/>
          <p:nvPr/>
        </p:nvSpPr>
        <p:spPr>
          <a:xfrm>
            <a:off x="10182606" y="3103839"/>
            <a:ext cx="1551889" cy="303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восстановление после отказа</a:t>
            </a:r>
            <a:endParaRPr lang="en-US" sz="900" dirty="0"/>
          </a:p>
        </p:txBody>
      </p:sp>
      <p:sp>
        <p:nvSpPr>
          <p:cNvPr id="115" name="Shape 110"/>
          <p:cNvSpPr/>
          <p:nvPr/>
        </p:nvSpPr>
        <p:spPr>
          <a:xfrm>
            <a:off x="4632808" y="3566160"/>
            <a:ext cx="2926080" cy="365760"/>
          </a:xfrm>
          <a:prstGeom prst="roundRect">
            <a:avLst>
              <a:gd name="adj" fmla="val 25000"/>
            </a:avLst>
          </a:prstGeom>
          <a:solidFill>
            <a:srgbClr val="534EE6"/>
          </a:solidFill>
          <a:ln/>
        </p:spPr>
      </p:sp>
      <p:sp>
        <p:nvSpPr>
          <p:cNvPr id="116" name="Text 111"/>
          <p:cNvSpPr txBox="1"/>
          <p:nvPr/>
        </p:nvSpPr>
        <p:spPr>
          <a:xfrm>
            <a:off x="4632808" y="3566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500" dirty="0"/>
          </a:p>
        </p:txBody>
      </p:sp>
      <p:sp>
        <p:nvSpPr>
          <p:cNvPr id="117" name="Shape 112"/>
          <p:cNvSpPr/>
          <p:nvPr/>
        </p:nvSpPr>
        <p:spPr>
          <a:xfrm>
            <a:off x="2169109" y="3474720"/>
            <a:ext cx="0" cy="27432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headEnd type="triangle"/>
          </a:ln>
        </p:spPr>
      </p:sp>
      <p:sp>
        <p:nvSpPr>
          <p:cNvPr id="118" name="Shape 113"/>
          <p:cNvSpPr/>
          <p:nvPr/>
        </p:nvSpPr>
        <p:spPr>
          <a:xfrm>
            <a:off x="2169109" y="3749040"/>
            <a:ext cx="2436266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19" name="Shape 114"/>
          <p:cNvSpPr/>
          <p:nvPr/>
        </p:nvSpPr>
        <p:spPr>
          <a:xfrm>
            <a:off x="10022586" y="3474720"/>
            <a:ext cx="0" cy="27432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headEnd type="triangle"/>
          </a:ln>
        </p:spPr>
      </p:sp>
      <p:sp>
        <p:nvSpPr>
          <p:cNvPr id="120" name="Shape 115"/>
          <p:cNvSpPr/>
          <p:nvPr/>
        </p:nvSpPr>
        <p:spPr>
          <a:xfrm flipH="1">
            <a:off x="7586320" y="3749040"/>
            <a:ext cx="2436266" cy="0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21" name="Shape 116"/>
          <p:cNvSpPr/>
          <p:nvPr/>
        </p:nvSpPr>
        <p:spPr>
          <a:xfrm>
            <a:off x="6095848" y="3474720"/>
            <a:ext cx="0" cy="73152"/>
          </a:xfrm>
          <a:prstGeom prst="line">
            <a:avLst/>
          </a:prstGeom>
          <a:noFill/>
          <a:ln w="15875">
            <a:solidFill>
              <a:srgbClr val="FF812A"/>
            </a:solidFill>
            <a:prstDash val="solid"/>
            <a:headEnd type="triangle"/>
            <a:tailEnd type="triangle"/>
          </a:ln>
        </p:spPr>
      </p:sp>
      <p:sp>
        <p:nvSpPr>
          <p:cNvPr id="122" name="Shape 117"/>
          <p:cNvSpPr/>
          <p:nvPr/>
        </p:nvSpPr>
        <p:spPr>
          <a:xfrm>
            <a:off x="274320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301752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Обслуживающая сота</a:t>
            </a:r>
            <a:endParaRPr lang="en-US" sz="900" dirty="0"/>
          </a:p>
        </p:txBody>
      </p:sp>
      <p:sp>
        <p:nvSpPr>
          <p:cNvPr id="124" name="Shape 119"/>
          <p:cNvSpPr/>
          <p:nvPr/>
        </p:nvSpPr>
        <p:spPr>
          <a:xfrm>
            <a:off x="1438961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25" name="Shape 120"/>
          <p:cNvSpPr/>
          <p:nvPr/>
        </p:nvSpPr>
        <p:spPr>
          <a:xfrm>
            <a:off x="1585265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26" name="Text 121"/>
          <p:cNvSpPr txBox="1"/>
          <p:nvPr/>
        </p:nvSpPr>
        <p:spPr>
          <a:xfrm>
            <a:off x="1612697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Конфигурация измерений</a:t>
            </a:r>
            <a:endParaRPr lang="en-US" sz="900" dirty="0"/>
          </a:p>
        </p:txBody>
      </p:sp>
      <p:sp>
        <p:nvSpPr>
          <p:cNvPr id="127" name="Shape 122"/>
          <p:cNvSpPr/>
          <p:nvPr/>
        </p:nvSpPr>
        <p:spPr>
          <a:xfrm>
            <a:off x="2749906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28" name="Shape 123"/>
          <p:cNvSpPr/>
          <p:nvPr/>
        </p:nvSpPr>
        <p:spPr>
          <a:xfrm>
            <a:off x="2896210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2923642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Измерения соседних сот</a:t>
            </a:r>
            <a:endParaRPr lang="en-US" sz="900" dirty="0"/>
          </a:p>
        </p:txBody>
      </p:sp>
      <p:sp>
        <p:nvSpPr>
          <p:cNvPr id="130" name="Shape 125"/>
          <p:cNvSpPr/>
          <p:nvPr/>
        </p:nvSpPr>
        <p:spPr>
          <a:xfrm>
            <a:off x="4060850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1" name="Shape 126"/>
          <p:cNvSpPr/>
          <p:nvPr/>
        </p:nvSpPr>
        <p:spPr>
          <a:xfrm>
            <a:off x="4207154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2" name="Text 127"/>
          <p:cNvSpPr txBox="1"/>
          <p:nvPr/>
        </p:nvSpPr>
        <p:spPr>
          <a:xfrm>
            <a:off x="4234586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об измерениях</a:t>
            </a:r>
            <a:endParaRPr lang="en-US" sz="900" dirty="0"/>
          </a:p>
        </p:txBody>
      </p:sp>
      <p:sp>
        <p:nvSpPr>
          <p:cNvPr id="133" name="Shape 128"/>
          <p:cNvSpPr/>
          <p:nvPr/>
        </p:nvSpPr>
        <p:spPr>
          <a:xfrm>
            <a:off x="5371795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4" name="Shape 129"/>
          <p:cNvSpPr/>
          <p:nvPr/>
        </p:nvSpPr>
        <p:spPr>
          <a:xfrm>
            <a:off x="5518099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5" name="Text 130"/>
          <p:cNvSpPr txBox="1"/>
          <p:nvPr/>
        </p:nvSpPr>
        <p:spPr>
          <a:xfrm>
            <a:off x="5545531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Решение о handover</a:t>
            </a:r>
            <a:endParaRPr lang="en-US" sz="900" dirty="0"/>
          </a:p>
        </p:txBody>
      </p:sp>
      <p:sp>
        <p:nvSpPr>
          <p:cNvPr id="136" name="Shape 131"/>
          <p:cNvSpPr/>
          <p:nvPr/>
        </p:nvSpPr>
        <p:spPr>
          <a:xfrm>
            <a:off x="6682740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37" name="Shape 132"/>
          <p:cNvSpPr/>
          <p:nvPr/>
        </p:nvSpPr>
        <p:spPr>
          <a:xfrm>
            <a:off x="6829044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8" name="Text 133"/>
          <p:cNvSpPr txBox="1"/>
          <p:nvPr/>
        </p:nvSpPr>
        <p:spPr>
          <a:xfrm>
            <a:off x="6856476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 / Handover Command</a:t>
            </a:r>
            <a:endParaRPr lang="en-US" sz="900" dirty="0"/>
          </a:p>
        </p:txBody>
      </p:sp>
      <p:sp>
        <p:nvSpPr>
          <p:cNvPr id="139" name="Shape 134"/>
          <p:cNvSpPr/>
          <p:nvPr/>
        </p:nvSpPr>
        <p:spPr>
          <a:xfrm>
            <a:off x="7993685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40" name="Shape 135"/>
          <p:cNvSpPr/>
          <p:nvPr/>
        </p:nvSpPr>
        <p:spPr>
          <a:xfrm>
            <a:off x="8139989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41" name="Text 136"/>
          <p:cNvSpPr txBox="1"/>
          <p:nvPr/>
        </p:nvSpPr>
        <p:spPr>
          <a:xfrm>
            <a:off x="8167421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Random Access к целевой соте</a:t>
            </a:r>
            <a:endParaRPr lang="en-US" sz="900" dirty="0"/>
          </a:p>
        </p:txBody>
      </p:sp>
      <p:sp>
        <p:nvSpPr>
          <p:cNvPr id="142" name="Shape 137"/>
          <p:cNvSpPr/>
          <p:nvPr/>
        </p:nvSpPr>
        <p:spPr>
          <a:xfrm>
            <a:off x="9304630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43" name="Shape 138"/>
          <p:cNvSpPr/>
          <p:nvPr/>
        </p:nvSpPr>
        <p:spPr>
          <a:xfrm>
            <a:off x="9450934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44" name="Text 139"/>
          <p:cNvSpPr txBox="1"/>
          <p:nvPr/>
        </p:nvSpPr>
        <p:spPr>
          <a:xfrm>
            <a:off x="9478366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Reconfiguration Complete</a:t>
            </a:r>
            <a:endParaRPr lang="en-US" sz="900" dirty="0"/>
          </a:p>
        </p:txBody>
      </p:sp>
      <p:sp>
        <p:nvSpPr>
          <p:cNvPr id="145" name="Shape 140"/>
          <p:cNvSpPr/>
          <p:nvPr/>
        </p:nvSpPr>
        <p:spPr>
          <a:xfrm>
            <a:off x="10615574" y="4279392"/>
            <a:ext cx="137160" cy="0"/>
          </a:xfrm>
          <a:prstGeom prst="line">
            <a:avLst/>
          </a:prstGeom>
          <a:noFill/>
          <a:ln w="15875">
            <a:solidFill>
              <a:srgbClr val="534EE6"/>
            </a:solidFill>
            <a:prstDash val="solid"/>
            <a:tailEnd type="triangle"/>
          </a:ln>
        </p:spPr>
      </p:sp>
      <p:sp>
        <p:nvSpPr>
          <p:cNvPr id="146" name="Shape 141"/>
          <p:cNvSpPr/>
          <p:nvPr/>
        </p:nvSpPr>
        <p:spPr>
          <a:xfrm>
            <a:off x="10761878" y="4023360"/>
            <a:ext cx="1155497" cy="512064"/>
          </a:xfrm>
          <a:prstGeom prst="roundRect">
            <a:avLst>
              <a:gd name="adj" fmla="val 10714"/>
            </a:avLst>
          </a:prstGeom>
          <a:solidFill>
            <a:srgbClr val="FFF0E5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47" name="Text 142"/>
          <p:cNvSpPr txBox="1"/>
          <p:nvPr/>
        </p:nvSpPr>
        <p:spPr>
          <a:xfrm>
            <a:off x="10789310" y="4023360"/>
            <a:ext cx="11006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Непрерывность сервиса</a:t>
            </a:r>
            <a:endParaRPr lang="en-US" sz="900" dirty="0"/>
          </a:p>
        </p:txBody>
      </p:sp>
      <p:sp>
        <p:nvSpPr>
          <p:cNvPr id="148" name="Shape 143"/>
          <p:cNvSpPr/>
          <p:nvPr/>
        </p:nvSpPr>
        <p:spPr>
          <a:xfrm>
            <a:off x="274320" y="4626864"/>
            <a:ext cx="3703320" cy="1426464"/>
          </a:xfrm>
          <a:prstGeom prst="roundRect">
            <a:avLst>
              <a:gd name="adj" fmla="val 5128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4700016"/>
            <a:ext cx="256032" cy="256032"/>
          </a:xfrm>
          <a:prstGeom prst="rect">
            <a:avLst/>
          </a:prstGeom>
        </p:spPr>
      </p:pic>
      <p:sp>
        <p:nvSpPr>
          <p:cNvPr id="150" name="Text 144"/>
          <p:cNvSpPr txBox="1"/>
          <p:nvPr/>
        </p:nvSpPr>
        <p:spPr>
          <a:xfrm>
            <a:off x="777240" y="468172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проверяем в measurements</a:t>
            </a:r>
            <a:endParaRPr lang="en-US" sz="1200" dirty="0"/>
          </a:p>
        </p:txBody>
      </p:sp>
      <p:sp>
        <p:nvSpPr>
          <p:cNvPr id="151" name="Shape 145"/>
          <p:cNvSpPr/>
          <p:nvPr/>
        </p:nvSpPr>
        <p:spPr>
          <a:xfrm>
            <a:off x="466344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2" name="Text 146"/>
          <p:cNvSpPr txBox="1"/>
          <p:nvPr/>
        </p:nvSpPr>
        <p:spPr>
          <a:xfrm>
            <a:off x="594360" y="50657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правильность измерений</a:t>
            </a:r>
            <a:endParaRPr lang="en-US" sz="1000" dirty="0"/>
          </a:p>
        </p:txBody>
      </p:sp>
      <p:sp>
        <p:nvSpPr>
          <p:cNvPr id="153" name="Shape 147"/>
          <p:cNvSpPr/>
          <p:nvPr/>
        </p:nvSpPr>
        <p:spPr>
          <a:xfrm>
            <a:off x="466344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4" name="Text 148"/>
          <p:cNvSpPr txBox="1"/>
          <p:nvPr/>
        </p:nvSpPr>
        <p:spPr>
          <a:xfrm>
            <a:off x="594360" y="52943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фильтрация L1 / L3</a:t>
            </a:r>
            <a:endParaRPr lang="en-US" sz="1000" dirty="0"/>
          </a:p>
        </p:txBody>
      </p:sp>
      <p:sp>
        <p:nvSpPr>
          <p:cNvPr id="155" name="Shape 149"/>
          <p:cNvSpPr/>
          <p:nvPr/>
        </p:nvSpPr>
        <p:spPr>
          <a:xfrm>
            <a:off x="466344" y="56071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6" name="Text 150"/>
          <p:cNvSpPr txBox="1"/>
          <p:nvPr/>
        </p:nvSpPr>
        <p:spPr>
          <a:xfrm>
            <a:off x="594360" y="5522976"/>
            <a:ext cx="157734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тайминг отчёта об измерениях</a:t>
            </a:r>
            <a:endParaRPr lang="en-US" sz="1000" dirty="0"/>
          </a:p>
        </p:txBody>
      </p:sp>
      <p:sp>
        <p:nvSpPr>
          <p:cNvPr id="157" name="Shape 151"/>
          <p:cNvSpPr/>
          <p:nvPr/>
        </p:nvSpPr>
        <p:spPr>
          <a:xfrm>
            <a:off x="2180844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58" name="Text 152"/>
          <p:cNvSpPr txBox="1"/>
          <p:nvPr/>
        </p:nvSpPr>
        <p:spPr>
          <a:xfrm>
            <a:off x="2308860" y="50657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запуск event condition</a:t>
            </a:r>
            <a:endParaRPr lang="en-US" sz="1000" dirty="0"/>
          </a:p>
        </p:txBody>
      </p:sp>
      <p:sp>
        <p:nvSpPr>
          <p:cNvPr id="159" name="Shape 153"/>
          <p:cNvSpPr/>
          <p:nvPr/>
        </p:nvSpPr>
        <p:spPr>
          <a:xfrm>
            <a:off x="2180844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60" name="Text 154"/>
          <p:cNvSpPr txBox="1"/>
          <p:nvPr/>
        </p:nvSpPr>
        <p:spPr>
          <a:xfrm>
            <a:off x="2308860" y="52943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гистерезис</a:t>
            </a:r>
            <a:endParaRPr lang="en-US" sz="1000" dirty="0"/>
          </a:p>
        </p:txBody>
      </p:sp>
      <p:sp>
        <p:nvSpPr>
          <p:cNvPr id="161" name="Shape 155"/>
          <p:cNvSpPr/>
          <p:nvPr/>
        </p:nvSpPr>
        <p:spPr>
          <a:xfrm>
            <a:off x="2180844" y="56071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62" name="Text 156"/>
          <p:cNvSpPr txBox="1"/>
          <p:nvPr/>
        </p:nvSpPr>
        <p:spPr>
          <a:xfrm>
            <a:off x="2308860" y="55229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time-to-trigger</a:t>
            </a:r>
            <a:endParaRPr lang="en-US" sz="1000" dirty="0"/>
          </a:p>
        </p:txBody>
      </p:sp>
      <p:sp>
        <p:nvSpPr>
          <p:cNvPr id="163" name="Shape 157"/>
          <p:cNvSpPr/>
          <p:nvPr/>
        </p:nvSpPr>
        <p:spPr>
          <a:xfrm>
            <a:off x="2180844" y="58357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64" name="Text 158"/>
          <p:cNvSpPr txBox="1"/>
          <p:nvPr/>
        </p:nvSpPr>
        <p:spPr>
          <a:xfrm>
            <a:off x="2308860" y="57515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reporting quantity</a:t>
            </a:r>
            <a:endParaRPr lang="en-US" sz="1000" dirty="0"/>
          </a:p>
        </p:txBody>
      </p:sp>
      <p:sp>
        <p:nvSpPr>
          <p:cNvPr id="165" name="Shape 159"/>
          <p:cNvSpPr/>
          <p:nvPr/>
        </p:nvSpPr>
        <p:spPr>
          <a:xfrm>
            <a:off x="4114800" y="4626864"/>
            <a:ext cx="3962095" cy="1426464"/>
          </a:xfrm>
          <a:prstGeom prst="roundRect">
            <a:avLst>
              <a:gd name="adj" fmla="val 5128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6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700016"/>
            <a:ext cx="256032" cy="256032"/>
          </a:xfrm>
          <a:prstGeom prst="rect">
            <a:avLst/>
          </a:prstGeom>
        </p:spPr>
      </p:pic>
      <p:sp>
        <p:nvSpPr>
          <p:cNvPr id="167" name="Text 160"/>
          <p:cNvSpPr txBox="1"/>
          <p:nvPr/>
        </p:nvSpPr>
        <p:spPr>
          <a:xfrm>
            <a:off x="4617720" y="4681728"/>
            <a:ext cx="3322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успеха</a:t>
            </a:r>
            <a:endParaRPr lang="en-US" sz="1200" dirty="0"/>
          </a:p>
        </p:txBody>
      </p:sp>
      <p:pic>
        <p:nvPicPr>
          <p:cNvPr id="16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5010912"/>
            <a:ext cx="164592" cy="164592"/>
          </a:xfrm>
          <a:prstGeom prst="rect">
            <a:avLst/>
          </a:prstGeom>
        </p:spPr>
      </p:pic>
      <p:sp>
        <p:nvSpPr>
          <p:cNvPr id="169" name="Text 161"/>
          <p:cNvSpPr txBox="1"/>
          <p:nvPr/>
        </p:nvSpPr>
        <p:spPr>
          <a:xfrm>
            <a:off x="4572000" y="5010912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 корректно измеряет обслуживающую и соседние соты</a:t>
            </a:r>
            <a:endParaRPr lang="en-US" sz="950" dirty="0"/>
          </a:p>
        </p:txBody>
      </p:sp>
      <p:pic>
        <p:nvPicPr>
          <p:cNvPr id="17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5175504"/>
            <a:ext cx="164592" cy="164592"/>
          </a:xfrm>
          <a:prstGeom prst="rect">
            <a:avLst/>
          </a:prstGeom>
        </p:spPr>
      </p:pic>
      <p:sp>
        <p:nvSpPr>
          <p:cNvPr id="171" name="Text 162"/>
          <p:cNvSpPr txBox="1"/>
          <p:nvPr/>
        </p:nvSpPr>
        <p:spPr>
          <a:xfrm>
            <a:off x="4572000" y="5175504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отчёт отправляется по заданному event condition</a:t>
            </a:r>
            <a:endParaRPr lang="en-US" sz="950" dirty="0"/>
          </a:p>
        </p:txBody>
      </p:sp>
      <p:pic>
        <p:nvPicPr>
          <p:cNvPr id="17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680" y="5340096"/>
            <a:ext cx="164592" cy="164592"/>
          </a:xfrm>
          <a:prstGeom prst="rect">
            <a:avLst/>
          </a:prstGeom>
        </p:spPr>
      </p:pic>
      <p:sp>
        <p:nvSpPr>
          <p:cNvPr id="173" name="Text 163"/>
          <p:cNvSpPr txBox="1"/>
          <p:nvPr/>
        </p:nvSpPr>
        <p:spPr>
          <a:xfrm>
            <a:off x="4572000" y="5340096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reselection идёт по логике priority / threshold</a:t>
            </a:r>
            <a:endParaRPr lang="en-US" sz="950" dirty="0"/>
          </a:p>
        </p:txBody>
      </p:sp>
      <p:pic>
        <p:nvPicPr>
          <p:cNvPr id="17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7680" y="5504688"/>
            <a:ext cx="164592" cy="164592"/>
          </a:xfrm>
          <a:prstGeom prst="rect">
            <a:avLst/>
          </a:prstGeom>
        </p:spPr>
      </p:pic>
      <p:sp>
        <p:nvSpPr>
          <p:cNvPr id="175" name="Text 164"/>
          <p:cNvSpPr txBox="1"/>
          <p:nvPr/>
        </p:nvSpPr>
        <p:spPr>
          <a:xfrm>
            <a:off x="4572000" y="5504688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handover завершается без потери контекста UE</a:t>
            </a:r>
            <a:endParaRPr lang="en-US" sz="950" dirty="0"/>
          </a:p>
        </p:txBody>
      </p:sp>
      <p:pic>
        <p:nvPicPr>
          <p:cNvPr id="17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5669280"/>
            <a:ext cx="164592" cy="164592"/>
          </a:xfrm>
          <a:prstGeom prst="rect">
            <a:avLst/>
          </a:prstGeom>
        </p:spPr>
      </p:pic>
      <p:sp>
        <p:nvSpPr>
          <p:cNvPr id="177" name="Text 165"/>
          <p:cNvSpPr txBox="1"/>
          <p:nvPr/>
        </p:nvSpPr>
        <p:spPr>
          <a:xfrm>
            <a:off x="4572000" y="5669280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RLF и recovery соответствуют сценарию</a:t>
            </a:r>
            <a:endParaRPr lang="en-US" sz="950" dirty="0"/>
          </a:p>
        </p:txBody>
      </p:sp>
      <p:pic>
        <p:nvPicPr>
          <p:cNvPr id="17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0" y="5833872"/>
            <a:ext cx="164592" cy="164592"/>
          </a:xfrm>
          <a:prstGeom prst="rect">
            <a:avLst/>
          </a:prstGeom>
        </p:spPr>
      </p:pic>
      <p:sp>
        <p:nvSpPr>
          <p:cNvPr id="179" name="Text 166"/>
          <p:cNvSpPr txBox="1"/>
          <p:nvPr/>
        </p:nvSpPr>
        <p:spPr>
          <a:xfrm>
            <a:off x="4572000" y="5833872"/>
            <a:ext cx="341345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непрерывность сервиса подтверждена</a:t>
            </a:r>
            <a:endParaRPr lang="en-US" sz="950" dirty="0"/>
          </a:p>
        </p:txBody>
      </p:sp>
      <p:sp>
        <p:nvSpPr>
          <p:cNvPr id="180" name="Shape 167"/>
          <p:cNvSpPr/>
          <p:nvPr/>
        </p:nvSpPr>
        <p:spPr>
          <a:xfrm>
            <a:off x="8214055" y="4626864"/>
            <a:ext cx="3703320" cy="1426464"/>
          </a:xfrm>
          <a:prstGeom prst="roundRect">
            <a:avLst>
              <a:gd name="adj" fmla="val 5128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pic>
        <p:nvPicPr>
          <p:cNvPr id="18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78647" y="4700016"/>
            <a:ext cx="256032" cy="256032"/>
          </a:xfrm>
          <a:prstGeom prst="rect">
            <a:avLst/>
          </a:prstGeom>
        </p:spPr>
      </p:pic>
      <p:sp>
        <p:nvSpPr>
          <p:cNvPr id="182" name="Text 168"/>
          <p:cNvSpPr txBox="1"/>
          <p:nvPr/>
        </p:nvSpPr>
        <p:spPr>
          <a:xfrm>
            <a:off x="8716975" y="468172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проверяем в mobility outcome</a:t>
            </a:r>
            <a:endParaRPr lang="en-US" sz="1200" dirty="0"/>
          </a:p>
        </p:txBody>
      </p:sp>
      <p:sp>
        <p:nvSpPr>
          <p:cNvPr id="183" name="Shape 169"/>
          <p:cNvSpPr/>
          <p:nvPr/>
        </p:nvSpPr>
        <p:spPr>
          <a:xfrm>
            <a:off x="8406079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84" name="Text 170"/>
          <p:cNvSpPr txBox="1"/>
          <p:nvPr/>
        </p:nvSpPr>
        <p:spPr>
          <a:xfrm>
            <a:off x="8534095" y="50657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правильная целевая сота</a:t>
            </a:r>
            <a:endParaRPr lang="en-US" sz="1000" dirty="0"/>
          </a:p>
        </p:txBody>
      </p:sp>
      <p:sp>
        <p:nvSpPr>
          <p:cNvPr id="185" name="Shape 171"/>
          <p:cNvSpPr/>
          <p:nvPr/>
        </p:nvSpPr>
        <p:spPr>
          <a:xfrm>
            <a:off x="8406079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86" name="Text 172"/>
          <p:cNvSpPr txBox="1"/>
          <p:nvPr/>
        </p:nvSpPr>
        <p:spPr>
          <a:xfrm>
            <a:off x="8534095" y="52943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late handover</a:t>
            </a:r>
            <a:endParaRPr lang="en-US" sz="1000" dirty="0"/>
          </a:p>
        </p:txBody>
      </p:sp>
      <p:sp>
        <p:nvSpPr>
          <p:cNvPr id="187" name="Shape 173"/>
          <p:cNvSpPr/>
          <p:nvPr/>
        </p:nvSpPr>
        <p:spPr>
          <a:xfrm>
            <a:off x="8406079" y="56071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88" name="Text 174"/>
          <p:cNvSpPr txBox="1"/>
          <p:nvPr/>
        </p:nvSpPr>
        <p:spPr>
          <a:xfrm>
            <a:off x="8534095" y="55229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early handover</a:t>
            </a:r>
            <a:endParaRPr lang="en-US" sz="1000" dirty="0"/>
          </a:p>
        </p:txBody>
      </p:sp>
      <p:sp>
        <p:nvSpPr>
          <p:cNvPr id="189" name="Shape 175"/>
          <p:cNvSpPr/>
          <p:nvPr/>
        </p:nvSpPr>
        <p:spPr>
          <a:xfrm>
            <a:off x="8406079" y="58357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0" name="Text 176"/>
          <p:cNvSpPr txBox="1"/>
          <p:nvPr/>
        </p:nvSpPr>
        <p:spPr>
          <a:xfrm>
            <a:off x="8534095" y="5751576"/>
            <a:ext cx="15773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ping-pong</a:t>
            </a:r>
            <a:endParaRPr lang="en-US" sz="1000" dirty="0"/>
          </a:p>
        </p:txBody>
      </p:sp>
      <p:sp>
        <p:nvSpPr>
          <p:cNvPr id="191" name="Shape 177"/>
          <p:cNvSpPr/>
          <p:nvPr/>
        </p:nvSpPr>
        <p:spPr>
          <a:xfrm>
            <a:off x="10120579" y="51499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2" name="Text 178"/>
          <p:cNvSpPr txBox="1"/>
          <p:nvPr/>
        </p:nvSpPr>
        <p:spPr>
          <a:xfrm>
            <a:off x="10248595" y="5065776"/>
            <a:ext cx="15316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нет unnecessary RLF</a:t>
            </a:r>
            <a:endParaRPr lang="en-US" sz="1000" dirty="0"/>
          </a:p>
        </p:txBody>
      </p:sp>
      <p:sp>
        <p:nvSpPr>
          <p:cNvPr id="193" name="Shape 179"/>
          <p:cNvSpPr/>
          <p:nvPr/>
        </p:nvSpPr>
        <p:spPr>
          <a:xfrm>
            <a:off x="10120579" y="5378501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4" name="Text 180"/>
          <p:cNvSpPr txBox="1"/>
          <p:nvPr/>
        </p:nvSpPr>
        <p:spPr>
          <a:xfrm>
            <a:off x="10248595" y="5294376"/>
            <a:ext cx="15316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минимальное прерывание сервиса</a:t>
            </a:r>
            <a:endParaRPr lang="en-US" sz="1000" dirty="0"/>
          </a:p>
        </p:txBody>
      </p:sp>
      <p:sp>
        <p:nvSpPr>
          <p:cNvPr id="195" name="Shape 181"/>
          <p:cNvSpPr/>
          <p:nvPr/>
        </p:nvSpPr>
        <p:spPr>
          <a:xfrm>
            <a:off x="10120579" y="5751576"/>
            <a:ext cx="59436" cy="5943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96" name="Text 182"/>
          <p:cNvSpPr txBox="1"/>
          <p:nvPr/>
        </p:nvSpPr>
        <p:spPr>
          <a:xfrm>
            <a:off x="10248595" y="5667451"/>
            <a:ext cx="153162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сессия сохраняется после mobility</a:t>
            </a:r>
            <a:endParaRPr lang="en-US" sz="1000" dirty="0"/>
          </a:p>
        </p:txBody>
      </p:sp>
      <p:sp>
        <p:nvSpPr>
          <p:cNvPr id="197" name="Shape 183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9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99" name="Text 184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и mobility testing UE проверяет, как устройство измеряет радиосреду, принимает решения в Idle / Inactive и сохраняет сервис при handover в Connected mode.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Performance testing UE: throughput, MIMO, CA и radio conditions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3789578" cy="2724912"/>
          </a:xfrm>
          <a:prstGeom prst="roundRect">
            <a:avLst>
              <a:gd name="adj" fmla="val 2685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13232"/>
            <a:ext cx="256032" cy="2560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49808" y="694944"/>
            <a:ext cx="32226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1) Эмуляция сети и сессии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29768" y="1042416"/>
            <a:ext cx="17547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38912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1243584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38912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66928" y="1417320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базовой станции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8912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1591056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Core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38912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1764792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тестовая платформа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2294278" y="1042416"/>
            <a:ext cx="16507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303422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431438" y="124358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SA / NSA сценарий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303422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431438" y="1417320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PDU Session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303422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431438" y="1591056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QoS flow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303422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31438" y="1764792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DL / UL bearer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2303422" y="19952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431438" y="1938528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IP-связность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303422" y="21689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431438" y="211226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scheduler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9768" y="2340864"/>
            <a:ext cx="351525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429768" y="2404872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38912" y="26627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66928" y="2606040"/>
            <a:ext cx="1565605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сессии под нагрузкой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196541" y="26627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324557" y="2606040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непрерывность user plane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38912" y="297372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66928" y="2917027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DL throughput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2196541" y="297372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324557" y="2917027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сквозной путь radio → core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38912" y="314745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66928" y="3090763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UL throughput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201058" y="640080"/>
            <a:ext cx="3789578" cy="2724912"/>
          </a:xfrm>
          <a:prstGeom prst="roundRect">
            <a:avLst>
              <a:gd name="adj" fmla="val 2685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8218" y="713232"/>
            <a:ext cx="256032" cy="25603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4676546" y="694944"/>
            <a:ext cx="32226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2) Конфигурация радиоемкости</a:t>
            </a:r>
            <a:endParaRPr lang="en-US" sz="1250" dirty="0"/>
          </a:p>
        </p:txBody>
      </p:sp>
      <p:sp>
        <p:nvSpPr>
          <p:cNvPr id="43" name="Text 39"/>
          <p:cNvSpPr txBox="1"/>
          <p:nvPr/>
        </p:nvSpPr>
        <p:spPr>
          <a:xfrm>
            <a:off x="4356506" y="1042416"/>
            <a:ext cx="17547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4365650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493666" y="1243584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сети</a:t>
            </a:r>
            <a:endParaRPr lang="en-US" sz="950" dirty="0"/>
          </a:p>
        </p:txBody>
      </p:sp>
      <p:sp>
        <p:nvSpPr>
          <p:cNvPr id="46" name="Shape 42"/>
          <p:cNvSpPr/>
          <p:nvPr/>
        </p:nvSpPr>
        <p:spPr>
          <a:xfrm>
            <a:off x="4365650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4493666" y="1417320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тестовая платформа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4365650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4493666" y="1591056"/>
            <a:ext cx="1562758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инструмент конфигурации протоколов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6221017" y="1042416"/>
            <a:ext cx="16507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</a:t>
            </a:r>
            <a:endParaRPr lang="en-US" sz="1000" dirty="0"/>
          </a:p>
        </p:txBody>
      </p:sp>
      <p:sp>
        <p:nvSpPr>
          <p:cNvPr id="51" name="Shape 47"/>
          <p:cNvSpPr/>
          <p:nvPr/>
        </p:nvSpPr>
        <p:spPr>
          <a:xfrm>
            <a:off x="6230161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6358177" y="124358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bandwidth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6230161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6358177" y="1417320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SCS / numerology</a:t>
            </a:r>
            <a:endParaRPr 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6230161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6358177" y="1591056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MCS range</a:t>
            </a:r>
            <a:endParaRPr lang="en-US" sz="950" dirty="0"/>
          </a:p>
        </p:txBody>
      </p:sp>
      <p:sp>
        <p:nvSpPr>
          <p:cNvPr id="57" name="Shape 53"/>
          <p:cNvSpPr/>
          <p:nvPr/>
        </p:nvSpPr>
        <p:spPr>
          <a:xfrm>
            <a:off x="6230161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6358177" y="1764792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MIMO layers</a:t>
            </a:r>
            <a:endParaRPr lang="en-US" sz="950" dirty="0"/>
          </a:p>
        </p:txBody>
      </p:sp>
      <p:sp>
        <p:nvSpPr>
          <p:cNvPr id="59" name="Shape 55"/>
          <p:cNvSpPr/>
          <p:nvPr/>
        </p:nvSpPr>
        <p:spPr>
          <a:xfrm>
            <a:off x="6230161" y="19952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6358177" y="1938528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 combination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6230161" y="21689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6358177" y="211226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TDD pattern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6230161" y="234269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6358177" y="2286000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DL / UL allocation</a:t>
            </a:r>
            <a:endParaRPr lang="en-US" sz="950" dirty="0"/>
          </a:p>
        </p:txBody>
      </p:sp>
      <p:sp>
        <p:nvSpPr>
          <p:cNvPr id="65" name="Shape 61"/>
          <p:cNvSpPr/>
          <p:nvPr/>
        </p:nvSpPr>
        <p:spPr>
          <a:xfrm>
            <a:off x="4356506" y="2514600"/>
            <a:ext cx="351525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66" name="Text 62"/>
          <p:cNvSpPr txBox="1"/>
          <p:nvPr/>
        </p:nvSpPr>
        <p:spPr>
          <a:xfrm>
            <a:off x="4356506" y="2578608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67" name="Shape 63"/>
          <p:cNvSpPr/>
          <p:nvPr/>
        </p:nvSpPr>
        <p:spPr>
          <a:xfrm>
            <a:off x="4365650" y="28364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4493666" y="2779776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peak throughput</a:t>
            </a:r>
            <a:endParaRPr lang="en-US" sz="950" dirty="0"/>
          </a:p>
        </p:txBody>
      </p:sp>
      <p:sp>
        <p:nvSpPr>
          <p:cNvPr id="69" name="Shape 65"/>
          <p:cNvSpPr/>
          <p:nvPr/>
        </p:nvSpPr>
        <p:spPr>
          <a:xfrm>
            <a:off x="6123280" y="28364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6251296" y="2779776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активация CA</a:t>
            </a:r>
            <a:endParaRPr lang="en-US" sz="950" dirty="0"/>
          </a:p>
        </p:txBody>
      </p:sp>
      <p:sp>
        <p:nvSpPr>
          <p:cNvPr id="71" name="Shape 67"/>
          <p:cNvSpPr/>
          <p:nvPr/>
        </p:nvSpPr>
        <p:spPr>
          <a:xfrm>
            <a:off x="4365650" y="30102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4493666" y="2953512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sustained throughput</a:t>
            </a:r>
            <a:endParaRPr lang="en-US" sz="950" dirty="0"/>
          </a:p>
        </p:txBody>
      </p:sp>
      <p:sp>
        <p:nvSpPr>
          <p:cNvPr id="73" name="Shape 69"/>
          <p:cNvSpPr/>
          <p:nvPr/>
        </p:nvSpPr>
        <p:spPr>
          <a:xfrm>
            <a:off x="6123280" y="30102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6251296" y="2953512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DL / UL asymmetry</a:t>
            </a:r>
            <a:endParaRPr lang="en-US" sz="950" dirty="0"/>
          </a:p>
        </p:txBody>
      </p:sp>
      <p:sp>
        <p:nvSpPr>
          <p:cNvPr id="75" name="Shape 71"/>
          <p:cNvSpPr/>
          <p:nvPr/>
        </p:nvSpPr>
        <p:spPr>
          <a:xfrm>
            <a:off x="4365650" y="31839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4493666" y="3127248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поведение MIMO rank</a:t>
            </a:r>
            <a:endParaRPr lang="en-US" sz="950" dirty="0"/>
          </a:p>
        </p:txBody>
      </p:sp>
      <p:sp>
        <p:nvSpPr>
          <p:cNvPr id="77" name="Shape 73"/>
          <p:cNvSpPr/>
          <p:nvPr/>
        </p:nvSpPr>
        <p:spPr>
          <a:xfrm>
            <a:off x="6123280" y="31839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8" name="Text 74"/>
          <p:cNvSpPr txBox="1"/>
          <p:nvPr/>
        </p:nvSpPr>
        <p:spPr>
          <a:xfrm>
            <a:off x="6251296" y="3127248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пределы UE capability</a:t>
            </a:r>
            <a:endParaRPr lang="en-US" sz="950" dirty="0"/>
          </a:p>
        </p:txBody>
      </p:sp>
      <p:sp>
        <p:nvSpPr>
          <p:cNvPr id="79" name="Shape 75"/>
          <p:cNvSpPr/>
          <p:nvPr/>
        </p:nvSpPr>
        <p:spPr>
          <a:xfrm>
            <a:off x="8127797" y="640080"/>
            <a:ext cx="3789578" cy="2724912"/>
          </a:xfrm>
          <a:prstGeom prst="roundRect">
            <a:avLst>
              <a:gd name="adj" fmla="val 2685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8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713232"/>
            <a:ext cx="256032" cy="256032"/>
          </a:xfrm>
          <a:prstGeom prst="rect">
            <a:avLst/>
          </a:prstGeom>
        </p:spPr>
      </p:pic>
      <p:sp>
        <p:nvSpPr>
          <p:cNvPr id="81" name="Text 76"/>
          <p:cNvSpPr txBox="1"/>
          <p:nvPr/>
        </p:nvSpPr>
        <p:spPr>
          <a:xfrm>
            <a:off x="8603285" y="694944"/>
            <a:ext cx="32226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3) Эмуляция радиоканала</a:t>
            </a:r>
            <a:endParaRPr lang="en-US" sz="1250" dirty="0"/>
          </a:p>
        </p:txBody>
      </p:sp>
      <p:sp>
        <p:nvSpPr>
          <p:cNvPr id="82" name="Text 77"/>
          <p:cNvSpPr txBox="1"/>
          <p:nvPr/>
        </p:nvSpPr>
        <p:spPr>
          <a:xfrm>
            <a:off x="8283245" y="1042416"/>
            <a:ext cx="17547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83" name="Shape 78"/>
          <p:cNvSpPr/>
          <p:nvPr/>
        </p:nvSpPr>
        <p:spPr>
          <a:xfrm>
            <a:off x="8292389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4" name="Text 79"/>
          <p:cNvSpPr txBox="1"/>
          <p:nvPr/>
        </p:nvSpPr>
        <p:spPr>
          <a:xfrm>
            <a:off x="8420405" y="1243584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эмулятор радиоканала</a:t>
            </a:r>
            <a:endParaRPr lang="en-US" sz="950" dirty="0"/>
          </a:p>
        </p:txBody>
      </p:sp>
      <p:sp>
        <p:nvSpPr>
          <p:cNvPr id="85" name="Shape 80"/>
          <p:cNvSpPr/>
          <p:nvPr/>
        </p:nvSpPr>
        <p:spPr>
          <a:xfrm>
            <a:off x="8292389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6" name="Text 81"/>
          <p:cNvSpPr txBox="1"/>
          <p:nvPr/>
        </p:nvSpPr>
        <p:spPr>
          <a:xfrm>
            <a:off x="8420405" y="1417320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MIMO эмулятор канала</a:t>
            </a:r>
            <a:endParaRPr lang="en-US" sz="950" dirty="0"/>
          </a:p>
        </p:txBody>
      </p:sp>
      <p:sp>
        <p:nvSpPr>
          <p:cNvPr id="87" name="Shape 82"/>
          <p:cNvSpPr/>
          <p:nvPr/>
        </p:nvSpPr>
        <p:spPr>
          <a:xfrm>
            <a:off x="8292389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8" name="Text 83"/>
          <p:cNvSpPr txBox="1"/>
          <p:nvPr/>
        </p:nvSpPr>
        <p:spPr>
          <a:xfrm>
            <a:off x="8420405" y="1591056"/>
            <a:ext cx="156275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источник шума / помех</a:t>
            </a:r>
            <a:endParaRPr lang="en-US" sz="950" dirty="0"/>
          </a:p>
        </p:txBody>
      </p:sp>
      <p:sp>
        <p:nvSpPr>
          <p:cNvPr id="89" name="Shape 84"/>
          <p:cNvSpPr/>
          <p:nvPr/>
        </p:nvSpPr>
        <p:spPr>
          <a:xfrm>
            <a:off x="8292389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0" name="Text 85"/>
          <p:cNvSpPr txBox="1"/>
          <p:nvPr/>
        </p:nvSpPr>
        <p:spPr>
          <a:xfrm>
            <a:off x="8420405" y="1764792"/>
            <a:ext cx="1562758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аттенюатор / управление ослаблением</a:t>
            </a:r>
            <a:endParaRPr lang="en-US" sz="950" dirty="0"/>
          </a:p>
        </p:txBody>
      </p:sp>
      <p:sp>
        <p:nvSpPr>
          <p:cNvPr id="91" name="Text 86"/>
          <p:cNvSpPr txBox="1"/>
          <p:nvPr/>
        </p:nvSpPr>
        <p:spPr>
          <a:xfrm>
            <a:off x="10147755" y="1042416"/>
            <a:ext cx="16507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</a:t>
            </a:r>
            <a:endParaRPr lang="en-US" sz="1000" dirty="0"/>
          </a:p>
        </p:txBody>
      </p:sp>
      <p:sp>
        <p:nvSpPr>
          <p:cNvPr id="92" name="Shape 87"/>
          <p:cNvSpPr/>
          <p:nvPr/>
        </p:nvSpPr>
        <p:spPr>
          <a:xfrm>
            <a:off x="10156899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10284915" y="124358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SINR, path loss</a:t>
            </a:r>
            <a:endParaRPr lang="en-US" sz="950" dirty="0"/>
          </a:p>
        </p:txBody>
      </p:sp>
      <p:sp>
        <p:nvSpPr>
          <p:cNvPr id="94" name="Shape 89"/>
          <p:cNvSpPr/>
          <p:nvPr/>
        </p:nvSpPr>
        <p:spPr>
          <a:xfrm>
            <a:off x="10156899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10284915" y="1417320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fading, Doppler</a:t>
            </a:r>
            <a:endParaRPr lang="en-US" sz="950" dirty="0"/>
          </a:p>
        </p:txBody>
      </p:sp>
      <p:sp>
        <p:nvSpPr>
          <p:cNvPr id="96" name="Shape 91"/>
          <p:cNvSpPr/>
          <p:nvPr/>
        </p:nvSpPr>
        <p:spPr>
          <a:xfrm>
            <a:off x="10156899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10284915" y="1591056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delay spread</a:t>
            </a:r>
            <a:endParaRPr lang="en-US" sz="950" dirty="0"/>
          </a:p>
        </p:txBody>
      </p:sp>
      <p:sp>
        <p:nvSpPr>
          <p:cNvPr id="98" name="Shape 93"/>
          <p:cNvSpPr/>
          <p:nvPr/>
        </p:nvSpPr>
        <p:spPr>
          <a:xfrm>
            <a:off x="10156899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10284915" y="1764792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multipath</a:t>
            </a:r>
            <a:endParaRPr lang="en-US" sz="950" dirty="0"/>
          </a:p>
        </p:txBody>
      </p:sp>
      <p:sp>
        <p:nvSpPr>
          <p:cNvPr id="100" name="Shape 95"/>
          <p:cNvSpPr/>
          <p:nvPr/>
        </p:nvSpPr>
        <p:spPr>
          <a:xfrm>
            <a:off x="10156899" y="19952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1" name="Text 96"/>
          <p:cNvSpPr txBox="1"/>
          <p:nvPr/>
        </p:nvSpPr>
        <p:spPr>
          <a:xfrm>
            <a:off x="10284915" y="1938528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interference</a:t>
            </a:r>
            <a:endParaRPr lang="en-US" sz="950" dirty="0"/>
          </a:p>
        </p:txBody>
      </p:sp>
      <p:sp>
        <p:nvSpPr>
          <p:cNvPr id="102" name="Shape 97"/>
          <p:cNvSpPr/>
          <p:nvPr/>
        </p:nvSpPr>
        <p:spPr>
          <a:xfrm>
            <a:off x="10156899" y="216895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3" name="Text 98"/>
          <p:cNvSpPr txBox="1"/>
          <p:nvPr/>
        </p:nvSpPr>
        <p:spPr>
          <a:xfrm>
            <a:off x="10284915" y="2112264"/>
            <a:ext cx="14587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условия края соты</a:t>
            </a:r>
            <a:endParaRPr lang="en-US" sz="950" dirty="0"/>
          </a:p>
        </p:txBody>
      </p:sp>
      <p:sp>
        <p:nvSpPr>
          <p:cNvPr id="104" name="Shape 99"/>
          <p:cNvSpPr/>
          <p:nvPr/>
        </p:nvSpPr>
        <p:spPr>
          <a:xfrm>
            <a:off x="8283245" y="2340864"/>
            <a:ext cx="351525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05" name="Text 100"/>
          <p:cNvSpPr txBox="1"/>
          <p:nvPr/>
        </p:nvSpPr>
        <p:spPr>
          <a:xfrm>
            <a:off x="8283245" y="2404872"/>
            <a:ext cx="35152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106" name="Shape 101"/>
          <p:cNvSpPr/>
          <p:nvPr/>
        </p:nvSpPr>
        <p:spPr>
          <a:xfrm>
            <a:off x="8292389" y="26627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7" name="Text 102"/>
          <p:cNvSpPr txBox="1"/>
          <p:nvPr/>
        </p:nvSpPr>
        <p:spPr>
          <a:xfrm>
            <a:off x="8420405" y="2606040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throughput при fading</a:t>
            </a:r>
            <a:endParaRPr lang="en-US" sz="950" dirty="0"/>
          </a:p>
        </p:txBody>
      </p:sp>
      <p:sp>
        <p:nvSpPr>
          <p:cNvPr id="108" name="Shape 103"/>
          <p:cNvSpPr/>
          <p:nvPr/>
        </p:nvSpPr>
        <p:spPr>
          <a:xfrm>
            <a:off x="10050018" y="26627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09" name="Text 104"/>
          <p:cNvSpPr txBox="1"/>
          <p:nvPr/>
        </p:nvSpPr>
        <p:spPr>
          <a:xfrm>
            <a:off x="10178034" y="2606040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rank</a:t>
            </a:r>
            <a:endParaRPr lang="en-US" sz="950" dirty="0"/>
          </a:p>
        </p:txBody>
      </p:sp>
      <p:sp>
        <p:nvSpPr>
          <p:cNvPr id="110" name="Shape 105"/>
          <p:cNvSpPr/>
          <p:nvPr/>
        </p:nvSpPr>
        <p:spPr>
          <a:xfrm>
            <a:off x="8292389" y="28364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1" name="Text 106"/>
          <p:cNvSpPr txBox="1"/>
          <p:nvPr/>
        </p:nvSpPr>
        <p:spPr>
          <a:xfrm>
            <a:off x="8420405" y="2779776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BLER</a:t>
            </a:r>
            <a:endParaRPr lang="en-US" sz="950" dirty="0"/>
          </a:p>
        </p:txBody>
      </p:sp>
      <p:sp>
        <p:nvSpPr>
          <p:cNvPr id="112" name="Shape 107"/>
          <p:cNvSpPr/>
          <p:nvPr/>
        </p:nvSpPr>
        <p:spPr>
          <a:xfrm>
            <a:off x="10050018" y="28364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3" name="Text 108"/>
          <p:cNvSpPr txBox="1"/>
          <p:nvPr/>
        </p:nvSpPr>
        <p:spPr>
          <a:xfrm>
            <a:off x="10178034" y="2779776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устойчивость CA</a:t>
            </a:r>
            <a:endParaRPr lang="en-US" sz="950" dirty="0"/>
          </a:p>
        </p:txBody>
      </p:sp>
      <p:sp>
        <p:nvSpPr>
          <p:cNvPr id="114" name="Shape 109"/>
          <p:cNvSpPr/>
          <p:nvPr/>
        </p:nvSpPr>
        <p:spPr>
          <a:xfrm>
            <a:off x="8292389" y="30102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5" name="Text 110"/>
          <p:cNvSpPr txBox="1"/>
          <p:nvPr/>
        </p:nvSpPr>
        <p:spPr>
          <a:xfrm>
            <a:off x="8420405" y="2953512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HARQ retransmissions</a:t>
            </a:r>
            <a:endParaRPr lang="en-US" sz="950" dirty="0"/>
          </a:p>
        </p:txBody>
      </p:sp>
      <p:sp>
        <p:nvSpPr>
          <p:cNvPr id="116" name="Shape 111"/>
          <p:cNvSpPr/>
          <p:nvPr/>
        </p:nvSpPr>
        <p:spPr>
          <a:xfrm>
            <a:off x="10050018" y="30102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7" name="Text 112"/>
          <p:cNvSpPr txBox="1"/>
          <p:nvPr/>
        </p:nvSpPr>
        <p:spPr>
          <a:xfrm>
            <a:off x="10178034" y="2953512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throughput на краю соты</a:t>
            </a:r>
            <a:endParaRPr lang="en-US" sz="950" dirty="0"/>
          </a:p>
        </p:txBody>
      </p:sp>
      <p:sp>
        <p:nvSpPr>
          <p:cNvPr id="118" name="Shape 113"/>
          <p:cNvSpPr/>
          <p:nvPr/>
        </p:nvSpPr>
        <p:spPr>
          <a:xfrm>
            <a:off x="8292389" y="318394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9" name="Text 114"/>
          <p:cNvSpPr txBox="1"/>
          <p:nvPr/>
        </p:nvSpPr>
        <p:spPr>
          <a:xfrm>
            <a:off x="8420405" y="3127248"/>
            <a:ext cx="15656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link adaptation</a:t>
            </a:r>
            <a:endParaRPr lang="en-US" sz="950" dirty="0"/>
          </a:p>
        </p:txBody>
      </p:sp>
      <p:sp>
        <p:nvSpPr>
          <p:cNvPr id="120" name="Shape 115"/>
          <p:cNvSpPr/>
          <p:nvPr/>
        </p:nvSpPr>
        <p:spPr>
          <a:xfrm>
            <a:off x="5044288" y="3822192"/>
            <a:ext cx="2103120" cy="1892808"/>
          </a:xfrm>
          <a:prstGeom prst="roundRect">
            <a:avLst>
              <a:gd name="adj" fmla="val 4831"/>
            </a:avLst>
          </a:prstGeom>
          <a:solidFill>
            <a:srgbClr val="534EE6"/>
          </a:solidFill>
          <a:ln/>
        </p:spPr>
      </p:sp>
      <p:pic>
        <p:nvPicPr>
          <p:cNvPr id="1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3959352"/>
            <a:ext cx="457200" cy="457200"/>
          </a:xfrm>
          <a:prstGeom prst="rect">
            <a:avLst/>
          </a:prstGeom>
        </p:spPr>
      </p:pic>
      <p:sp>
        <p:nvSpPr>
          <p:cNvPr id="122" name="Text 116"/>
          <p:cNvSpPr txBox="1"/>
          <p:nvPr/>
        </p:nvSpPr>
        <p:spPr>
          <a:xfrm>
            <a:off x="5044288" y="446227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200" dirty="0"/>
          </a:p>
        </p:txBody>
      </p:sp>
      <p:sp>
        <p:nvSpPr>
          <p:cNvPr id="123" name="Text 117"/>
          <p:cNvSpPr txBox="1"/>
          <p:nvPr/>
        </p:nvSpPr>
        <p:spPr>
          <a:xfrm>
            <a:off x="5135728" y="482803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050" dirty="0"/>
          </a:p>
        </p:txBody>
      </p:sp>
      <p:sp>
        <p:nvSpPr>
          <p:cNvPr id="124" name="Shape 118"/>
          <p:cNvSpPr/>
          <p:nvPr/>
        </p:nvSpPr>
        <p:spPr>
          <a:xfrm>
            <a:off x="6095848" y="3383280"/>
            <a:ext cx="0" cy="420624"/>
          </a:xfrm>
          <a:prstGeom prst="line">
            <a:avLst/>
          </a:prstGeom>
          <a:noFill/>
          <a:ln w="1905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125" name="Shape 119"/>
          <p:cNvSpPr/>
          <p:nvPr/>
        </p:nvSpPr>
        <p:spPr>
          <a:xfrm>
            <a:off x="4925416" y="4768596"/>
            <a:ext cx="100584" cy="0"/>
          </a:xfrm>
          <a:prstGeom prst="line">
            <a:avLst/>
          </a:prstGeom>
          <a:noFill/>
          <a:ln w="1905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126" name="Shape 120"/>
          <p:cNvSpPr/>
          <p:nvPr/>
        </p:nvSpPr>
        <p:spPr>
          <a:xfrm>
            <a:off x="7165696" y="4768596"/>
            <a:ext cx="100584" cy="0"/>
          </a:xfrm>
          <a:prstGeom prst="line">
            <a:avLst/>
          </a:prstGeom>
          <a:noFill/>
          <a:ln w="19050">
            <a:solidFill>
              <a:srgbClr val="534EE6"/>
            </a:solidFill>
            <a:prstDash val="solid"/>
            <a:headEnd type="triangle"/>
            <a:tailEnd type="triangle"/>
          </a:ln>
        </p:spPr>
      </p:sp>
      <p:sp>
        <p:nvSpPr>
          <p:cNvPr id="127" name="Shape 121"/>
          <p:cNvSpPr/>
          <p:nvPr/>
        </p:nvSpPr>
        <p:spPr>
          <a:xfrm>
            <a:off x="274320" y="3502152"/>
            <a:ext cx="4632808" cy="2532888"/>
          </a:xfrm>
          <a:prstGeom prst="roundRect">
            <a:avLst>
              <a:gd name="adj" fmla="val 2888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575304"/>
            <a:ext cx="256032" cy="256032"/>
          </a:xfrm>
          <a:prstGeom prst="rect">
            <a:avLst/>
          </a:prstGeom>
        </p:spPr>
      </p:pic>
      <p:sp>
        <p:nvSpPr>
          <p:cNvPr id="129" name="Text 122"/>
          <p:cNvSpPr txBox="1"/>
          <p:nvPr/>
        </p:nvSpPr>
        <p:spPr>
          <a:xfrm>
            <a:off x="749808" y="3557016"/>
            <a:ext cx="406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4) Генерация трафика и application endpoint</a:t>
            </a:r>
            <a:endParaRPr lang="en-US" sz="1250" dirty="0"/>
          </a:p>
        </p:txBody>
      </p:sp>
      <p:sp>
        <p:nvSpPr>
          <p:cNvPr id="130" name="Text 123"/>
          <p:cNvSpPr txBox="1"/>
          <p:nvPr/>
        </p:nvSpPr>
        <p:spPr>
          <a:xfrm>
            <a:off x="429768" y="3904488"/>
            <a:ext cx="18445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131" name="Shape 124"/>
          <p:cNvSpPr/>
          <p:nvPr/>
        </p:nvSpPr>
        <p:spPr>
          <a:xfrm>
            <a:off x="438912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2" name="Text 125"/>
          <p:cNvSpPr txBox="1"/>
          <p:nvPr/>
        </p:nvSpPr>
        <p:spPr>
          <a:xfrm>
            <a:off x="566928" y="4105656"/>
            <a:ext cx="165255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генератор трафика</a:t>
            </a:r>
            <a:endParaRPr lang="en-US" sz="950" dirty="0"/>
          </a:p>
        </p:txBody>
      </p:sp>
      <p:sp>
        <p:nvSpPr>
          <p:cNvPr id="133" name="Shape 126"/>
          <p:cNvSpPr/>
          <p:nvPr/>
        </p:nvSpPr>
        <p:spPr>
          <a:xfrm>
            <a:off x="438912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4" name="Text 127"/>
          <p:cNvSpPr txBox="1"/>
          <p:nvPr/>
        </p:nvSpPr>
        <p:spPr>
          <a:xfrm>
            <a:off x="566928" y="4279392"/>
            <a:ext cx="1652559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сервер приложения / конечная точка трафика</a:t>
            </a:r>
            <a:endParaRPr lang="en-US" sz="950" dirty="0"/>
          </a:p>
        </p:txBody>
      </p:sp>
      <p:sp>
        <p:nvSpPr>
          <p:cNvPr id="135" name="Shape 128"/>
          <p:cNvSpPr/>
          <p:nvPr/>
        </p:nvSpPr>
        <p:spPr>
          <a:xfrm>
            <a:off x="438912" y="464707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6" name="Text 129"/>
          <p:cNvSpPr txBox="1"/>
          <p:nvPr/>
        </p:nvSpPr>
        <p:spPr>
          <a:xfrm>
            <a:off x="566928" y="4590379"/>
            <a:ext cx="165255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тестовая система L4–7</a:t>
            </a:r>
            <a:endParaRPr lang="en-US" sz="950" dirty="0"/>
          </a:p>
        </p:txBody>
      </p:sp>
      <p:sp>
        <p:nvSpPr>
          <p:cNvPr id="137" name="Shape 130"/>
          <p:cNvSpPr/>
          <p:nvPr/>
        </p:nvSpPr>
        <p:spPr>
          <a:xfrm>
            <a:off x="438912" y="48208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8" name="Text 131"/>
          <p:cNvSpPr txBox="1"/>
          <p:nvPr/>
        </p:nvSpPr>
        <p:spPr>
          <a:xfrm>
            <a:off x="566928" y="4764115"/>
            <a:ext cx="1652559" cy="3109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инструмент TCP / UDP трафика</a:t>
            </a:r>
            <a:endParaRPr lang="en-US" sz="950" dirty="0"/>
          </a:p>
        </p:txBody>
      </p:sp>
      <p:sp>
        <p:nvSpPr>
          <p:cNvPr id="139" name="Text 132"/>
          <p:cNvSpPr txBox="1"/>
          <p:nvPr/>
        </p:nvSpPr>
        <p:spPr>
          <a:xfrm>
            <a:off x="2384079" y="3904488"/>
            <a:ext cx="240417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задаёт</a:t>
            </a:r>
            <a:endParaRPr lang="en-US" sz="1000" dirty="0"/>
          </a:p>
        </p:txBody>
      </p:sp>
      <p:sp>
        <p:nvSpPr>
          <p:cNvPr id="140" name="Shape 133"/>
          <p:cNvSpPr/>
          <p:nvPr/>
        </p:nvSpPr>
        <p:spPr>
          <a:xfrm>
            <a:off x="2393223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1" name="Text 134"/>
          <p:cNvSpPr txBox="1"/>
          <p:nvPr/>
        </p:nvSpPr>
        <p:spPr>
          <a:xfrm>
            <a:off x="2521239" y="4105656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TCP traffic</a:t>
            </a:r>
            <a:endParaRPr lang="en-US" sz="950" dirty="0"/>
          </a:p>
        </p:txBody>
      </p:sp>
      <p:sp>
        <p:nvSpPr>
          <p:cNvPr id="142" name="Shape 135"/>
          <p:cNvSpPr/>
          <p:nvPr/>
        </p:nvSpPr>
        <p:spPr>
          <a:xfrm>
            <a:off x="3595311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3" name="Text 136"/>
          <p:cNvSpPr txBox="1"/>
          <p:nvPr/>
        </p:nvSpPr>
        <p:spPr>
          <a:xfrm>
            <a:off x="3723327" y="4105656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packet size</a:t>
            </a:r>
            <a:endParaRPr lang="en-US" sz="950" dirty="0"/>
          </a:p>
        </p:txBody>
      </p:sp>
      <p:sp>
        <p:nvSpPr>
          <p:cNvPr id="144" name="Shape 137"/>
          <p:cNvSpPr/>
          <p:nvPr/>
        </p:nvSpPr>
        <p:spPr>
          <a:xfrm>
            <a:off x="2393223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5" name="Text 138"/>
          <p:cNvSpPr txBox="1"/>
          <p:nvPr/>
        </p:nvSpPr>
        <p:spPr>
          <a:xfrm>
            <a:off x="2521239" y="4279392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UDP traffic</a:t>
            </a:r>
            <a:endParaRPr lang="en-US" sz="950" dirty="0"/>
          </a:p>
        </p:txBody>
      </p:sp>
      <p:sp>
        <p:nvSpPr>
          <p:cNvPr id="146" name="Shape 139"/>
          <p:cNvSpPr/>
          <p:nvPr/>
        </p:nvSpPr>
        <p:spPr>
          <a:xfrm>
            <a:off x="3595311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7" name="Text 140"/>
          <p:cNvSpPr txBox="1"/>
          <p:nvPr/>
        </p:nvSpPr>
        <p:spPr>
          <a:xfrm>
            <a:off x="3723327" y="4279392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duration</a:t>
            </a:r>
            <a:endParaRPr lang="en-US" sz="950" dirty="0"/>
          </a:p>
        </p:txBody>
      </p:sp>
      <p:sp>
        <p:nvSpPr>
          <p:cNvPr id="148" name="Shape 141"/>
          <p:cNvSpPr/>
          <p:nvPr/>
        </p:nvSpPr>
        <p:spPr>
          <a:xfrm>
            <a:off x="2393223" y="45098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49" name="Text 142"/>
          <p:cNvSpPr txBox="1"/>
          <p:nvPr/>
        </p:nvSpPr>
        <p:spPr>
          <a:xfrm>
            <a:off x="2521239" y="4453128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HTTP profile</a:t>
            </a:r>
            <a:endParaRPr lang="en-US" sz="950" dirty="0"/>
          </a:p>
        </p:txBody>
      </p:sp>
      <p:sp>
        <p:nvSpPr>
          <p:cNvPr id="150" name="Shape 143"/>
          <p:cNvSpPr/>
          <p:nvPr/>
        </p:nvSpPr>
        <p:spPr>
          <a:xfrm>
            <a:off x="3595311" y="45098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1" name="Text 144"/>
          <p:cNvSpPr txBox="1"/>
          <p:nvPr/>
        </p:nvSpPr>
        <p:spPr>
          <a:xfrm>
            <a:off x="3723327" y="4453128"/>
            <a:ext cx="1010065" cy="448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профиль нагрузки приложения</a:t>
            </a:r>
            <a:endParaRPr lang="en-US" sz="950" dirty="0"/>
          </a:p>
        </p:txBody>
      </p:sp>
      <p:sp>
        <p:nvSpPr>
          <p:cNvPr id="152" name="Shape 145"/>
          <p:cNvSpPr/>
          <p:nvPr/>
        </p:nvSpPr>
        <p:spPr>
          <a:xfrm>
            <a:off x="2393223" y="4958060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3" name="Text 146"/>
          <p:cNvSpPr txBox="1"/>
          <p:nvPr/>
        </p:nvSpPr>
        <p:spPr>
          <a:xfrm>
            <a:off x="2521239" y="4901367"/>
            <a:ext cx="101006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parallel sessions</a:t>
            </a:r>
            <a:endParaRPr lang="en-US" sz="950" dirty="0"/>
          </a:p>
        </p:txBody>
      </p:sp>
      <p:sp>
        <p:nvSpPr>
          <p:cNvPr id="154" name="Shape 147"/>
          <p:cNvSpPr/>
          <p:nvPr/>
        </p:nvSpPr>
        <p:spPr>
          <a:xfrm>
            <a:off x="429768" y="5129967"/>
            <a:ext cx="435848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55" name="Text 148"/>
          <p:cNvSpPr txBox="1"/>
          <p:nvPr/>
        </p:nvSpPr>
        <p:spPr>
          <a:xfrm>
            <a:off x="429768" y="5193975"/>
            <a:ext cx="435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проверяется</a:t>
            </a:r>
            <a:endParaRPr lang="en-US" sz="1000" dirty="0"/>
          </a:p>
        </p:txBody>
      </p:sp>
      <p:sp>
        <p:nvSpPr>
          <p:cNvPr id="156" name="Shape 149"/>
          <p:cNvSpPr/>
          <p:nvPr/>
        </p:nvSpPr>
        <p:spPr>
          <a:xfrm>
            <a:off x="438912" y="545183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7" name="Text 150"/>
          <p:cNvSpPr txBox="1"/>
          <p:nvPr/>
        </p:nvSpPr>
        <p:spPr>
          <a:xfrm>
            <a:off x="566928" y="5395143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 throughput</a:t>
            </a:r>
            <a:endParaRPr lang="en-US" sz="950" dirty="0"/>
          </a:p>
        </p:txBody>
      </p:sp>
      <p:sp>
        <p:nvSpPr>
          <p:cNvPr id="158" name="Shape 151"/>
          <p:cNvSpPr/>
          <p:nvPr/>
        </p:nvSpPr>
        <p:spPr>
          <a:xfrm>
            <a:off x="2618156" y="5451836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9" name="Text 152"/>
          <p:cNvSpPr txBox="1"/>
          <p:nvPr/>
        </p:nvSpPr>
        <p:spPr>
          <a:xfrm>
            <a:off x="2746172" y="5395143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application goodput</a:t>
            </a:r>
            <a:endParaRPr lang="en-US" sz="950" dirty="0"/>
          </a:p>
        </p:txBody>
      </p:sp>
      <p:sp>
        <p:nvSpPr>
          <p:cNvPr id="160" name="Shape 153"/>
          <p:cNvSpPr/>
          <p:nvPr/>
        </p:nvSpPr>
        <p:spPr>
          <a:xfrm>
            <a:off x="438912" y="562557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61" name="Text 154"/>
          <p:cNvSpPr txBox="1"/>
          <p:nvPr/>
        </p:nvSpPr>
        <p:spPr>
          <a:xfrm>
            <a:off x="566928" y="5568879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TCP throughput</a:t>
            </a:r>
            <a:endParaRPr lang="en-US" sz="950" dirty="0"/>
          </a:p>
        </p:txBody>
      </p:sp>
      <p:sp>
        <p:nvSpPr>
          <p:cNvPr id="162" name="Shape 155"/>
          <p:cNvSpPr/>
          <p:nvPr/>
        </p:nvSpPr>
        <p:spPr>
          <a:xfrm>
            <a:off x="2618156" y="5625572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63" name="Text 156"/>
          <p:cNvSpPr txBox="1"/>
          <p:nvPr/>
        </p:nvSpPr>
        <p:spPr>
          <a:xfrm>
            <a:off x="2746172" y="5568879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QoE-чувствительное поведение</a:t>
            </a:r>
            <a:endParaRPr lang="en-US" sz="950" dirty="0"/>
          </a:p>
        </p:txBody>
      </p:sp>
      <p:sp>
        <p:nvSpPr>
          <p:cNvPr id="164" name="Shape 157"/>
          <p:cNvSpPr/>
          <p:nvPr/>
        </p:nvSpPr>
        <p:spPr>
          <a:xfrm>
            <a:off x="438912" y="57993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65" name="Text 158"/>
          <p:cNvSpPr txBox="1"/>
          <p:nvPr/>
        </p:nvSpPr>
        <p:spPr>
          <a:xfrm>
            <a:off x="566928" y="5742615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UDP throughput</a:t>
            </a:r>
            <a:endParaRPr lang="en-US" sz="950" dirty="0"/>
          </a:p>
        </p:txBody>
      </p:sp>
      <p:sp>
        <p:nvSpPr>
          <p:cNvPr id="166" name="Shape 159"/>
          <p:cNvSpPr/>
          <p:nvPr/>
        </p:nvSpPr>
        <p:spPr>
          <a:xfrm>
            <a:off x="2618156" y="5799308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67" name="Text 160"/>
          <p:cNvSpPr txBox="1"/>
          <p:nvPr/>
        </p:nvSpPr>
        <p:spPr>
          <a:xfrm>
            <a:off x="2746172" y="5742615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симметрия UL / DL traffic</a:t>
            </a:r>
            <a:endParaRPr lang="en-US" sz="950" dirty="0"/>
          </a:p>
        </p:txBody>
      </p:sp>
      <p:sp>
        <p:nvSpPr>
          <p:cNvPr id="168" name="Shape 161"/>
          <p:cNvSpPr/>
          <p:nvPr/>
        </p:nvSpPr>
        <p:spPr>
          <a:xfrm>
            <a:off x="7284568" y="3502152"/>
            <a:ext cx="4632808" cy="2532888"/>
          </a:xfrm>
          <a:prstGeom prst="roundRect">
            <a:avLst>
              <a:gd name="adj" fmla="val 2888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16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1728" y="3575304"/>
            <a:ext cx="256032" cy="256032"/>
          </a:xfrm>
          <a:prstGeom prst="rect">
            <a:avLst/>
          </a:prstGeom>
        </p:spPr>
      </p:pic>
      <p:sp>
        <p:nvSpPr>
          <p:cNvPr id="170" name="Text 162"/>
          <p:cNvSpPr txBox="1"/>
          <p:nvPr/>
        </p:nvSpPr>
        <p:spPr>
          <a:xfrm>
            <a:off x="7760056" y="3557016"/>
            <a:ext cx="406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5) Измерение, capture и root cause analysis</a:t>
            </a:r>
            <a:endParaRPr lang="en-US" sz="1250" dirty="0"/>
          </a:p>
        </p:txBody>
      </p:sp>
      <p:sp>
        <p:nvSpPr>
          <p:cNvPr id="171" name="Text 163"/>
          <p:cNvSpPr txBox="1"/>
          <p:nvPr/>
        </p:nvSpPr>
        <p:spPr>
          <a:xfrm>
            <a:off x="7440016" y="3904488"/>
            <a:ext cx="435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средств</a:t>
            </a:r>
            <a:endParaRPr lang="en-US" sz="1000" dirty="0"/>
          </a:p>
        </p:txBody>
      </p:sp>
      <p:sp>
        <p:nvSpPr>
          <p:cNvPr id="172" name="Shape 164"/>
          <p:cNvSpPr/>
          <p:nvPr/>
        </p:nvSpPr>
        <p:spPr>
          <a:xfrm>
            <a:off x="7449160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3" name="Text 165"/>
          <p:cNvSpPr txBox="1"/>
          <p:nvPr/>
        </p:nvSpPr>
        <p:spPr>
          <a:xfrm>
            <a:off x="7577176" y="4105656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protocol trace</a:t>
            </a:r>
            <a:endParaRPr lang="en-US" sz="950" dirty="0"/>
          </a:p>
        </p:txBody>
      </p:sp>
      <p:sp>
        <p:nvSpPr>
          <p:cNvPr id="174" name="Shape 166"/>
          <p:cNvSpPr/>
          <p:nvPr/>
        </p:nvSpPr>
        <p:spPr>
          <a:xfrm>
            <a:off x="9628403" y="41623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5" name="Text 167"/>
          <p:cNvSpPr txBox="1"/>
          <p:nvPr/>
        </p:nvSpPr>
        <p:spPr>
          <a:xfrm>
            <a:off x="9756419" y="4105656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RF / PHY</a:t>
            </a:r>
            <a:endParaRPr lang="en-US" sz="950" dirty="0"/>
          </a:p>
        </p:txBody>
      </p:sp>
      <p:sp>
        <p:nvSpPr>
          <p:cNvPr id="176" name="Shape 168"/>
          <p:cNvSpPr/>
          <p:nvPr/>
        </p:nvSpPr>
        <p:spPr>
          <a:xfrm>
            <a:off x="7449160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7" name="Text 169"/>
          <p:cNvSpPr txBox="1"/>
          <p:nvPr/>
        </p:nvSpPr>
        <p:spPr>
          <a:xfrm>
            <a:off x="7577176" y="4279392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система packet capture</a:t>
            </a:r>
            <a:endParaRPr lang="en-US" sz="950" dirty="0"/>
          </a:p>
        </p:txBody>
      </p:sp>
      <p:sp>
        <p:nvSpPr>
          <p:cNvPr id="178" name="Shape 170"/>
          <p:cNvSpPr/>
          <p:nvPr/>
        </p:nvSpPr>
        <p:spPr>
          <a:xfrm>
            <a:off x="9628403" y="43360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9" name="Text 171"/>
          <p:cNvSpPr txBox="1"/>
          <p:nvPr/>
        </p:nvSpPr>
        <p:spPr>
          <a:xfrm>
            <a:off x="9756419" y="4279392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инструмент анализа IQ / PHY</a:t>
            </a:r>
            <a:endParaRPr lang="en-US" sz="950" dirty="0"/>
          </a:p>
        </p:txBody>
      </p:sp>
      <p:sp>
        <p:nvSpPr>
          <p:cNvPr id="180" name="Shape 172"/>
          <p:cNvSpPr/>
          <p:nvPr/>
        </p:nvSpPr>
        <p:spPr>
          <a:xfrm>
            <a:off x="7449160" y="45098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1" name="Text 173"/>
          <p:cNvSpPr txBox="1"/>
          <p:nvPr/>
        </p:nvSpPr>
        <p:spPr>
          <a:xfrm>
            <a:off x="7577176" y="4453128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анализатор статистики трафика</a:t>
            </a:r>
            <a:endParaRPr lang="en-US" sz="950" dirty="0"/>
          </a:p>
        </p:txBody>
      </p:sp>
      <p:sp>
        <p:nvSpPr>
          <p:cNvPr id="182" name="Shape 174"/>
          <p:cNvSpPr/>
          <p:nvPr/>
        </p:nvSpPr>
        <p:spPr>
          <a:xfrm>
            <a:off x="7440016" y="4681728"/>
            <a:ext cx="4358488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83" name="Text 175"/>
          <p:cNvSpPr txBox="1"/>
          <p:nvPr/>
        </p:nvSpPr>
        <p:spPr>
          <a:xfrm>
            <a:off x="7440016" y="4745736"/>
            <a:ext cx="435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анализируется</a:t>
            </a:r>
            <a:endParaRPr lang="en-US" sz="1000" dirty="0"/>
          </a:p>
        </p:txBody>
      </p:sp>
      <p:sp>
        <p:nvSpPr>
          <p:cNvPr id="184" name="Shape 176"/>
          <p:cNvSpPr/>
          <p:nvPr/>
        </p:nvSpPr>
        <p:spPr>
          <a:xfrm>
            <a:off x="7449160" y="50035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5" name="Text 177"/>
          <p:cNvSpPr txBox="1"/>
          <p:nvPr/>
        </p:nvSpPr>
        <p:spPr>
          <a:xfrm>
            <a:off x="7577176" y="4946904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CQI, RI, PMI</a:t>
            </a:r>
            <a:endParaRPr lang="en-US" sz="950" dirty="0"/>
          </a:p>
        </p:txBody>
      </p:sp>
      <p:sp>
        <p:nvSpPr>
          <p:cNvPr id="186" name="Shape 178"/>
          <p:cNvSpPr/>
          <p:nvPr/>
        </p:nvSpPr>
        <p:spPr>
          <a:xfrm>
            <a:off x="9628403" y="500359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7" name="Text 179"/>
          <p:cNvSpPr txBox="1"/>
          <p:nvPr/>
        </p:nvSpPr>
        <p:spPr>
          <a:xfrm>
            <a:off x="9756419" y="4946904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IP throughput</a:t>
            </a:r>
            <a:endParaRPr lang="en-US" sz="950" dirty="0"/>
          </a:p>
        </p:txBody>
      </p:sp>
      <p:sp>
        <p:nvSpPr>
          <p:cNvPr id="188" name="Shape 180"/>
          <p:cNvSpPr/>
          <p:nvPr/>
        </p:nvSpPr>
        <p:spPr>
          <a:xfrm>
            <a:off x="7449160" y="51773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89" name="Text 181"/>
          <p:cNvSpPr txBox="1"/>
          <p:nvPr/>
        </p:nvSpPr>
        <p:spPr>
          <a:xfrm>
            <a:off x="7577176" y="5120640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MCS, BLER</a:t>
            </a:r>
            <a:endParaRPr lang="en-US" sz="950" dirty="0"/>
          </a:p>
        </p:txBody>
      </p:sp>
      <p:sp>
        <p:nvSpPr>
          <p:cNvPr id="190" name="Shape 182"/>
          <p:cNvSpPr/>
          <p:nvPr/>
        </p:nvSpPr>
        <p:spPr>
          <a:xfrm>
            <a:off x="9628403" y="517733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1" name="Text 183"/>
          <p:cNvSpPr txBox="1"/>
          <p:nvPr/>
        </p:nvSpPr>
        <p:spPr>
          <a:xfrm>
            <a:off x="9756419" y="5120640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application goodput</a:t>
            </a:r>
            <a:endParaRPr lang="en-US" sz="950" dirty="0"/>
          </a:p>
        </p:txBody>
      </p:sp>
      <p:sp>
        <p:nvSpPr>
          <p:cNvPr id="192" name="Shape 184"/>
          <p:cNvSpPr/>
          <p:nvPr/>
        </p:nvSpPr>
        <p:spPr>
          <a:xfrm>
            <a:off x="7449160" y="53510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3" name="Text 185"/>
          <p:cNvSpPr txBox="1"/>
          <p:nvPr/>
        </p:nvSpPr>
        <p:spPr>
          <a:xfrm>
            <a:off x="7577176" y="5294376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HARQ retransmissions</a:t>
            </a:r>
            <a:endParaRPr lang="en-US" sz="950" dirty="0"/>
          </a:p>
        </p:txBody>
      </p:sp>
      <p:sp>
        <p:nvSpPr>
          <p:cNvPr id="194" name="Shape 186"/>
          <p:cNvSpPr/>
          <p:nvPr/>
        </p:nvSpPr>
        <p:spPr>
          <a:xfrm>
            <a:off x="9628403" y="535106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5" name="Text 187"/>
          <p:cNvSpPr txBox="1"/>
          <p:nvPr/>
        </p:nvSpPr>
        <p:spPr>
          <a:xfrm>
            <a:off x="9756419" y="5294376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IQ / PHY events</a:t>
            </a:r>
            <a:endParaRPr lang="en-US" sz="950" dirty="0"/>
          </a:p>
        </p:txBody>
      </p:sp>
      <p:sp>
        <p:nvSpPr>
          <p:cNvPr id="196" name="Shape 188"/>
          <p:cNvSpPr/>
          <p:nvPr/>
        </p:nvSpPr>
        <p:spPr>
          <a:xfrm>
            <a:off x="7449160" y="55248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7" name="Text 189"/>
          <p:cNvSpPr txBox="1"/>
          <p:nvPr/>
        </p:nvSpPr>
        <p:spPr>
          <a:xfrm>
            <a:off x="7577176" y="5468112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RLC / PDCP throughput</a:t>
            </a:r>
            <a:endParaRPr lang="en-US" sz="950" dirty="0"/>
          </a:p>
        </p:txBody>
      </p:sp>
      <p:sp>
        <p:nvSpPr>
          <p:cNvPr id="198" name="Shape 190"/>
          <p:cNvSpPr/>
          <p:nvPr/>
        </p:nvSpPr>
        <p:spPr>
          <a:xfrm>
            <a:off x="9628403" y="552480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99" name="Text 191"/>
          <p:cNvSpPr txBox="1"/>
          <p:nvPr/>
        </p:nvSpPr>
        <p:spPr>
          <a:xfrm>
            <a:off x="9756419" y="5468112"/>
            <a:ext cx="19872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CPU / thermal / power UE</a:t>
            </a:r>
            <a:endParaRPr lang="en-US" sz="950" dirty="0"/>
          </a:p>
        </p:txBody>
      </p:sp>
      <p:sp>
        <p:nvSpPr>
          <p:cNvPr id="200" name="Shape 192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20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202" name="Text 193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Performance-стенд объединяет пять контуров: сеть и сессию, радиоемкость, радиоканал, трафик и измерения — UE проверяется на их пересечении.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Performance testing UE: как найти узкое место и доказать результат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58368"/>
            <a:ext cx="11643055" cy="2697480"/>
          </a:xfrm>
          <a:prstGeom prst="roundRect">
            <a:avLst>
              <a:gd name="adj" fmla="val 2712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274320" y="713232"/>
            <a:ext cx="11643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Как инженер локализует узкое место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1208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21208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1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8299" y="1188720"/>
            <a:ext cx="347472" cy="3474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21208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падает MCS и растёт BLER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21208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21208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radio conditions, SINR, fading, interference, channel estimation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12659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22387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822387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2</a:t>
            </a:r>
            <a:endParaRPr lang="en-US" sz="13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478" y="1188720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822387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MIMO rank не удерживается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2822387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2822387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antenna behavior, spatial correlation, SINR, ограничения приёмника UE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013838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123566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123566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</a:t>
            </a:r>
            <a:endParaRPr lang="en-US" sz="13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657" y="1188720"/>
            <a:ext cx="347472" cy="34747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123566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CA активируется, но throughput не растёт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123566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5123566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scheduler, UE capability, band combination, power / thermal limit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315017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424745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7424745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4</a:t>
            </a:r>
            <a:endParaRPr lang="en-US" sz="13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1836" y="1188720"/>
            <a:ext cx="347472" cy="34747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424745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PHY / RLC throughput высокий, а application goodput низкий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424745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7424745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TCP, packet loss, buffering, application endpoint, CPU limit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616196" y="1097280"/>
            <a:ext cx="2164019" cy="213055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5875">
            <a:solidFill>
              <a:srgbClr val="7F7BEC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725924" y="1207008"/>
            <a:ext cx="310896" cy="310896"/>
          </a:xfrm>
          <a:prstGeom prst="ellipse">
            <a:avLst/>
          </a:prstGeom>
          <a:solidFill>
            <a:srgbClr val="534EE6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9725924" y="1207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5</a:t>
            </a:r>
            <a:endParaRPr lang="en-US" sz="1300" dirty="0"/>
          </a:p>
        </p:txBody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3015" y="1188720"/>
            <a:ext cx="347472" cy="347472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9725924" y="1618488"/>
            <a:ext cx="19445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Если throughput падает со временем</a:t>
            </a:r>
            <a:endParaRPr lang="en-US" sz="1050" dirty="0"/>
          </a:p>
        </p:txBody>
      </p:sp>
      <p:sp>
        <p:nvSpPr>
          <p:cNvPr id="38" name="Text 31"/>
          <p:cNvSpPr txBox="1"/>
          <p:nvPr/>
        </p:nvSpPr>
        <p:spPr>
          <a:xfrm>
            <a:off x="9725924" y="2212848"/>
            <a:ext cx="194456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вероятная зона:</a:t>
            </a:r>
            <a:endParaRPr lang="en-US" sz="950" dirty="0"/>
          </a:p>
        </p:txBody>
      </p:sp>
      <p:sp>
        <p:nvSpPr>
          <p:cNvPr id="39" name="Text 32"/>
          <p:cNvSpPr txBox="1"/>
          <p:nvPr/>
        </p:nvSpPr>
        <p:spPr>
          <a:xfrm>
            <a:off x="9725924" y="2414016"/>
            <a:ext cx="194456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thermal throttling, power management, modem limitation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274320" y="3493008"/>
            <a:ext cx="7315200" cy="2542032"/>
          </a:xfrm>
          <a:prstGeom prst="roundRect">
            <a:avLst>
              <a:gd name="adj" fmla="val 2878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584448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22960" y="356616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полноценного performance-теста</a:t>
            </a:r>
            <a:endParaRPr lang="en-US" sz="130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009644"/>
            <a:ext cx="164592" cy="16459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822960" y="3950208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задана конфигурация сети и radio capacity</a:t>
            </a:r>
            <a:endParaRPr lang="en-US" sz="1100" dirty="0"/>
          </a:p>
        </p:txBody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293108"/>
            <a:ext cx="164592" cy="16459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22960" y="4233672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активированы нужные MIMO и CA режимы</a:t>
            </a:r>
            <a:endParaRPr lang="en-US" sz="1100" dirty="0"/>
          </a:p>
        </p:txBody>
      </p:sp>
      <p:pic>
        <p:nvPicPr>
          <p:cNvPr id="4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4576572"/>
            <a:ext cx="164592" cy="16459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822960" y="4517136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создан контролируемый DL / UL traffic profile</a:t>
            </a:r>
            <a:endParaRPr lang="en-US" sz="1100" dirty="0"/>
          </a:p>
        </p:txBody>
      </p:sp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860036"/>
            <a:ext cx="164592" cy="164592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822960" y="4800600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радиоканал проверен в ideal и fading conditions</a:t>
            </a:r>
            <a:endParaRPr lang="en-US" sz="1100" dirty="0"/>
          </a:p>
        </p:txBody>
      </p:sp>
      <p:pic>
        <p:nvPicPr>
          <p:cNvPr id="5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5143500"/>
            <a:ext cx="164592" cy="164592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822960" y="5084064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собраны protocol trace, packet capture и PHY / RF indicators</a:t>
            </a:r>
            <a:endParaRPr lang="en-US" sz="1100" dirty="0"/>
          </a:p>
        </p:txBody>
      </p:sp>
      <p:pic>
        <p:nvPicPr>
          <p:cNvPr id="5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5426964"/>
            <a:ext cx="164592" cy="164592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22960" y="5367528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разница PHY throughput, user throughput и application goodput объяснена</a:t>
            </a:r>
            <a:endParaRPr lang="en-US" sz="1100" dirty="0"/>
          </a:p>
        </p:txBody>
      </p:sp>
      <p:pic>
        <p:nvPicPr>
          <p:cNvPr id="5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40" y="5710428"/>
            <a:ext cx="164592" cy="164592"/>
          </a:xfrm>
          <a:prstGeom prst="rect">
            <a:avLst/>
          </a:prstGeom>
        </p:spPr>
      </p:pic>
      <p:sp>
        <p:nvSpPr>
          <p:cNvPr id="56" name="Text 41"/>
          <p:cNvSpPr txBox="1"/>
          <p:nvPr/>
        </p:nvSpPr>
        <p:spPr>
          <a:xfrm>
            <a:off x="822960" y="5650992"/>
            <a:ext cx="6583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узкое место локализовано по домену</a:t>
            </a:r>
            <a:endParaRPr lang="en-US" sz="1100" dirty="0"/>
          </a:p>
        </p:txBody>
      </p:sp>
      <p:sp>
        <p:nvSpPr>
          <p:cNvPr id="57" name="Shape 42"/>
          <p:cNvSpPr/>
          <p:nvPr/>
        </p:nvSpPr>
        <p:spPr>
          <a:xfrm>
            <a:off x="7726680" y="3493008"/>
            <a:ext cx="4190695" cy="2542032"/>
          </a:xfrm>
          <a:prstGeom prst="roundRect">
            <a:avLst>
              <a:gd name="adj" fmla="val 2878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58" name="Text 43"/>
          <p:cNvSpPr txBox="1"/>
          <p:nvPr/>
        </p:nvSpPr>
        <p:spPr>
          <a:xfrm>
            <a:off x="7726680" y="3566160"/>
            <a:ext cx="4190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Уровни throughput</a:t>
            </a:r>
            <a:endParaRPr lang="en-US" sz="1300" dirty="0"/>
          </a:p>
        </p:txBody>
      </p:sp>
      <p:sp>
        <p:nvSpPr>
          <p:cNvPr id="59" name="Shape 44"/>
          <p:cNvSpPr/>
          <p:nvPr/>
        </p:nvSpPr>
        <p:spPr>
          <a:xfrm>
            <a:off x="8001000" y="3968496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60" name="Text 45"/>
          <p:cNvSpPr txBox="1"/>
          <p:nvPr/>
        </p:nvSpPr>
        <p:spPr>
          <a:xfrm>
            <a:off x="8046720" y="396849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Приложение (goodput)</a:t>
            </a:r>
            <a:endParaRPr lang="en-US" sz="1100" dirty="0"/>
          </a:p>
        </p:txBody>
      </p:sp>
      <p:sp>
        <p:nvSpPr>
          <p:cNvPr id="61" name="Shape 46"/>
          <p:cNvSpPr/>
          <p:nvPr/>
        </p:nvSpPr>
        <p:spPr>
          <a:xfrm>
            <a:off x="9144000" y="4361688"/>
            <a:ext cx="0" cy="109728"/>
          </a:xfrm>
          <a:prstGeom prst="line">
            <a:avLst/>
          </a:prstGeom>
          <a:noFill/>
          <a:ln w="15875">
            <a:solidFill>
              <a:srgbClr val="7F7BEC"/>
            </a:solidFill>
            <a:prstDash val="solid"/>
            <a:headEnd type="triangle"/>
            <a:tailEnd type="triangle"/>
          </a:ln>
        </p:spPr>
      </p:sp>
      <p:sp>
        <p:nvSpPr>
          <p:cNvPr id="62" name="Shape 47"/>
          <p:cNvSpPr/>
          <p:nvPr/>
        </p:nvSpPr>
        <p:spPr>
          <a:xfrm>
            <a:off x="8001000" y="448056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8046720" y="44805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Пользовательский уровень (IP)</a:t>
            </a:r>
            <a:endParaRPr lang="en-US" sz="1100" dirty="0"/>
          </a:p>
        </p:txBody>
      </p:sp>
      <p:sp>
        <p:nvSpPr>
          <p:cNvPr id="64" name="Shape 49"/>
          <p:cNvSpPr/>
          <p:nvPr/>
        </p:nvSpPr>
        <p:spPr>
          <a:xfrm>
            <a:off x="9144000" y="4873752"/>
            <a:ext cx="0" cy="109728"/>
          </a:xfrm>
          <a:prstGeom prst="line">
            <a:avLst/>
          </a:prstGeom>
          <a:noFill/>
          <a:ln w="15875">
            <a:solidFill>
              <a:srgbClr val="7F7BEC"/>
            </a:solidFill>
            <a:prstDash val="solid"/>
            <a:headEnd type="triangle"/>
            <a:tailEnd type="triangle"/>
          </a:ln>
        </p:spPr>
      </p:sp>
      <p:sp>
        <p:nvSpPr>
          <p:cNvPr id="65" name="Shape 50"/>
          <p:cNvSpPr/>
          <p:nvPr/>
        </p:nvSpPr>
        <p:spPr>
          <a:xfrm>
            <a:off x="8001000" y="4992624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66" name="Text 51"/>
          <p:cNvSpPr txBox="1"/>
          <p:nvPr/>
        </p:nvSpPr>
        <p:spPr>
          <a:xfrm>
            <a:off x="8046720" y="49926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PHY / RLC throughput</a:t>
            </a:r>
            <a:endParaRPr lang="en-US" sz="1100" dirty="0"/>
          </a:p>
        </p:txBody>
      </p:sp>
      <p:sp>
        <p:nvSpPr>
          <p:cNvPr id="67" name="Shape 52"/>
          <p:cNvSpPr/>
          <p:nvPr/>
        </p:nvSpPr>
        <p:spPr>
          <a:xfrm>
            <a:off x="9144000" y="5385816"/>
            <a:ext cx="0" cy="109728"/>
          </a:xfrm>
          <a:prstGeom prst="line">
            <a:avLst/>
          </a:prstGeom>
          <a:noFill/>
          <a:ln w="15875">
            <a:solidFill>
              <a:srgbClr val="7F7BEC"/>
            </a:solidFill>
            <a:prstDash val="solid"/>
            <a:headEnd type="triangle"/>
            <a:tailEnd type="triangle"/>
          </a:ln>
        </p:spPr>
      </p:sp>
      <p:sp>
        <p:nvSpPr>
          <p:cNvPr id="68" name="Shape 53"/>
          <p:cNvSpPr/>
          <p:nvPr/>
        </p:nvSpPr>
        <p:spPr>
          <a:xfrm>
            <a:off x="8001000" y="5504688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69" name="Text 54"/>
          <p:cNvSpPr txBox="1"/>
          <p:nvPr/>
        </p:nvSpPr>
        <p:spPr>
          <a:xfrm>
            <a:off x="8046720" y="550468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Радиоканал (условия)</a:t>
            </a:r>
            <a:endParaRPr lang="en-US" sz="1100" dirty="0"/>
          </a:p>
        </p:txBody>
      </p:sp>
      <p:sp>
        <p:nvSpPr>
          <p:cNvPr id="70" name="Shape 55"/>
          <p:cNvSpPr/>
          <p:nvPr/>
        </p:nvSpPr>
        <p:spPr>
          <a:xfrm>
            <a:off x="10424160" y="3995928"/>
            <a:ext cx="0" cy="1874520"/>
          </a:xfrm>
          <a:prstGeom prst="line">
            <a:avLst/>
          </a:prstGeom>
          <a:noFill/>
          <a:ln w="19050">
            <a:solidFill>
              <a:srgbClr val="534EE6"/>
            </a:solidFill>
            <a:prstDash val="solid"/>
          </a:ln>
        </p:spPr>
      </p:sp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89920" y="4270248"/>
            <a:ext cx="548640" cy="548640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10607040" y="4910328"/>
            <a:ext cx="1218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Разница между уровнями объяснена</a:t>
            </a:r>
            <a:endParaRPr lang="en-US" sz="1200" dirty="0"/>
          </a:p>
        </p:txBody>
      </p:sp>
      <p:sp>
        <p:nvSpPr>
          <p:cNvPr id="73" name="Shape 57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75" name="Text 58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Performance testing UE проверяет не только максимальную скорость, а устойчивость throughput и причину ограничения скорости при заданных MIMO, CA, traffic profile и radio conditions.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09728"/>
            <a:ext cx="116430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Conformance и regression testing UE: готовность терминала к сети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2880360" cy="3950208"/>
          </a:xfrm>
          <a:prstGeom prst="roundRect">
            <a:avLst>
              <a:gd name="adj" fmla="val 254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640080"/>
            <a:ext cx="2880360" cy="329184"/>
          </a:xfrm>
          <a:prstGeom prst="roundRect">
            <a:avLst>
              <a:gd name="adj" fmla="val 22222"/>
            </a:avLst>
          </a:prstGeom>
          <a:solidFill>
            <a:srgbClr val="FF812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94944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64008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conformance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1042416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систем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20624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124358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conformance test system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0624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141732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callbox / RF test platform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0624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159105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vector signal analyzer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20624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176479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signal generator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20624" y="199522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193852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OTA chamber для FR2 и radiated tests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11480" y="2157984"/>
            <a:ext cx="26060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411480" y="2203704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0624" y="246156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240487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38.521-1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20624" y="26353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257860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38.521-2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20624" y="28090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275234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36.521-1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20624" y="298277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48640" y="292608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TX power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0624" y="315650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8640" y="309981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EVM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20624" y="33302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48640" y="327355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ACLR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20624" y="35039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44728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receiver sensitivity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20624" y="367771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48640" y="362102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blocking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20624" y="38514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48640" y="379476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demodulation performance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9037015" y="640080"/>
            <a:ext cx="2880360" cy="3950208"/>
          </a:xfrm>
          <a:prstGeom prst="roundRect">
            <a:avLst>
              <a:gd name="adj" fmla="val 2540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037015" y="640080"/>
            <a:ext cx="2880360" cy="329184"/>
          </a:xfrm>
          <a:prstGeom prst="roundRect">
            <a:avLst>
              <a:gd name="adj" fmla="val 22222"/>
            </a:avLst>
          </a:prstGeom>
          <a:solidFill>
            <a:srgbClr val="FF812A"/>
          </a:solidFill>
          <a:ln/>
        </p:spPr>
      </p:sp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175" y="694944"/>
            <a:ext cx="219456" cy="219456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9448495" y="64008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conformance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9174175" y="1042416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систем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9183319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9311335" y="124358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conformance test system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9183319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9311335" y="141732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multi-cell network emulator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9183319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9311335" y="159105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channel emulator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9183319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9311335" y="176479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attenuation / signal level control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9174175" y="1984248"/>
            <a:ext cx="2606040" cy="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52" name="Text 48"/>
          <p:cNvSpPr txBox="1"/>
          <p:nvPr/>
        </p:nvSpPr>
        <p:spPr>
          <a:xfrm>
            <a:off x="9174175" y="2029968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</a:t>
            </a:r>
            <a:endParaRPr lang="en-US" sz="1000" dirty="0"/>
          </a:p>
        </p:txBody>
      </p:sp>
      <p:sp>
        <p:nvSpPr>
          <p:cNvPr id="53" name="Shape 49"/>
          <p:cNvSpPr/>
          <p:nvPr/>
        </p:nvSpPr>
        <p:spPr>
          <a:xfrm>
            <a:off x="9183319" y="228782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9311335" y="223113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38.533</a:t>
            </a:r>
            <a:endParaRPr lang="en-US" sz="950" dirty="0"/>
          </a:p>
        </p:txBody>
      </p:sp>
      <p:sp>
        <p:nvSpPr>
          <p:cNvPr id="55" name="Shape 51"/>
          <p:cNvSpPr/>
          <p:nvPr/>
        </p:nvSpPr>
        <p:spPr>
          <a:xfrm>
            <a:off x="9183319" y="246156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9311335" y="240487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measurements</a:t>
            </a:r>
            <a:endParaRPr lang="en-US" sz="950" dirty="0"/>
          </a:p>
        </p:txBody>
      </p:sp>
      <p:sp>
        <p:nvSpPr>
          <p:cNvPr id="57" name="Shape 53"/>
          <p:cNvSpPr/>
          <p:nvPr/>
        </p:nvSpPr>
        <p:spPr>
          <a:xfrm>
            <a:off x="9183319" y="263530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9311335" y="257860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selection</a:t>
            </a:r>
            <a:endParaRPr lang="en-US" sz="950" dirty="0"/>
          </a:p>
        </p:txBody>
      </p:sp>
      <p:sp>
        <p:nvSpPr>
          <p:cNvPr id="59" name="Shape 55"/>
          <p:cNvSpPr/>
          <p:nvPr/>
        </p:nvSpPr>
        <p:spPr>
          <a:xfrm>
            <a:off x="9183319" y="280903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9311335" y="275234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cell reselection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9183319" y="298277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9311335" y="292608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handover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9183319" y="315650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9311335" y="309981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RLF</a:t>
            </a:r>
            <a:endParaRPr lang="en-US" sz="950" dirty="0"/>
          </a:p>
        </p:txBody>
      </p:sp>
      <p:sp>
        <p:nvSpPr>
          <p:cNvPr id="65" name="Shape 61"/>
          <p:cNvSpPr/>
          <p:nvPr/>
        </p:nvSpPr>
        <p:spPr>
          <a:xfrm>
            <a:off x="9183319" y="33302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9311335" y="327355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mobility behavior</a:t>
            </a:r>
            <a:endParaRPr lang="en-US" sz="950" dirty="0"/>
          </a:p>
        </p:txBody>
      </p:sp>
      <p:sp>
        <p:nvSpPr>
          <p:cNvPr id="67" name="Shape 63"/>
          <p:cNvSpPr/>
          <p:nvPr/>
        </p:nvSpPr>
        <p:spPr>
          <a:xfrm>
            <a:off x="3429000" y="640080"/>
            <a:ext cx="5333695" cy="1325880"/>
          </a:xfrm>
          <a:prstGeom prst="roundRect">
            <a:avLst>
              <a:gd name="adj" fmla="val 5517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3429000" y="640080"/>
            <a:ext cx="5333695" cy="329184"/>
          </a:xfrm>
          <a:prstGeom prst="roundRect">
            <a:avLst>
              <a:gd name="adj" fmla="val 22222"/>
            </a:avLst>
          </a:prstGeom>
          <a:solidFill>
            <a:srgbClr val="FF812A"/>
          </a:solidFill>
          <a:ln/>
        </p:spPr>
      </p:sp>
      <p:pic>
        <p:nvPicPr>
          <p:cNvPr id="6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694944"/>
            <a:ext cx="219456" cy="219456"/>
          </a:xfrm>
          <a:prstGeom prst="rect">
            <a:avLst/>
          </a:prstGeom>
        </p:spPr>
      </p:pic>
      <p:sp>
        <p:nvSpPr>
          <p:cNvPr id="70" name="Text 65"/>
          <p:cNvSpPr txBox="1"/>
          <p:nvPr/>
        </p:nvSpPr>
        <p:spPr>
          <a:xfrm>
            <a:off x="3840480" y="640080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conformance</a:t>
            </a:r>
            <a:endParaRPr lang="en-US" sz="1300" dirty="0"/>
          </a:p>
        </p:txBody>
      </p:sp>
      <p:sp>
        <p:nvSpPr>
          <p:cNvPr id="71" name="Text 66"/>
          <p:cNvSpPr txBox="1"/>
          <p:nvPr/>
        </p:nvSpPr>
        <p:spPr>
          <a:xfrm>
            <a:off x="3566160" y="1042416"/>
            <a:ext cx="22096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систем</a:t>
            </a:r>
            <a:endParaRPr lang="en-US" sz="1000" dirty="0"/>
          </a:p>
        </p:txBody>
      </p:sp>
      <p:sp>
        <p:nvSpPr>
          <p:cNvPr id="72" name="Shape 67"/>
          <p:cNvSpPr/>
          <p:nvPr/>
        </p:nvSpPr>
        <p:spPr>
          <a:xfrm>
            <a:off x="3575304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3703320" y="1243584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conformance test system</a:t>
            </a:r>
            <a:endParaRPr lang="en-US" sz="950" dirty="0"/>
          </a:p>
        </p:txBody>
      </p:sp>
      <p:sp>
        <p:nvSpPr>
          <p:cNvPr id="74" name="Shape 69"/>
          <p:cNvSpPr/>
          <p:nvPr/>
        </p:nvSpPr>
        <p:spPr>
          <a:xfrm>
            <a:off x="3575304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5" name="Text 70"/>
          <p:cNvSpPr txBox="1"/>
          <p:nvPr/>
        </p:nvSpPr>
        <p:spPr>
          <a:xfrm>
            <a:off x="3703320" y="1417320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network emulator</a:t>
            </a:r>
            <a:endParaRPr lang="en-US" sz="950" dirty="0"/>
          </a:p>
        </p:txBody>
      </p:sp>
      <p:sp>
        <p:nvSpPr>
          <p:cNvPr id="76" name="Shape 71"/>
          <p:cNvSpPr/>
          <p:nvPr/>
        </p:nvSpPr>
        <p:spPr>
          <a:xfrm>
            <a:off x="3575304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3703320" y="1591056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RAN / Core emulator</a:t>
            </a:r>
            <a:endParaRPr lang="en-US" sz="950" dirty="0"/>
          </a:p>
        </p:txBody>
      </p:sp>
      <p:sp>
        <p:nvSpPr>
          <p:cNvPr id="78" name="Shape 73"/>
          <p:cNvSpPr/>
          <p:nvPr/>
        </p:nvSpPr>
        <p:spPr>
          <a:xfrm>
            <a:off x="3575304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3703320" y="1764792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trace analyzer</a:t>
            </a:r>
            <a:endParaRPr lang="en-US" sz="950" dirty="0"/>
          </a:p>
        </p:txBody>
      </p:sp>
      <p:sp>
        <p:nvSpPr>
          <p:cNvPr id="80" name="Shape 75"/>
          <p:cNvSpPr/>
          <p:nvPr/>
        </p:nvSpPr>
        <p:spPr>
          <a:xfrm>
            <a:off x="5821546" y="1097280"/>
            <a:ext cx="0" cy="77724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81" name="Text 76"/>
          <p:cNvSpPr txBox="1"/>
          <p:nvPr/>
        </p:nvSpPr>
        <p:spPr>
          <a:xfrm>
            <a:off x="5912986" y="1042416"/>
            <a:ext cx="275826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</a:t>
            </a:r>
            <a:endParaRPr lang="en-US" sz="1000" dirty="0"/>
          </a:p>
        </p:txBody>
      </p:sp>
      <p:sp>
        <p:nvSpPr>
          <p:cNvPr id="82" name="Shape 77"/>
          <p:cNvSpPr/>
          <p:nvPr/>
        </p:nvSpPr>
        <p:spPr>
          <a:xfrm>
            <a:off x="5922130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3" name="Text 78"/>
          <p:cNvSpPr txBox="1"/>
          <p:nvPr/>
        </p:nvSpPr>
        <p:spPr>
          <a:xfrm>
            <a:off x="6050146" y="1243584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38.523-1</a:t>
            </a:r>
            <a:endParaRPr lang="en-US" sz="950" dirty="0"/>
          </a:p>
        </p:txBody>
      </p:sp>
      <p:sp>
        <p:nvSpPr>
          <p:cNvPr id="84" name="Shape 79"/>
          <p:cNvSpPr/>
          <p:nvPr/>
        </p:nvSpPr>
        <p:spPr>
          <a:xfrm>
            <a:off x="7301265" y="130027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7429281" y="1243584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session procedures</a:t>
            </a:r>
            <a:endParaRPr lang="en-US" sz="950" dirty="0"/>
          </a:p>
        </p:txBody>
      </p:sp>
      <p:sp>
        <p:nvSpPr>
          <p:cNvPr id="86" name="Shape 81"/>
          <p:cNvSpPr/>
          <p:nvPr/>
        </p:nvSpPr>
        <p:spPr>
          <a:xfrm>
            <a:off x="5922130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7" name="Text 82"/>
          <p:cNvSpPr txBox="1"/>
          <p:nvPr/>
        </p:nvSpPr>
        <p:spPr>
          <a:xfrm>
            <a:off x="6050146" y="1417320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 36.523-1</a:t>
            </a:r>
            <a:endParaRPr lang="en-US" sz="950" dirty="0"/>
          </a:p>
        </p:txBody>
      </p:sp>
      <p:sp>
        <p:nvSpPr>
          <p:cNvPr id="88" name="Shape 83"/>
          <p:cNvSpPr/>
          <p:nvPr/>
        </p:nvSpPr>
        <p:spPr>
          <a:xfrm>
            <a:off x="7301265" y="147401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7429281" y="1417320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timers</a:t>
            </a:r>
            <a:endParaRPr lang="en-US" sz="950" dirty="0"/>
          </a:p>
        </p:txBody>
      </p:sp>
      <p:sp>
        <p:nvSpPr>
          <p:cNvPr id="90" name="Shape 85"/>
          <p:cNvSpPr/>
          <p:nvPr/>
        </p:nvSpPr>
        <p:spPr>
          <a:xfrm>
            <a:off x="5922130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6050146" y="1591056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NAS procedures</a:t>
            </a:r>
            <a:endParaRPr lang="en-US" sz="950" dirty="0"/>
          </a:p>
        </p:txBody>
      </p:sp>
      <p:sp>
        <p:nvSpPr>
          <p:cNvPr id="92" name="Shape 87"/>
          <p:cNvSpPr/>
          <p:nvPr/>
        </p:nvSpPr>
        <p:spPr>
          <a:xfrm>
            <a:off x="7301265" y="164774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3" name="Text 88"/>
          <p:cNvSpPr txBox="1"/>
          <p:nvPr/>
        </p:nvSpPr>
        <p:spPr>
          <a:xfrm>
            <a:off x="7429281" y="1591056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state transitions</a:t>
            </a:r>
            <a:endParaRPr lang="en-US" sz="950" dirty="0"/>
          </a:p>
        </p:txBody>
      </p:sp>
      <p:sp>
        <p:nvSpPr>
          <p:cNvPr id="94" name="Shape 89"/>
          <p:cNvSpPr/>
          <p:nvPr/>
        </p:nvSpPr>
        <p:spPr>
          <a:xfrm>
            <a:off x="5922130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6050146" y="1764792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RRC procedures</a:t>
            </a:r>
            <a:endParaRPr lang="en-US" sz="950" dirty="0"/>
          </a:p>
        </p:txBody>
      </p:sp>
      <p:sp>
        <p:nvSpPr>
          <p:cNvPr id="96" name="Shape 91"/>
          <p:cNvSpPr/>
          <p:nvPr/>
        </p:nvSpPr>
        <p:spPr>
          <a:xfrm>
            <a:off x="7301265" y="182148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7429281" y="1764792"/>
            <a:ext cx="118711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reject handling</a:t>
            </a:r>
            <a:endParaRPr lang="en-US" sz="950" dirty="0"/>
          </a:p>
        </p:txBody>
      </p:sp>
      <p:sp>
        <p:nvSpPr>
          <p:cNvPr id="98" name="Shape 93"/>
          <p:cNvSpPr/>
          <p:nvPr/>
        </p:nvSpPr>
        <p:spPr>
          <a:xfrm>
            <a:off x="3977640" y="2103120"/>
            <a:ext cx="4236415" cy="658368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sp>
        <p:nvSpPr>
          <p:cNvPr id="99" name="Text 94"/>
          <p:cNvSpPr txBox="1"/>
          <p:nvPr/>
        </p:nvSpPr>
        <p:spPr>
          <a:xfrm>
            <a:off x="3977640" y="212140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UE</a:t>
            </a:r>
            <a:endParaRPr lang="en-US" sz="2200" dirty="0"/>
          </a:p>
        </p:txBody>
      </p:sp>
      <p:sp>
        <p:nvSpPr>
          <p:cNvPr id="100" name="Text 95"/>
          <p:cNvSpPr txBox="1"/>
          <p:nvPr/>
        </p:nvSpPr>
        <p:spPr>
          <a:xfrm>
            <a:off x="3977640" y="2496312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тестируемое устройство (DUT)</a:t>
            </a:r>
            <a:endParaRPr lang="en-US" sz="1100" dirty="0"/>
          </a:p>
        </p:txBody>
      </p:sp>
      <p:sp>
        <p:nvSpPr>
          <p:cNvPr id="101" name="Shape 96"/>
          <p:cNvSpPr/>
          <p:nvPr/>
        </p:nvSpPr>
        <p:spPr>
          <a:xfrm>
            <a:off x="6095848" y="1984248"/>
            <a:ext cx="0" cy="100584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2" name="Shape 97"/>
          <p:cNvSpPr/>
          <p:nvPr/>
        </p:nvSpPr>
        <p:spPr>
          <a:xfrm>
            <a:off x="3172968" y="2432304"/>
            <a:ext cx="786384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3" name="Shape 98"/>
          <p:cNvSpPr/>
          <p:nvPr/>
        </p:nvSpPr>
        <p:spPr>
          <a:xfrm flipH="1">
            <a:off x="8232343" y="2432304"/>
            <a:ext cx="786384" cy="0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4" name="Shape 99"/>
          <p:cNvSpPr/>
          <p:nvPr/>
        </p:nvSpPr>
        <p:spPr>
          <a:xfrm flipV="1">
            <a:off x="6095848" y="2779776"/>
            <a:ext cx="0" cy="100584"/>
          </a:xfrm>
          <a:prstGeom prst="line">
            <a:avLst/>
          </a:prstGeom>
          <a:noFill/>
          <a:ln w="25400">
            <a:solidFill>
              <a:srgbClr val="FF812A"/>
            </a:solidFill>
            <a:prstDash val="solid"/>
            <a:tailEnd type="triangle"/>
          </a:ln>
        </p:spPr>
      </p:sp>
      <p:sp>
        <p:nvSpPr>
          <p:cNvPr id="105" name="Shape 100"/>
          <p:cNvSpPr/>
          <p:nvPr/>
        </p:nvSpPr>
        <p:spPr>
          <a:xfrm>
            <a:off x="3429000" y="2898648"/>
            <a:ext cx="5333695" cy="1691640"/>
          </a:xfrm>
          <a:prstGeom prst="roundRect">
            <a:avLst>
              <a:gd name="adj" fmla="val 4324"/>
            </a:avLst>
          </a:prstGeom>
          <a:solidFill>
            <a:srgbClr val="FFFBF7"/>
          </a:solidFill>
          <a:ln w="15875">
            <a:solidFill>
              <a:srgbClr val="FF812A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>
            <a:off x="3429000" y="2898648"/>
            <a:ext cx="5333695" cy="329184"/>
          </a:xfrm>
          <a:prstGeom prst="roundRect">
            <a:avLst>
              <a:gd name="adj" fmla="val 22222"/>
            </a:avLst>
          </a:prstGeom>
          <a:solidFill>
            <a:srgbClr val="FF812A"/>
          </a:solidFill>
          <a:ln/>
        </p:spPr>
      </p:sp>
      <p:pic>
        <p:nvPicPr>
          <p:cNvPr id="10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2953512"/>
            <a:ext cx="219456" cy="219456"/>
          </a:xfrm>
          <a:prstGeom prst="rect">
            <a:avLst/>
          </a:prstGeom>
        </p:spPr>
      </p:pic>
      <p:sp>
        <p:nvSpPr>
          <p:cNvPr id="108" name="Text 102"/>
          <p:cNvSpPr txBox="1"/>
          <p:nvPr/>
        </p:nvSpPr>
        <p:spPr>
          <a:xfrm>
            <a:off x="3840480" y="2898648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Regression testing</a:t>
            </a:r>
            <a:endParaRPr lang="en-US" sz="1300" dirty="0"/>
          </a:p>
        </p:txBody>
      </p:sp>
      <p:sp>
        <p:nvSpPr>
          <p:cNvPr id="109" name="Text 103"/>
          <p:cNvSpPr txBox="1"/>
          <p:nvPr/>
        </p:nvSpPr>
        <p:spPr>
          <a:xfrm>
            <a:off x="3566160" y="3300984"/>
            <a:ext cx="22096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Типы систем</a:t>
            </a:r>
            <a:endParaRPr lang="en-US" sz="1000" dirty="0"/>
          </a:p>
        </p:txBody>
      </p:sp>
      <p:sp>
        <p:nvSpPr>
          <p:cNvPr id="110" name="Shape 104"/>
          <p:cNvSpPr/>
          <p:nvPr/>
        </p:nvSpPr>
        <p:spPr>
          <a:xfrm>
            <a:off x="3575304" y="35588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1" name="Text 105"/>
          <p:cNvSpPr txBox="1"/>
          <p:nvPr/>
        </p:nvSpPr>
        <p:spPr>
          <a:xfrm>
            <a:off x="3703320" y="3502152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automated test platform</a:t>
            </a:r>
            <a:endParaRPr lang="en-US" sz="950" dirty="0"/>
          </a:p>
        </p:txBody>
      </p:sp>
      <p:sp>
        <p:nvSpPr>
          <p:cNvPr id="112" name="Shape 106"/>
          <p:cNvSpPr/>
          <p:nvPr/>
        </p:nvSpPr>
        <p:spPr>
          <a:xfrm>
            <a:off x="3575304" y="37325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3" name="Text 107"/>
          <p:cNvSpPr txBox="1"/>
          <p:nvPr/>
        </p:nvSpPr>
        <p:spPr>
          <a:xfrm>
            <a:off x="3703320" y="3675888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test case manager</a:t>
            </a:r>
            <a:endParaRPr lang="en-US" sz="950" dirty="0"/>
          </a:p>
        </p:txBody>
      </p:sp>
      <p:sp>
        <p:nvSpPr>
          <p:cNvPr id="114" name="Shape 108"/>
          <p:cNvSpPr/>
          <p:nvPr/>
        </p:nvSpPr>
        <p:spPr>
          <a:xfrm>
            <a:off x="3575304" y="390631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5" name="Text 109"/>
          <p:cNvSpPr txBox="1"/>
          <p:nvPr/>
        </p:nvSpPr>
        <p:spPr>
          <a:xfrm>
            <a:off x="3703320" y="3849624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scripted test execution</a:t>
            </a:r>
            <a:endParaRPr lang="en-US" sz="950" dirty="0"/>
          </a:p>
        </p:txBody>
      </p:sp>
      <p:sp>
        <p:nvSpPr>
          <p:cNvPr id="116" name="Shape 110"/>
          <p:cNvSpPr/>
          <p:nvPr/>
        </p:nvSpPr>
        <p:spPr>
          <a:xfrm>
            <a:off x="3575304" y="4080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7" name="Text 111"/>
          <p:cNvSpPr txBox="1"/>
          <p:nvPr/>
        </p:nvSpPr>
        <p:spPr>
          <a:xfrm>
            <a:off x="3703320" y="4023360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result database</a:t>
            </a:r>
            <a:endParaRPr lang="en-US" sz="950" dirty="0"/>
          </a:p>
        </p:txBody>
      </p:sp>
      <p:sp>
        <p:nvSpPr>
          <p:cNvPr id="118" name="Shape 112"/>
          <p:cNvSpPr/>
          <p:nvPr/>
        </p:nvSpPr>
        <p:spPr>
          <a:xfrm>
            <a:off x="3575304" y="4253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19" name="Text 113"/>
          <p:cNvSpPr txBox="1"/>
          <p:nvPr/>
        </p:nvSpPr>
        <p:spPr>
          <a:xfrm>
            <a:off x="3703320" y="4197096"/>
            <a:ext cx="20176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report generator</a:t>
            </a:r>
            <a:endParaRPr lang="en-US" sz="950" dirty="0"/>
          </a:p>
        </p:txBody>
      </p:sp>
      <p:sp>
        <p:nvSpPr>
          <p:cNvPr id="120" name="Shape 114"/>
          <p:cNvSpPr/>
          <p:nvPr/>
        </p:nvSpPr>
        <p:spPr>
          <a:xfrm>
            <a:off x="5821546" y="3355848"/>
            <a:ext cx="0" cy="1143000"/>
          </a:xfrm>
          <a:prstGeom prst="line">
            <a:avLst/>
          </a:prstGeom>
          <a:noFill/>
          <a:ln w="9525">
            <a:solidFill>
              <a:srgbClr val="FF812A"/>
            </a:solidFill>
            <a:prstDash val="dash"/>
          </a:ln>
        </p:spPr>
      </p:sp>
      <p:sp>
        <p:nvSpPr>
          <p:cNvPr id="121" name="Text 115"/>
          <p:cNvSpPr txBox="1"/>
          <p:nvPr/>
        </p:nvSpPr>
        <p:spPr>
          <a:xfrm>
            <a:off x="5912986" y="3300984"/>
            <a:ext cx="275826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812A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Что проверяет</a:t>
            </a:r>
            <a:endParaRPr lang="en-US" sz="1000" dirty="0"/>
          </a:p>
        </p:txBody>
      </p:sp>
      <p:sp>
        <p:nvSpPr>
          <p:cNvPr id="122" name="Shape 116"/>
          <p:cNvSpPr/>
          <p:nvPr/>
        </p:nvSpPr>
        <p:spPr>
          <a:xfrm>
            <a:off x="5922130" y="355884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3" name="Text 117"/>
          <p:cNvSpPr txBox="1"/>
          <p:nvPr/>
        </p:nvSpPr>
        <p:spPr>
          <a:xfrm>
            <a:off x="6050146" y="3502152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повторяемость ранее пройденных тестов</a:t>
            </a:r>
            <a:endParaRPr lang="en-US" sz="950" dirty="0"/>
          </a:p>
        </p:txBody>
      </p:sp>
      <p:sp>
        <p:nvSpPr>
          <p:cNvPr id="124" name="Shape 118"/>
          <p:cNvSpPr/>
          <p:nvPr/>
        </p:nvSpPr>
        <p:spPr>
          <a:xfrm>
            <a:off x="5922130" y="3732581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5" name="Text 119"/>
          <p:cNvSpPr txBox="1"/>
          <p:nvPr/>
        </p:nvSpPr>
        <p:spPr>
          <a:xfrm>
            <a:off x="6050146" y="3675888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новая версия modem firmware</a:t>
            </a:r>
            <a:endParaRPr lang="en-US" sz="950" dirty="0"/>
          </a:p>
        </p:txBody>
      </p:sp>
      <p:sp>
        <p:nvSpPr>
          <p:cNvPr id="126" name="Shape 120"/>
          <p:cNvSpPr/>
          <p:nvPr/>
        </p:nvSpPr>
        <p:spPr>
          <a:xfrm>
            <a:off x="5922130" y="3906317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7" name="Text 121"/>
          <p:cNvSpPr txBox="1"/>
          <p:nvPr/>
        </p:nvSpPr>
        <p:spPr>
          <a:xfrm>
            <a:off x="6050146" y="3849624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изменение RF calibration</a:t>
            </a:r>
            <a:endParaRPr lang="en-US" sz="950" dirty="0"/>
          </a:p>
        </p:txBody>
      </p:sp>
      <p:sp>
        <p:nvSpPr>
          <p:cNvPr id="128" name="Shape 122"/>
          <p:cNvSpPr/>
          <p:nvPr/>
        </p:nvSpPr>
        <p:spPr>
          <a:xfrm>
            <a:off x="5922130" y="4080053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29" name="Text 123"/>
          <p:cNvSpPr txBox="1"/>
          <p:nvPr/>
        </p:nvSpPr>
        <p:spPr>
          <a:xfrm>
            <a:off x="6050146" y="4023360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новые band combinations</a:t>
            </a:r>
            <a:endParaRPr lang="en-US" sz="950" dirty="0"/>
          </a:p>
        </p:txBody>
      </p:sp>
      <p:sp>
        <p:nvSpPr>
          <p:cNvPr id="130" name="Shape 124"/>
          <p:cNvSpPr/>
          <p:nvPr/>
        </p:nvSpPr>
        <p:spPr>
          <a:xfrm>
            <a:off x="5922130" y="4253789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1" name="Text 125"/>
          <p:cNvSpPr txBox="1"/>
          <p:nvPr/>
        </p:nvSpPr>
        <p:spPr>
          <a:xfrm>
            <a:off x="6050146" y="4197096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новые network features</a:t>
            </a:r>
            <a:endParaRPr lang="en-US" sz="950" dirty="0"/>
          </a:p>
        </p:txBody>
      </p:sp>
      <p:sp>
        <p:nvSpPr>
          <p:cNvPr id="132" name="Shape 126"/>
          <p:cNvSpPr/>
          <p:nvPr/>
        </p:nvSpPr>
        <p:spPr>
          <a:xfrm>
            <a:off x="5922130" y="4427525"/>
            <a:ext cx="59436" cy="59436"/>
          </a:xfrm>
          <a:prstGeom prst="ellipse">
            <a:avLst/>
          </a:prstGeom>
          <a:solidFill>
            <a:srgbClr val="FF812A"/>
          </a:solidFill>
          <a:ln/>
        </p:spPr>
      </p:sp>
      <p:sp>
        <p:nvSpPr>
          <p:cNvPr id="133" name="Text 127"/>
          <p:cNvSpPr txBox="1"/>
          <p:nvPr/>
        </p:nvSpPr>
        <p:spPr>
          <a:xfrm>
            <a:off x="6050146" y="4370832"/>
            <a:ext cx="256624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сравнение с baseline</a:t>
            </a:r>
            <a:endParaRPr lang="en-US" sz="950" dirty="0"/>
          </a:p>
        </p:txBody>
      </p:sp>
      <p:sp>
        <p:nvSpPr>
          <p:cNvPr id="134" name="Shape 128"/>
          <p:cNvSpPr/>
          <p:nvPr/>
        </p:nvSpPr>
        <p:spPr>
          <a:xfrm>
            <a:off x="274320" y="4681728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35" name="Shape 129"/>
          <p:cNvSpPr/>
          <p:nvPr/>
        </p:nvSpPr>
        <p:spPr>
          <a:xfrm>
            <a:off x="274320" y="4681728"/>
            <a:ext cx="5760720" cy="292608"/>
          </a:xfrm>
          <a:prstGeom prst="roundRect">
            <a:avLst>
              <a:gd name="adj" fmla="val 25000"/>
            </a:avLst>
          </a:prstGeom>
          <a:solidFill>
            <a:srgbClr val="534EE6"/>
          </a:solidFill>
          <a:ln/>
        </p:spPr>
      </p:sp>
      <p:sp>
        <p:nvSpPr>
          <p:cNvPr id="136" name="Text 130"/>
          <p:cNvSpPr txBox="1"/>
          <p:nvPr/>
        </p:nvSpPr>
        <p:spPr>
          <a:xfrm>
            <a:off x="274320" y="46817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Названия 3GPP test families</a:t>
            </a:r>
            <a:endParaRPr lang="en-US" sz="1200" dirty="0"/>
          </a:p>
        </p:txBody>
      </p:sp>
      <p:pic>
        <p:nvPicPr>
          <p:cNvPr id="1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5029200"/>
            <a:ext cx="274320" cy="274320"/>
          </a:xfrm>
          <a:prstGeom prst="rect">
            <a:avLst/>
          </a:prstGeom>
        </p:spPr>
      </p:pic>
      <p:sp>
        <p:nvSpPr>
          <p:cNvPr id="138" name="Text 131"/>
          <p:cNvSpPr txBox="1"/>
          <p:nvPr/>
        </p:nvSpPr>
        <p:spPr>
          <a:xfrm>
            <a:off x="329184" y="5321808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conformance</a:t>
            </a:r>
            <a:endParaRPr lang="en-US" sz="1000" dirty="0"/>
          </a:p>
        </p:txBody>
      </p:sp>
      <p:sp>
        <p:nvSpPr>
          <p:cNvPr id="139" name="Text 132"/>
          <p:cNvSpPr txBox="1"/>
          <p:nvPr/>
        </p:nvSpPr>
        <p:spPr>
          <a:xfrm>
            <a:off x="329184" y="5632704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38.521-1 / 38.521-2 / 36.521-1</a:t>
            </a:r>
            <a:endParaRPr lang="en-US" sz="900" dirty="0"/>
          </a:p>
        </p:txBody>
      </p:sp>
      <p:sp>
        <p:nvSpPr>
          <p:cNvPr id="140" name="Shape 133"/>
          <p:cNvSpPr/>
          <p:nvPr/>
        </p:nvSpPr>
        <p:spPr>
          <a:xfrm>
            <a:off x="1714500" y="5065776"/>
            <a:ext cx="0" cy="896112"/>
          </a:xfrm>
          <a:prstGeom prst="line">
            <a:avLst/>
          </a:prstGeom>
          <a:noFill/>
          <a:ln w="12700">
            <a:solidFill>
              <a:srgbClr val="EEEDFD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7430" y="5029200"/>
            <a:ext cx="274320" cy="274320"/>
          </a:xfrm>
          <a:prstGeom prst="rect">
            <a:avLst/>
          </a:prstGeom>
        </p:spPr>
      </p:pic>
      <p:sp>
        <p:nvSpPr>
          <p:cNvPr id="142" name="Text 134"/>
          <p:cNvSpPr txBox="1"/>
          <p:nvPr/>
        </p:nvSpPr>
        <p:spPr>
          <a:xfrm>
            <a:off x="1769364" y="5321808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conformance</a:t>
            </a:r>
            <a:endParaRPr lang="en-US" sz="1000" dirty="0"/>
          </a:p>
        </p:txBody>
      </p:sp>
      <p:sp>
        <p:nvSpPr>
          <p:cNvPr id="143" name="Text 135"/>
          <p:cNvSpPr txBox="1"/>
          <p:nvPr/>
        </p:nvSpPr>
        <p:spPr>
          <a:xfrm>
            <a:off x="1769364" y="5632704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38.523-1 / 36.523-1</a:t>
            </a:r>
            <a:endParaRPr lang="en-US" sz="900" dirty="0"/>
          </a:p>
        </p:txBody>
      </p:sp>
      <p:sp>
        <p:nvSpPr>
          <p:cNvPr id="144" name="Shape 136"/>
          <p:cNvSpPr/>
          <p:nvPr/>
        </p:nvSpPr>
        <p:spPr>
          <a:xfrm>
            <a:off x="3154680" y="5065776"/>
            <a:ext cx="0" cy="896112"/>
          </a:xfrm>
          <a:prstGeom prst="line">
            <a:avLst/>
          </a:prstGeom>
          <a:noFill/>
          <a:ln w="12700">
            <a:solidFill>
              <a:srgbClr val="EEEDFD"/>
            </a:solidFill>
            <a:prstDash val="solid"/>
          </a:ln>
        </p:spPr>
      </p:sp>
      <p:pic>
        <p:nvPicPr>
          <p:cNvPr id="1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7610" y="5029200"/>
            <a:ext cx="274320" cy="274320"/>
          </a:xfrm>
          <a:prstGeom prst="rect">
            <a:avLst/>
          </a:prstGeom>
        </p:spPr>
      </p:pic>
      <p:sp>
        <p:nvSpPr>
          <p:cNvPr id="146" name="Text 137"/>
          <p:cNvSpPr txBox="1"/>
          <p:nvPr/>
        </p:nvSpPr>
        <p:spPr>
          <a:xfrm>
            <a:off x="3209544" y="5321808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conformance</a:t>
            </a:r>
            <a:endParaRPr lang="en-US" sz="1000" dirty="0"/>
          </a:p>
        </p:txBody>
      </p:sp>
      <p:sp>
        <p:nvSpPr>
          <p:cNvPr id="147" name="Text 138"/>
          <p:cNvSpPr txBox="1"/>
          <p:nvPr/>
        </p:nvSpPr>
        <p:spPr>
          <a:xfrm>
            <a:off x="3209544" y="5632704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38.533</a:t>
            </a:r>
            <a:endParaRPr lang="en-US" sz="900" dirty="0"/>
          </a:p>
        </p:txBody>
      </p:sp>
      <p:sp>
        <p:nvSpPr>
          <p:cNvPr id="148" name="Shape 139"/>
          <p:cNvSpPr/>
          <p:nvPr/>
        </p:nvSpPr>
        <p:spPr>
          <a:xfrm>
            <a:off x="4594860" y="5065776"/>
            <a:ext cx="0" cy="896112"/>
          </a:xfrm>
          <a:prstGeom prst="line">
            <a:avLst/>
          </a:prstGeom>
          <a:noFill/>
          <a:ln w="12700">
            <a:solidFill>
              <a:srgbClr val="EEEDFD"/>
            </a:solidFill>
            <a:prstDash val="solid"/>
          </a:ln>
        </p:spPr>
      </p:sp>
      <p:pic>
        <p:nvPicPr>
          <p:cNvPr id="1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7790" y="5029200"/>
            <a:ext cx="274320" cy="274320"/>
          </a:xfrm>
          <a:prstGeom prst="rect">
            <a:avLst/>
          </a:prstGeom>
        </p:spPr>
      </p:pic>
      <p:sp>
        <p:nvSpPr>
          <p:cNvPr id="150" name="Text 140"/>
          <p:cNvSpPr txBox="1"/>
          <p:nvPr/>
        </p:nvSpPr>
        <p:spPr>
          <a:xfrm>
            <a:off x="4649724" y="5321808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SIM / USIM / USAT checks</a:t>
            </a:r>
            <a:endParaRPr lang="en-US" sz="1000" dirty="0"/>
          </a:p>
        </p:txBody>
      </p:sp>
      <p:sp>
        <p:nvSpPr>
          <p:cNvPr id="151" name="Text 141"/>
          <p:cNvSpPr txBox="1"/>
          <p:nvPr/>
        </p:nvSpPr>
        <p:spPr>
          <a:xfrm>
            <a:off x="4649724" y="5632704"/>
            <a:ext cx="13304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3GPP TS</a:t>
            </a:r>
            <a:endParaRPr lang="en-US" sz="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34EE6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31.121 / 31.124</a:t>
            </a:r>
            <a:endParaRPr lang="en-US" sz="900" dirty="0"/>
          </a:p>
        </p:txBody>
      </p:sp>
      <p:sp>
        <p:nvSpPr>
          <p:cNvPr id="152" name="Shape 142"/>
          <p:cNvSpPr/>
          <p:nvPr/>
        </p:nvSpPr>
        <p:spPr>
          <a:xfrm>
            <a:off x="6153912" y="4681728"/>
            <a:ext cx="5763463" cy="1371600"/>
          </a:xfrm>
          <a:prstGeom prst="roundRect">
            <a:avLst>
              <a:gd name="adj" fmla="val 5333"/>
            </a:avLst>
          </a:prstGeom>
          <a:solidFill>
            <a:srgbClr val="F9F9FF"/>
          </a:solidFill>
          <a:ln w="15875">
            <a:solidFill>
              <a:srgbClr val="534EE6"/>
            </a:solidFill>
            <a:prstDash val="solid"/>
          </a:ln>
        </p:spPr>
      </p:sp>
      <p:sp>
        <p:nvSpPr>
          <p:cNvPr id="153" name="Shape 143"/>
          <p:cNvSpPr/>
          <p:nvPr/>
        </p:nvSpPr>
        <p:spPr>
          <a:xfrm>
            <a:off x="6153912" y="4681728"/>
            <a:ext cx="5763463" cy="292608"/>
          </a:xfrm>
          <a:prstGeom prst="roundRect">
            <a:avLst>
              <a:gd name="adj" fmla="val 25000"/>
            </a:avLst>
          </a:prstGeom>
          <a:solidFill>
            <a:srgbClr val="534EE6"/>
          </a:solidFill>
          <a:ln/>
        </p:spPr>
      </p:sp>
      <p:sp>
        <p:nvSpPr>
          <p:cNvPr id="154" name="Text 144"/>
          <p:cNvSpPr txBox="1"/>
          <p:nvPr/>
        </p:nvSpPr>
        <p:spPr>
          <a:xfrm>
            <a:off x="6153912" y="4681728"/>
            <a:ext cx="5763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Критерий готовности UE к сети</a:t>
            </a:r>
            <a:endParaRPr lang="en-US" sz="1200" dirty="0"/>
          </a:p>
        </p:txBody>
      </p:sp>
      <p:pic>
        <p:nvPicPr>
          <p:cNvPr id="15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5048402"/>
            <a:ext cx="164592" cy="164592"/>
          </a:xfrm>
          <a:prstGeom prst="rect">
            <a:avLst/>
          </a:prstGeom>
        </p:spPr>
      </p:pic>
      <p:sp>
        <p:nvSpPr>
          <p:cNvPr id="156" name="Text 145"/>
          <p:cNvSpPr txBox="1"/>
          <p:nvPr/>
        </p:nvSpPr>
        <p:spPr>
          <a:xfrm>
            <a:off x="6656832" y="5047488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RF параметры проходят test cases</a:t>
            </a:r>
            <a:endParaRPr lang="en-US" sz="1000" dirty="0"/>
          </a:p>
        </p:txBody>
      </p:sp>
      <p:pic>
        <p:nvPicPr>
          <p:cNvPr id="15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82512" y="5214823"/>
            <a:ext cx="164592" cy="164592"/>
          </a:xfrm>
          <a:prstGeom prst="rect">
            <a:avLst/>
          </a:prstGeom>
        </p:spPr>
      </p:pic>
      <p:sp>
        <p:nvSpPr>
          <p:cNvPr id="158" name="Text 146"/>
          <p:cNvSpPr txBox="1"/>
          <p:nvPr/>
        </p:nvSpPr>
        <p:spPr>
          <a:xfrm>
            <a:off x="6656832" y="5213909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protocol stack проходит NAS / RRC / session test cases</a:t>
            </a:r>
            <a:endParaRPr lang="en-US" sz="1000" dirty="0"/>
          </a:p>
        </p:txBody>
      </p:sp>
      <p:pic>
        <p:nvPicPr>
          <p:cNvPr id="1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5381244"/>
            <a:ext cx="164592" cy="164592"/>
          </a:xfrm>
          <a:prstGeom prst="rect">
            <a:avLst/>
          </a:prstGeom>
        </p:spPr>
      </p:pic>
      <p:sp>
        <p:nvSpPr>
          <p:cNvPr id="160" name="Text 147"/>
          <p:cNvSpPr txBox="1"/>
          <p:nvPr/>
        </p:nvSpPr>
        <p:spPr>
          <a:xfrm>
            <a:off x="6656832" y="5380330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RRM behavior соответствует mobility requirements</a:t>
            </a:r>
            <a:endParaRPr lang="en-US" sz="1000" dirty="0"/>
          </a:p>
        </p:txBody>
      </p:sp>
      <p:pic>
        <p:nvPicPr>
          <p:cNvPr id="161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2512" y="5547665"/>
            <a:ext cx="164592" cy="164592"/>
          </a:xfrm>
          <a:prstGeom prst="rect">
            <a:avLst/>
          </a:prstGeom>
        </p:spPr>
      </p:pic>
      <p:sp>
        <p:nvSpPr>
          <p:cNvPr id="162" name="Text 148"/>
          <p:cNvSpPr txBox="1"/>
          <p:nvPr/>
        </p:nvSpPr>
        <p:spPr>
          <a:xfrm>
            <a:off x="6656832" y="5546750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регрессия не ломает ранее пройденные сценарии</a:t>
            </a:r>
            <a:endParaRPr lang="en-US" sz="1000" dirty="0"/>
          </a:p>
        </p:txBody>
      </p:sp>
      <p:pic>
        <p:nvPicPr>
          <p:cNvPr id="16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5714086"/>
            <a:ext cx="164592" cy="164592"/>
          </a:xfrm>
          <a:prstGeom prst="rect">
            <a:avLst/>
          </a:prstGeom>
        </p:spPr>
      </p:pic>
      <p:sp>
        <p:nvSpPr>
          <p:cNvPr id="164" name="Text 149"/>
          <p:cNvSpPr txBox="1"/>
          <p:nvPr/>
        </p:nvSpPr>
        <p:spPr>
          <a:xfrm>
            <a:off x="6656832" y="5713171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результаты оформлены как pass / fail по тестовому набору</a:t>
            </a:r>
            <a:endParaRPr lang="en-US" sz="1000" dirty="0"/>
          </a:p>
        </p:txBody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82512" y="5880506"/>
            <a:ext cx="164592" cy="164592"/>
          </a:xfrm>
          <a:prstGeom prst="rect">
            <a:avLst/>
          </a:prstGeom>
        </p:spPr>
      </p:pic>
      <p:sp>
        <p:nvSpPr>
          <p:cNvPr id="166" name="Text 150"/>
          <p:cNvSpPr txBox="1"/>
          <p:nvPr/>
        </p:nvSpPr>
        <p:spPr>
          <a:xfrm>
            <a:off x="6656832" y="5879592"/>
            <a:ext cx="5123383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отклонения локализованы до конкретного test case</a:t>
            </a:r>
            <a:endParaRPr lang="en-US" sz="1000" dirty="0"/>
          </a:p>
        </p:txBody>
      </p:sp>
      <p:sp>
        <p:nvSpPr>
          <p:cNvPr id="167" name="Shape 151"/>
          <p:cNvSpPr/>
          <p:nvPr/>
        </p:nvSpPr>
        <p:spPr>
          <a:xfrm>
            <a:off x="274320" y="6163056"/>
            <a:ext cx="11643055" cy="548640"/>
          </a:xfrm>
          <a:prstGeom prst="roundRect">
            <a:avLst>
              <a:gd name="adj" fmla="val 16667"/>
            </a:avLst>
          </a:prstGeom>
          <a:solidFill>
            <a:srgbClr val="534EE6"/>
          </a:solidFill>
          <a:ln/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640" y="6254496"/>
            <a:ext cx="365760" cy="365760"/>
          </a:xfrm>
          <a:prstGeom prst="rect">
            <a:avLst/>
          </a:prstGeom>
        </p:spPr>
      </p:pic>
      <p:sp>
        <p:nvSpPr>
          <p:cNvPr id="169" name="Text 152"/>
          <p:cNvSpPr txBox="1"/>
          <p:nvPr/>
        </p:nvSpPr>
        <p:spPr>
          <a:xfrm>
            <a:off x="1188720" y="6181344"/>
            <a:ext cx="1027145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ahnschrift SemiCondensed" pitchFamily="34" charset="0"/>
                <a:ea typeface="Bahnschrift SemiCondensed" pitchFamily="34" charset="-122"/>
                <a:cs typeface="Bahnschrift SemiCondensed" pitchFamily="34" charset="-120"/>
              </a:rPr>
              <a:t>Conformance доказывает соответствие стандарту, regression доказывает, что новая версия UE не сломала уже подтверждённое поведение.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Блок 3. Тестирование UE и SIM</dc:title>
  <dc:subject>PptxGenJS Presentation</dc:subject>
  <dc:creator>PptxGenJS</dc:creator>
  <cp:lastModifiedBy>PptxGenJS</cp:lastModifiedBy>
  <cp:revision>1</cp:revision>
  <dcterms:created xsi:type="dcterms:W3CDTF">2026-10-05T10:12:47Z</dcterms:created>
  <dcterms:modified xsi:type="dcterms:W3CDTF">2026-10-05T10:12:47Z</dcterms:modified>
</cp:coreProperties>
</file>